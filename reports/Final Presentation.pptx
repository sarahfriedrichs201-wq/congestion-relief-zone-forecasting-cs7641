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Plus Jakarta Sans ExtraBold"/>
      <p:bold r:id="rId32"/>
      <p:boldItalic r:id="rId33"/>
    </p:embeddedFont>
    <p:embeddedFont>
      <p:font typeface="Plus Jakarta Sans"/>
      <p:regular r:id="rId34"/>
      <p:bold r:id="rId35"/>
      <p:italic r:id="rId36"/>
      <p:boldItalic r:id="rId37"/>
    </p:embeddedFont>
    <p:embeddedFont>
      <p:font typeface="Bebas Neue"/>
      <p:regular r:id="rId38"/>
    </p:embeddedFont>
    <p:embeddedFont>
      <p:font typeface="Source Code Pro"/>
      <p:regular r:id="rId39"/>
      <p:bold r:id="rId40"/>
      <p:italic r:id="rId41"/>
      <p:boldItalic r:id="rId42"/>
    </p:embeddedFont>
    <p:embeddedFont>
      <p:font typeface="Plus Jakarta Sans SemiBold"/>
      <p:regular r:id="rId43"/>
      <p:bold r:id="rId44"/>
      <p:italic r:id="rId45"/>
      <p:boldItalic r:id="rId46"/>
    </p:embeddedFont>
    <p:embeddedFont>
      <p:font typeface="Epilogue"/>
      <p:regular r:id="rId47"/>
      <p:bold r:id="rId48"/>
      <p:italic r:id="rId49"/>
      <p:boldItalic r:id="rId50"/>
    </p:embeddedFont>
    <p:embeddedFont>
      <p:font typeface="Roboto Mono"/>
      <p:regular r:id="rId51"/>
      <p:bold r:id="rId52"/>
      <p:italic r:id="rId53"/>
      <p:boldItalic r:id="rId54"/>
    </p:embeddedFont>
    <p:embeddedFont>
      <p:font typeface="PT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D58F65-B41B-4245-B594-94999854B196}">
  <a:tblStyle styleId="{C7D58F65-B41B-4245-B594-94999854B196}"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SourceCodePro-bold.fntdata"/><Relationship Id="rId42" Type="http://schemas.openxmlformats.org/officeDocument/2006/relationships/font" Target="fonts/SourceCodePro-boldItalic.fntdata"/><Relationship Id="rId41" Type="http://schemas.openxmlformats.org/officeDocument/2006/relationships/font" Target="fonts/SourceCodePro-italic.fntdata"/><Relationship Id="rId44" Type="http://schemas.openxmlformats.org/officeDocument/2006/relationships/font" Target="fonts/PlusJakartaSansSemiBold-bold.fntdata"/><Relationship Id="rId43" Type="http://schemas.openxmlformats.org/officeDocument/2006/relationships/font" Target="fonts/PlusJakartaSansSemiBold-regular.fntdata"/><Relationship Id="rId46" Type="http://schemas.openxmlformats.org/officeDocument/2006/relationships/font" Target="fonts/PlusJakartaSansSemiBold-boldItalic.fntdata"/><Relationship Id="rId45" Type="http://schemas.openxmlformats.org/officeDocument/2006/relationships/font" Target="fonts/PlusJakartaSansSem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Epilogue-bold.fntdata"/><Relationship Id="rId47" Type="http://schemas.openxmlformats.org/officeDocument/2006/relationships/font" Target="fonts/Epilogue-regular.fntdata"/><Relationship Id="rId49" Type="http://schemas.openxmlformats.org/officeDocument/2006/relationships/font" Target="fonts/Epilog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PlusJakartaSansExtraBold-boldItalic.fntdata"/><Relationship Id="rId32" Type="http://schemas.openxmlformats.org/officeDocument/2006/relationships/font" Target="fonts/PlusJakartaSansExtraBold-bold.fntdata"/><Relationship Id="rId35" Type="http://schemas.openxmlformats.org/officeDocument/2006/relationships/font" Target="fonts/PlusJakartaSans-bold.fntdata"/><Relationship Id="rId34" Type="http://schemas.openxmlformats.org/officeDocument/2006/relationships/font" Target="fonts/PlusJakartaSans-regular.fntdata"/><Relationship Id="rId37" Type="http://schemas.openxmlformats.org/officeDocument/2006/relationships/font" Target="fonts/PlusJakartaSans-boldItalic.fntdata"/><Relationship Id="rId36" Type="http://schemas.openxmlformats.org/officeDocument/2006/relationships/font" Target="fonts/PlusJakartaSans-italic.fntdata"/><Relationship Id="rId39" Type="http://schemas.openxmlformats.org/officeDocument/2006/relationships/font" Target="fonts/SourceCodePro-regular.fntdata"/><Relationship Id="rId38" Type="http://schemas.openxmlformats.org/officeDocument/2006/relationships/font" Target="fonts/BebasNeue-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regular.fntdata"/><Relationship Id="rId50" Type="http://schemas.openxmlformats.org/officeDocument/2006/relationships/font" Target="fonts/Epilogue-boldItalic.fntdata"/><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6.xml"/><Relationship Id="rId55" Type="http://schemas.openxmlformats.org/officeDocument/2006/relationships/font" Target="fonts/PTSans-regular.fntdata"/><Relationship Id="rId10" Type="http://schemas.openxmlformats.org/officeDocument/2006/relationships/slide" Target="slides/slide5.xml"/><Relationship Id="rId54" Type="http://schemas.openxmlformats.org/officeDocument/2006/relationships/font" Target="fonts/RobotoMono-boldItalic.fntdata"/><Relationship Id="rId13" Type="http://schemas.openxmlformats.org/officeDocument/2006/relationships/slide" Target="slides/slide8.xml"/><Relationship Id="rId57" Type="http://schemas.openxmlformats.org/officeDocument/2006/relationships/font" Target="fonts/PTSans-italic.fntdata"/><Relationship Id="rId12" Type="http://schemas.openxmlformats.org/officeDocument/2006/relationships/slide" Target="slides/slide7.xml"/><Relationship Id="rId56" Type="http://schemas.openxmlformats.org/officeDocument/2006/relationships/font" Target="fonts/PTSans-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PT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ata.ny.gov/Transportation/MTA-Congestion-Relief-Zone-Vehicle-Entries-Beginni/t6yz-b64h/about_data" TargetMode="External"/><Relationship Id="rId3" Type="http://schemas.openxmlformats.org/officeDocument/2006/relationships/hyperlink" Target="https://subwaydata.nyc/explore-the-data"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year, the Metropolitan Transportation Authority (MTA) introduced a Congestion Relief Zone (CRZ) in NYC, requiring tolls on vehicles entering the area. But u</a:t>
            </a:r>
            <a:r>
              <a:rPr lang="en">
                <a:solidFill>
                  <a:schemeClr val="dk1"/>
                </a:solidFill>
              </a:rPr>
              <a:t>rban congestion in NYC persists. MTA surveys also show that subway delays frequently push riders to taxis, which public reporting on traffic rarely models. A short-term forecasting system integrating both could support tolling strategies to reduce emissions and ensure fair pricing.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3848986859a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5" name="Google Shape;1365;g3848986859a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3ab7d9aa332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3ab7d9aa332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u="sng">
                <a:solidFill>
                  <a:srgbClr val="1155CC"/>
                </a:solidFill>
                <a:hlinkClick r:id="rId2">
                  <a:extLst>
                    <a:ext uri="{A12FA001-AC4F-418D-AE19-62706E023703}">
                      <ahyp:hlinkClr val="tx"/>
                    </a:ext>
                  </a:extLst>
                </a:hlinkClick>
              </a:rPr>
              <a:t>Traffic Dataset:</a:t>
            </a:r>
            <a:r>
              <a:rPr lang="en">
                <a:solidFill>
                  <a:schemeClr val="dk1"/>
                </a:solidFill>
              </a:rPr>
              <a:t> Maintained by the MTA, tracks CRZ entries, and broken down into 10-minute intervals of the day.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u="sng">
                <a:solidFill>
                  <a:srgbClr val="1155CC"/>
                </a:solidFill>
                <a:hlinkClick r:id="rId3">
                  <a:extLst>
                    <a:ext uri="{A12FA001-AC4F-418D-AE19-62706E023703}">
                      <ahyp:hlinkClr val="tx"/>
                    </a:ext>
                  </a:extLst>
                </a:hlinkClick>
              </a:rPr>
              <a:t>NYC Subway Dataset:</a:t>
            </a:r>
            <a:r>
              <a:rPr lang="en">
                <a:solidFill>
                  <a:schemeClr val="dk1"/>
                </a:solidFill>
              </a:rPr>
              <a:t> Daily operations since 2021, including route, schedule changes, arrivals, departures, etc.</a:t>
            </a:r>
            <a:endParaRPr>
              <a:solidFill>
                <a:schemeClr val="dk1"/>
              </a:solidFill>
            </a:endParaRPr>
          </a:p>
          <a:p>
            <a:pPr indent="0" lvl="0" marL="0" rtl="0" algn="l">
              <a:lnSpc>
                <a:spcPct val="115000"/>
              </a:lnSpc>
              <a:spcBef>
                <a:spcPts val="0"/>
              </a:spcBef>
              <a:spcAft>
                <a:spcPts val="1100"/>
              </a:spcAft>
              <a:buNone/>
            </a:pPr>
            <a:r>
              <a:t/>
            </a:r>
            <a:endParaRPr>
              <a:solidFill>
                <a:srgbClr val="11111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3ab7d9aa33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3ab7d9aa33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111111"/>
                </a:solidFill>
              </a:rPr>
              <a:t>We had around 400k rows and 88 features (August through October), </a:t>
            </a:r>
            <a:r>
              <a:rPr lang="en">
                <a:solidFill>
                  <a:srgbClr val="111111"/>
                </a:solidFill>
              </a:rPr>
              <a:t>with each row representing the number of entries of a specific vehicle type at a specific detection region during a specific 10 minute interval. </a:t>
            </a:r>
            <a:endParaRPr>
              <a:solidFill>
                <a:srgbClr val="111111"/>
              </a:solidFill>
            </a:endParaRPr>
          </a:p>
          <a:p>
            <a:pPr indent="0" lvl="0" marL="0" rtl="0" algn="l">
              <a:lnSpc>
                <a:spcPct val="115000"/>
              </a:lnSpc>
              <a:spcBef>
                <a:spcPts val="1100"/>
              </a:spcBef>
              <a:spcAft>
                <a:spcPts val="0"/>
              </a:spcAft>
              <a:buClr>
                <a:schemeClr val="dk1"/>
              </a:buClr>
              <a:buSzPts val="1100"/>
              <a:buFont typeface="Arial"/>
              <a:buNone/>
            </a:pPr>
            <a:r>
              <a:rPr lang="en">
                <a:solidFill>
                  <a:srgbClr val="111111"/>
                </a:solidFill>
              </a:rPr>
              <a:t>There are two targets based on the two types of entries into the CRZ: regular entries and excluded roadway entries (i.e., through roads exempt from tolls). </a:t>
            </a:r>
            <a:endParaRPr>
              <a:solidFill>
                <a:srgbClr val="111111"/>
              </a:solidFill>
            </a:endParaRPr>
          </a:p>
          <a:p>
            <a:pPr indent="0" lvl="0" marL="0" rtl="0" algn="l">
              <a:lnSpc>
                <a:spcPct val="115000"/>
              </a:lnSpc>
              <a:spcBef>
                <a:spcPts val="1100"/>
              </a:spcBef>
              <a:spcAft>
                <a:spcPts val="0"/>
              </a:spcAft>
              <a:buClr>
                <a:schemeClr val="dk1"/>
              </a:buClr>
              <a:buSzPts val="1100"/>
              <a:buFont typeface="Arial"/>
              <a:buNone/>
            </a:pPr>
            <a:r>
              <a:rPr lang="en">
                <a:solidFill>
                  <a:srgbClr val="111111"/>
                </a:solidFill>
              </a:rPr>
              <a:t>These are some of our different traffic and subway related features. Then, to set the task up as a time series for the supervised models, for each target variable, we added a rolling mean of entries of the same vehicle class and detection region over the previous three intervals. </a:t>
            </a:r>
            <a:endParaRPr>
              <a:solidFill>
                <a:srgbClr val="111111"/>
              </a:solidFill>
            </a:endParaRPr>
          </a:p>
          <a:p>
            <a:pPr indent="0" lvl="0" marL="0" rtl="0" algn="l">
              <a:lnSpc>
                <a:spcPct val="115000"/>
              </a:lnSpc>
              <a:spcBef>
                <a:spcPts val="1100"/>
              </a:spcBef>
              <a:spcAft>
                <a:spcPts val="0"/>
              </a:spcAft>
              <a:buClr>
                <a:schemeClr val="dk1"/>
              </a:buClr>
              <a:buSzPts val="1100"/>
              <a:buFont typeface="Arial"/>
              <a:buNone/>
            </a:pPr>
            <a:r>
              <a:rPr lang="en" strike="sngStrike">
                <a:solidFill>
                  <a:srgbClr val="111111"/>
                </a:solidFill>
              </a:rPr>
              <a:t>Since</a:t>
            </a:r>
            <a:r>
              <a:rPr lang="en" strike="sngStrike">
                <a:solidFill>
                  <a:srgbClr val="111111"/>
                </a:solidFill>
              </a:rPr>
              <a:t> the MTA traffic dataset is reported in </a:t>
            </a:r>
            <a:r>
              <a:rPr i="1" lang="en" strike="sngStrike">
                <a:solidFill>
                  <a:srgbClr val="111111"/>
                </a:solidFill>
              </a:rPr>
              <a:t>10-minute intervals</a:t>
            </a:r>
            <a:r>
              <a:rPr lang="en" strike="sngStrike">
                <a:solidFill>
                  <a:srgbClr val="111111"/>
                </a:solidFill>
              </a:rPr>
              <a:t>, the subway and traffic datasets were joined on corresponding intervals.  </a:t>
            </a:r>
            <a:endParaRPr strike="sngStrike">
              <a:solidFill>
                <a:srgbClr val="111111"/>
              </a:solidFill>
            </a:endParaRPr>
          </a:p>
          <a:p>
            <a:pPr indent="0" lvl="0" marL="0" rtl="0" algn="l">
              <a:lnSpc>
                <a:spcPct val="115000"/>
              </a:lnSpc>
              <a:spcBef>
                <a:spcPts val="1100"/>
              </a:spcBef>
              <a:spcAft>
                <a:spcPts val="0"/>
              </a:spcAft>
              <a:buNone/>
            </a:pPr>
            <a:r>
              <a:rPr lang="en" strike="sngStrike">
                <a:solidFill>
                  <a:srgbClr val="111111"/>
                </a:solidFill>
              </a:rPr>
              <a:t>Fewer than 2% of all rows contained null values, so those rows were dropped.</a:t>
            </a:r>
            <a:endParaRPr strike="sngStrike">
              <a:solidFill>
                <a:srgbClr val="111111"/>
              </a:solidFill>
            </a:endParaRPr>
          </a:p>
          <a:p>
            <a:pPr indent="0" lvl="0" marL="0" rtl="0" algn="l">
              <a:lnSpc>
                <a:spcPct val="115000"/>
              </a:lnSpc>
              <a:spcBef>
                <a:spcPts val="1100"/>
              </a:spcBef>
              <a:spcAft>
                <a:spcPts val="0"/>
              </a:spcAft>
              <a:buNone/>
            </a:pPr>
            <a:r>
              <a:rPr lang="en" strike="sngStrike">
                <a:solidFill>
                  <a:srgbClr val="111111"/>
                </a:solidFill>
              </a:rPr>
              <a:t>From the traffic data, we encoded the day of the week, tolling period, vehicle class, and detection region. Then, to set the task up as a time series for the supervised models, for each target variable, we added a rolling mean of entries of the same vehicle class and detection region over the previous three intervals. </a:t>
            </a:r>
            <a:endParaRPr strike="sngStrike">
              <a:solidFill>
                <a:srgbClr val="111111"/>
              </a:solidFill>
            </a:endParaRPr>
          </a:p>
          <a:p>
            <a:pPr indent="0" lvl="0" marL="0" rtl="0" algn="l">
              <a:lnSpc>
                <a:spcPct val="115000"/>
              </a:lnSpc>
              <a:spcBef>
                <a:spcPts val="1100"/>
              </a:spcBef>
              <a:spcAft>
                <a:spcPts val="0"/>
              </a:spcAft>
              <a:buClr>
                <a:schemeClr val="dk1"/>
              </a:buClr>
              <a:buSzPts val="1100"/>
              <a:buFont typeface="Arial"/>
              <a:buNone/>
            </a:pPr>
            <a:r>
              <a:rPr lang="en" strike="sngStrike">
                <a:solidFill>
                  <a:srgbClr val="111111"/>
                </a:solidFill>
              </a:rPr>
              <a:t>For the subway data, we created features for the active routes, the number of trips running, and to analyze delays, we averaged how much trips deviated from their expected last-seen time based on its route, direction, and the time of day.</a:t>
            </a:r>
            <a:endParaRPr strike="sngStrike">
              <a:solidFill>
                <a:srgbClr val="111111"/>
              </a:solidFill>
            </a:endParaRPr>
          </a:p>
          <a:p>
            <a:pPr indent="0" lvl="0" marL="0" rtl="0" algn="l">
              <a:spcBef>
                <a:spcPts val="11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3ab7d9aa332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2" name="Google Shape;1532;g3ab7d9aa332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3ab7d9aa332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3ab7d9aa332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111111"/>
                </a:solidFill>
              </a:rPr>
              <a:t>We wanted to use clustering to identify recurring patterns and isolate anomalies (e.g., major subway disruptions). We decided to use HDBSCAN given our high dimensional, mostly sparse feature space </a:t>
            </a:r>
            <a:r>
              <a:rPr lang="en" strike="sngStrike">
                <a:solidFill>
                  <a:srgbClr val="111111"/>
                </a:solidFill>
              </a:rPr>
              <a:t>and the likelihood that clusters would have uneven density across different times/regions. HDBSCAN is an extension of DBSCAN that builds a hierarchy of potential clusters and selects the most stable ones. </a:t>
            </a:r>
            <a:endParaRPr strike="sngStrike">
              <a:solidFill>
                <a:srgbClr val="111111"/>
              </a:solidFill>
            </a:endParaRPr>
          </a:p>
          <a:p>
            <a:pPr indent="0" lvl="0" marL="0" rtl="0" algn="l">
              <a:lnSpc>
                <a:spcPct val="115000"/>
              </a:lnSpc>
              <a:spcBef>
                <a:spcPts val="1100"/>
              </a:spcBef>
              <a:spcAft>
                <a:spcPts val="0"/>
              </a:spcAft>
              <a:buNone/>
            </a:pPr>
            <a:r>
              <a:rPr lang="en">
                <a:solidFill>
                  <a:srgbClr val="111111"/>
                </a:solidFill>
              </a:rPr>
              <a:t>We don’t need normalization or feature reduction with our supervised models because they’re both tree-based, but we did implement an FAMD model to use with HDBSCAN. FAMD handles mixed types of features at the same time.</a:t>
            </a:r>
            <a:r>
              <a:rPr lang="en">
                <a:solidFill>
                  <a:srgbClr val="111111"/>
                </a:solidFill>
              </a:rPr>
              <a:t> </a:t>
            </a:r>
            <a:endParaRPr>
              <a:solidFill>
                <a:srgbClr val="111111"/>
              </a:solidFill>
            </a:endParaRPr>
          </a:p>
          <a:p>
            <a:pPr indent="0" lvl="0" marL="0" rtl="0" algn="l">
              <a:lnSpc>
                <a:spcPct val="115000"/>
              </a:lnSpc>
              <a:spcBef>
                <a:spcPts val="1100"/>
              </a:spcBef>
              <a:spcAft>
                <a:spcPts val="1100"/>
              </a:spcAft>
              <a:buNone/>
            </a:pPr>
            <a:r>
              <a:rPr lang="en">
                <a:solidFill>
                  <a:srgbClr val="111111"/>
                </a:solidFill>
              </a:rPr>
              <a:t>And to prevent data leakage, the dataset was </a:t>
            </a:r>
            <a:r>
              <a:rPr i="1" lang="en">
                <a:solidFill>
                  <a:srgbClr val="111111"/>
                </a:solidFill>
              </a:rPr>
              <a:t>chronologically</a:t>
            </a:r>
            <a:r>
              <a:rPr lang="en">
                <a:solidFill>
                  <a:srgbClr val="111111"/>
                </a:solidFill>
              </a:rPr>
              <a:t> split into training, validation, and test sets </a:t>
            </a:r>
            <a:r>
              <a:rPr i="1" lang="en">
                <a:solidFill>
                  <a:srgbClr val="111111"/>
                </a:solidFill>
              </a:rPr>
              <a:t>before</a:t>
            </a:r>
            <a:r>
              <a:rPr lang="en">
                <a:solidFill>
                  <a:srgbClr val="111111"/>
                </a:solidFill>
              </a:rPr>
              <a:t> any reduction or clustering.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g3ab7d9aa332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3" name="Google Shape;1673;g3ab7d9aa332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111111"/>
                </a:solidFill>
              </a:rPr>
              <a:t>We did grid search on the</a:t>
            </a:r>
            <a:r>
              <a:rPr lang="en">
                <a:solidFill>
                  <a:srgbClr val="111111"/>
                </a:solidFill>
              </a:rPr>
              <a:t> silhouette, DBI, and noise percent to pick hyperparameters for FAMD and HDBSCAN simultaneously. </a:t>
            </a:r>
            <a:r>
              <a:rPr lang="en" strike="sngStrike">
                <a:solidFill>
                  <a:srgbClr val="111111"/>
                </a:solidFill>
              </a:rPr>
              <a:t>The min cluster size controls the smallest group that should be considered a cluster, and min samples controls how many neighbors a point must have. And we went with the standard combination of Euclidean distance and Excess of Mass cluster selection. </a:t>
            </a:r>
            <a:endParaRPr strike="sngStrike">
              <a:solidFill>
                <a:srgbClr val="111111"/>
              </a:solidFill>
            </a:endParaRPr>
          </a:p>
          <a:p>
            <a:pPr indent="0" lvl="0" marL="0" rtl="0" algn="l">
              <a:lnSpc>
                <a:spcPct val="115000"/>
              </a:lnSpc>
              <a:spcBef>
                <a:spcPts val="1100"/>
              </a:spcBef>
              <a:spcAft>
                <a:spcPts val="0"/>
              </a:spcAft>
              <a:buClr>
                <a:schemeClr val="dk1"/>
              </a:buClr>
              <a:buSzPts val="1100"/>
              <a:buFont typeface="Arial"/>
              <a:buNone/>
            </a:pPr>
            <a:r>
              <a:rPr lang="en">
                <a:solidFill>
                  <a:srgbClr val="111111"/>
                </a:solidFill>
              </a:rPr>
              <a:t>Our first version of this model identified only four clusters, with 99% being assigned to a single cluster. So to capture more granular or event-specific behavior (e.g., subway disruptions) as opposed to very broad patterns (e.g., standard rush hours), we did intentionally select a combination that produced a more even distribution at the cost of slightly less optimal scores.</a:t>
            </a:r>
            <a:endParaRPr>
              <a:solidFill>
                <a:schemeClr val="dk1"/>
              </a:solidFill>
            </a:endParaRPr>
          </a:p>
          <a:p>
            <a:pPr indent="0" lvl="0" marL="0" rtl="0" algn="l">
              <a:spcBef>
                <a:spcPts val="11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g3ab7d9aa332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1" name="Google Shape;1701;g3ab7d9aa332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111111"/>
                </a:solidFill>
              </a:rPr>
              <a:t>The current version of the clustering model achieves a silhouette of 0.349 and a DBI of 0.91, with ~3000 clusters total. </a:t>
            </a:r>
            <a:endParaRPr>
              <a:solidFill>
                <a:srgbClr val="111111"/>
              </a:solidFill>
            </a:endParaRPr>
          </a:p>
          <a:p>
            <a:pPr indent="0" lvl="0" marL="0" rtl="0" algn="l">
              <a:lnSpc>
                <a:spcPct val="115000"/>
              </a:lnSpc>
              <a:spcBef>
                <a:spcPts val="1100"/>
              </a:spcBef>
              <a:spcAft>
                <a:spcPts val="0"/>
              </a:spcAft>
              <a:buClr>
                <a:schemeClr val="dk1"/>
              </a:buClr>
              <a:buSzPts val="1100"/>
              <a:buFont typeface="Arial"/>
              <a:buNone/>
            </a:pPr>
            <a:r>
              <a:rPr lang="en" strike="sngStrike">
                <a:solidFill>
                  <a:srgbClr val="111111"/>
                </a:solidFill>
              </a:rPr>
              <a:t>The updated configuration did successfully uncover a more </a:t>
            </a:r>
            <a:r>
              <a:rPr i="1" lang="en" strike="sngStrike">
                <a:solidFill>
                  <a:srgbClr val="111111"/>
                </a:solidFill>
              </a:rPr>
              <a:t>detailed</a:t>
            </a:r>
            <a:r>
              <a:rPr lang="en" strike="sngStrike">
                <a:solidFill>
                  <a:srgbClr val="111111"/>
                </a:solidFill>
              </a:rPr>
              <a:t> clustering structure, which in theory, could align with irregular traffic events.</a:t>
            </a:r>
            <a:r>
              <a:rPr lang="en">
                <a:solidFill>
                  <a:srgbClr val="111111"/>
                </a:solidFill>
              </a:rPr>
              <a:t> The silhouette score is a little low, but this is pretty normal for </a:t>
            </a:r>
            <a:r>
              <a:rPr lang="en" strike="sngStrike">
                <a:solidFill>
                  <a:srgbClr val="111111"/>
                </a:solidFill>
              </a:rPr>
              <a:t>high-dimensional,</a:t>
            </a:r>
            <a:r>
              <a:rPr lang="en">
                <a:solidFill>
                  <a:srgbClr val="111111"/>
                </a:solidFill>
              </a:rPr>
              <a:t> real-world data. The DBI is also still close to 0</a:t>
            </a:r>
            <a:r>
              <a:rPr lang="en" strike="sngStrike">
                <a:solidFill>
                  <a:srgbClr val="111111"/>
                </a:solidFill>
              </a:rPr>
              <a:t>, so intra-cluster distances are small compared to inter-cluster distances. </a:t>
            </a:r>
            <a:endParaRPr strike="sngStrike">
              <a:solidFill>
                <a:srgbClr val="111111"/>
              </a:solidFill>
            </a:endParaRPr>
          </a:p>
          <a:p>
            <a:pPr indent="0" lvl="0" marL="0" rtl="0" algn="l">
              <a:spcBef>
                <a:spcPts val="11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3ab7d9aa332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6" name="Google Shape;1726;g3ab7d9aa332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111111"/>
                </a:solidFill>
              </a:rPr>
              <a:t>T</a:t>
            </a:r>
            <a:r>
              <a:rPr lang="en">
                <a:solidFill>
                  <a:srgbClr val="111111"/>
                </a:solidFill>
              </a:rPr>
              <a:t>he noise percentage for the validation and test sets is still high. This suggests that the clustering structure is still not as </a:t>
            </a:r>
            <a:r>
              <a:rPr i="1" lang="en">
                <a:solidFill>
                  <a:srgbClr val="111111"/>
                </a:solidFill>
              </a:rPr>
              <a:t>generalizable</a:t>
            </a:r>
            <a:r>
              <a:rPr lang="en">
                <a:solidFill>
                  <a:srgbClr val="111111"/>
                </a:solidFill>
              </a:rPr>
              <a:t> as we had hoped. </a:t>
            </a:r>
            <a:r>
              <a:rPr lang="en" strike="sngStrike">
                <a:solidFill>
                  <a:srgbClr val="111111"/>
                </a:solidFill>
              </a:rPr>
              <a:t>Because HDBSCAN is density-based,</a:t>
            </a:r>
            <a:r>
              <a:rPr lang="en">
                <a:solidFill>
                  <a:srgbClr val="111111"/>
                </a:solidFill>
              </a:rPr>
              <a:t> this probably means the validation and test datasets don’t occupy the same dense regions of the feature space as the training data. The three sets cover different periods of time, and traffic patterns change over time. Also, the validation and test sets may have lower overall density because they are smaller </a:t>
            </a:r>
            <a:r>
              <a:rPr lang="en" strike="sngStrike">
                <a:solidFill>
                  <a:srgbClr val="111111"/>
                </a:solidFill>
              </a:rPr>
              <a:t>than the training set,</a:t>
            </a:r>
            <a:r>
              <a:rPr lang="en">
                <a:solidFill>
                  <a:srgbClr val="111111"/>
                </a:solidFill>
              </a:rPr>
              <a:t> making it harder to meet the model’s density thresholds.</a:t>
            </a:r>
            <a:endParaRPr>
              <a:solidFill>
                <a:schemeClr val="dk1"/>
              </a:solidFill>
            </a:endParaRPr>
          </a:p>
          <a:p>
            <a:pPr indent="0" lvl="0" marL="0" rtl="0" algn="l">
              <a:spcBef>
                <a:spcPts val="110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3ab7d9aa332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g3ab7d9aa332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Nimit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g3a34abc59d1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g3a34abc59d1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For forecasting, we decided to start with Random Forest Regression as a </a:t>
            </a:r>
            <a:r>
              <a:rPr lang="en">
                <a:solidFill>
                  <a:srgbClr val="111111"/>
                </a:solidFill>
              </a:rPr>
              <a:t>strong baseline that can capture short-term dependencies and nonlinear interactions. </a:t>
            </a:r>
            <a:r>
              <a:rPr lang="en" strike="sngStrike">
                <a:solidFill>
                  <a:srgbClr val="111111"/>
                </a:solidFill>
              </a:rPr>
              <a:t>Random Forest Regression is a tree-based ensemble model that combines predictions across many randomly constructed decision trees to produce a single output for each data point. </a:t>
            </a:r>
            <a:endParaRPr strike="sngStrike">
              <a:solidFill>
                <a:srgbClr val="111111"/>
              </a:solidFill>
            </a:endParaRPr>
          </a:p>
          <a:p>
            <a:pPr indent="0" lvl="0" marL="0" rtl="0" algn="l">
              <a:lnSpc>
                <a:spcPct val="115000"/>
              </a:lnSpc>
              <a:spcBef>
                <a:spcPts val="1100"/>
              </a:spcBef>
              <a:spcAft>
                <a:spcPts val="0"/>
              </a:spcAft>
              <a:buClr>
                <a:schemeClr val="dk1"/>
              </a:buClr>
              <a:buSzPts val="1100"/>
              <a:buFont typeface="Arial"/>
              <a:buNone/>
            </a:pPr>
            <a:r>
              <a:rPr lang="en">
                <a:solidFill>
                  <a:srgbClr val="111111"/>
                </a:solidFill>
              </a:rPr>
              <a:t>For data prep, we just added the rolling mean features back, as well the generated cluster labels. The pre-reduction train, validation, and test sets </a:t>
            </a:r>
            <a:r>
              <a:rPr lang="en" strike="sngStrike">
                <a:solidFill>
                  <a:srgbClr val="111111"/>
                </a:solidFill>
              </a:rPr>
              <a:t>split before FAMD</a:t>
            </a:r>
            <a:r>
              <a:rPr lang="en">
                <a:solidFill>
                  <a:srgbClr val="111111"/>
                </a:solidFill>
              </a:rPr>
              <a:t> were carried over. </a:t>
            </a:r>
            <a:endParaRPr>
              <a:solidFill>
                <a:srgbClr val="111111"/>
              </a:solidFill>
            </a:endParaRPr>
          </a:p>
          <a:p>
            <a:pPr indent="0" lvl="0" marL="0" rtl="0" algn="l">
              <a:lnSpc>
                <a:spcPct val="115000"/>
              </a:lnSpc>
              <a:spcBef>
                <a:spcPts val="1100"/>
              </a:spcBef>
              <a:spcAft>
                <a:spcPts val="0"/>
              </a:spcAft>
              <a:buClr>
                <a:schemeClr val="dk1"/>
              </a:buClr>
              <a:buSzPts val="1100"/>
              <a:buFont typeface="Arial"/>
              <a:buNone/>
            </a:pPr>
            <a:r>
              <a:t/>
            </a:r>
            <a:endParaRPr b="1" sz="1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3ab7d9aa332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2" name="Google Shape;1892;g3ab7d9aa332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111111"/>
                </a:solidFill>
              </a:rPr>
              <a:t>We randomly sampled combinations from a parameter grid of ~2,600 combinations and evaluated each configuration using cross-validation on the R^2 score. These are the hyperparameters that gave the best results.</a:t>
            </a:r>
            <a:endParaRPr>
              <a:solidFill>
                <a:srgbClr val="111111"/>
              </a:solidFill>
            </a:endParaRPr>
          </a:p>
          <a:p>
            <a:pPr indent="0" lvl="0" marL="0" rtl="0" algn="l">
              <a:lnSpc>
                <a:spcPct val="115000"/>
              </a:lnSpc>
              <a:spcBef>
                <a:spcPts val="1100"/>
              </a:spcBef>
              <a:spcAft>
                <a:spcPts val="0"/>
              </a:spcAft>
              <a:buClr>
                <a:schemeClr val="dk1"/>
              </a:buClr>
              <a:buSzPts val="1100"/>
              <a:buFont typeface="Arial"/>
              <a:buNone/>
            </a:pPr>
            <a:r>
              <a:rPr lang="en" strike="sngStrike">
                <a:solidFill>
                  <a:srgbClr val="111111"/>
                </a:solidFill>
              </a:rPr>
              <a:t>The Random Forest Regressor model has parameters for the number of trees, the maximum depth of each tree, the samples required to split a node, the samples required in a leaf, and how many features to consider for each split.</a:t>
            </a:r>
            <a:endParaRPr b="1" i="1" sz="1200" strike="sngStrike">
              <a:solidFill>
                <a:srgbClr val="666666"/>
              </a:solidFill>
            </a:endParaRPr>
          </a:p>
          <a:p>
            <a:pPr indent="0" lvl="0" marL="0" rtl="0" algn="l">
              <a:lnSpc>
                <a:spcPct val="115000"/>
              </a:lnSpc>
              <a:spcBef>
                <a:spcPts val="1100"/>
              </a:spcBef>
              <a:spcAft>
                <a:spcPts val="0"/>
              </a:spcAft>
              <a:buNone/>
            </a:pPr>
            <a:r>
              <a:t/>
            </a:r>
            <a:endParaRPr sz="14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5" name="Shape 1915"/>
        <p:cNvGrpSpPr/>
        <p:nvPr/>
      </p:nvGrpSpPr>
      <p:grpSpPr>
        <a:xfrm>
          <a:off x="0" y="0"/>
          <a:ext cx="0" cy="0"/>
          <a:chOff x="0" y="0"/>
          <a:chExt cx="0" cy="0"/>
        </a:xfrm>
      </p:grpSpPr>
      <p:sp>
        <p:nvSpPr>
          <p:cNvPr id="1916" name="Google Shape;1916;g3a34abc59d1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7" name="Google Shape;1917;g3a34abc59d1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111111"/>
                </a:solidFill>
              </a:rPr>
              <a:t>We evaluated using </a:t>
            </a:r>
            <a:r>
              <a:rPr lang="en" strike="sngStrike">
                <a:solidFill>
                  <a:srgbClr val="111111"/>
                </a:solidFill>
              </a:rPr>
              <a:t>Mean Absolute Error </a:t>
            </a:r>
            <a:r>
              <a:rPr lang="en">
                <a:solidFill>
                  <a:srgbClr val="111111"/>
                </a:solidFill>
              </a:rPr>
              <a:t>(MAE) and </a:t>
            </a:r>
            <a:r>
              <a:rPr lang="en" strike="sngStrike">
                <a:solidFill>
                  <a:srgbClr val="111111"/>
                </a:solidFill>
              </a:rPr>
              <a:t>Root Mean Squared Error </a:t>
            </a:r>
            <a:r>
              <a:rPr lang="en">
                <a:solidFill>
                  <a:srgbClr val="111111"/>
                </a:solidFill>
              </a:rPr>
              <a:t>(RMSE), which are the standard for forecasting, as well as R^2 as a rough measure of correlation. Overall, the results are very strong, with minimal overfitting. </a:t>
            </a:r>
            <a:endParaRPr>
              <a:solidFill>
                <a:srgbClr val="111111"/>
              </a:solidFill>
            </a:endParaRPr>
          </a:p>
          <a:p>
            <a:pPr indent="0" lvl="0" marL="0" rtl="0" algn="l">
              <a:lnSpc>
                <a:spcPct val="115000"/>
              </a:lnSpc>
              <a:spcBef>
                <a:spcPts val="1100"/>
              </a:spcBef>
              <a:spcAft>
                <a:spcPts val="0"/>
              </a:spcAft>
              <a:buNone/>
            </a:pPr>
            <a:r>
              <a:rPr lang="en">
                <a:solidFill>
                  <a:srgbClr val="111111"/>
                </a:solidFill>
              </a:rPr>
              <a:t>The R^2 is around .98-99 for the validation and test sets, and the RMSE and MAE around 18% and 8% are robust for real-world data, </a:t>
            </a:r>
            <a:r>
              <a:rPr lang="en" strike="sngStrike">
                <a:solidFill>
                  <a:srgbClr val="111111"/>
                </a:solidFill>
              </a:rPr>
              <a:t>especially given that the degree of correlation between subway activity and CRZ inflow was unknown.</a:t>
            </a:r>
            <a:r>
              <a:rPr lang="en">
                <a:solidFill>
                  <a:srgbClr val="111111"/>
                </a:solidFill>
              </a:rPr>
              <a:t> These results suggest that subway and traffic trends in NYC are meaningfully related, </a:t>
            </a:r>
            <a:r>
              <a:rPr lang="en" strike="sngStrike">
                <a:solidFill>
                  <a:srgbClr val="111111"/>
                </a:solidFill>
              </a:rPr>
              <a:t>and that subway trip data can support forecasting </a:t>
            </a:r>
            <a:r>
              <a:rPr lang="en" strike="sngStrike">
                <a:solidFill>
                  <a:srgbClr val="111111"/>
                </a:solidFill>
              </a:rPr>
              <a:t>for tolling policy.</a:t>
            </a:r>
            <a:endParaRPr strike="sngStrike">
              <a:solidFill>
                <a:srgbClr val="111111"/>
              </a:solidFill>
            </a:endParaRPr>
          </a:p>
          <a:p>
            <a:pPr indent="0" lvl="0" marL="0" rtl="0" algn="l">
              <a:lnSpc>
                <a:spcPct val="115000"/>
              </a:lnSpc>
              <a:spcBef>
                <a:spcPts val="1100"/>
              </a:spcBef>
              <a:spcAft>
                <a:spcPts val="0"/>
              </a:spcAft>
              <a:buNone/>
            </a:pPr>
            <a:r>
              <a:rPr lang="en">
                <a:solidFill>
                  <a:srgbClr val="111111"/>
                </a:solidFill>
              </a:rPr>
              <a:t>Performance was weaker on </a:t>
            </a:r>
            <a:r>
              <a:rPr lang="en">
                <a:solidFill>
                  <a:srgbClr val="111111"/>
                </a:solidFill>
                <a:latin typeface="Source Code Pro"/>
                <a:ea typeface="Source Code Pro"/>
                <a:cs typeface="Source Code Pro"/>
                <a:sym typeface="Source Code Pro"/>
              </a:rPr>
              <a:t>excluded_entries</a:t>
            </a:r>
            <a:r>
              <a:rPr lang="en">
                <a:solidFill>
                  <a:srgbClr val="111111"/>
                </a:solidFill>
              </a:rPr>
              <a:t>. But these reflect broader regional traffic behavior, and the toll exemption may </a:t>
            </a:r>
            <a:r>
              <a:rPr lang="en">
                <a:solidFill>
                  <a:srgbClr val="111111"/>
                </a:solidFill>
              </a:rPr>
              <a:t>introduce</a:t>
            </a:r>
            <a:r>
              <a:rPr lang="en">
                <a:solidFill>
                  <a:srgbClr val="111111"/>
                </a:solidFill>
              </a:rPr>
              <a:t> variability in driver behavior. So lower performance is expected. </a:t>
            </a:r>
            <a:endParaRPr>
              <a:solidFill>
                <a:srgbClr val="111111"/>
              </a:solidFill>
            </a:endParaRPr>
          </a:p>
          <a:p>
            <a:pPr indent="0" lvl="0" marL="0" rtl="0" algn="l">
              <a:lnSpc>
                <a:spcPct val="115000"/>
              </a:lnSpc>
              <a:spcBef>
                <a:spcPts val="1100"/>
              </a:spcBef>
              <a:spcAft>
                <a:spcPts val="0"/>
              </a:spcAft>
              <a:buNone/>
            </a:pPr>
            <a:r>
              <a:rPr lang="en">
                <a:solidFill>
                  <a:srgbClr val="111111"/>
                </a:solidFill>
              </a:rPr>
              <a:t>That said, the results are nearly identical as with the old clustering. So the patterns captured by the clustering may be redundant with the other features, or the Random Forest model may already be robust enough without clusters.</a:t>
            </a:r>
            <a:endParaRPr>
              <a:solidFill>
                <a:srgbClr val="111111"/>
              </a:solidFill>
            </a:endParaRPr>
          </a:p>
          <a:p>
            <a:pPr indent="0" lvl="0" marL="0" rtl="0" algn="l">
              <a:lnSpc>
                <a:spcPct val="115000"/>
              </a:lnSpc>
              <a:spcBef>
                <a:spcPts val="1100"/>
              </a:spcBef>
              <a:spcAft>
                <a:spcPts val="0"/>
              </a:spcAft>
              <a:buClr>
                <a:schemeClr val="dk1"/>
              </a:buClr>
              <a:buSzPts val="1100"/>
              <a:buFont typeface="Arial"/>
              <a:buNone/>
            </a:pPr>
            <a:r>
              <a:t/>
            </a:r>
            <a:endParaRPr>
              <a:solidFill>
                <a:srgbClr val="111111"/>
              </a:solidFill>
            </a:endParaRPr>
          </a:p>
          <a:p>
            <a:pPr indent="0" lvl="0" marL="0" rtl="0" algn="l">
              <a:spcBef>
                <a:spcPts val="110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g3ab7d9aa332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4" name="Google Shape;1944;g3ab7d9aa332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111111"/>
                </a:solidFill>
              </a:rPr>
              <a:t>Here we see that the RF model tends to miss more extreme points for both targets </a:t>
            </a:r>
            <a:r>
              <a:rPr lang="en" strike="sngStrike">
                <a:solidFill>
                  <a:srgbClr val="111111"/>
                </a:solidFill>
              </a:rPr>
              <a:t>but captures the predictable rise-and-fall in traffic volume through the day. </a:t>
            </a:r>
            <a:endParaRPr strike="sngStrike">
              <a:solidFill>
                <a:schemeClr val="dk1"/>
              </a:solidFill>
              <a:highlight>
                <a:srgbClr val="FFFF00"/>
              </a:highlight>
            </a:endParaRPr>
          </a:p>
          <a:p>
            <a:pPr indent="0" lvl="0" marL="0" rtl="0" algn="l">
              <a:lnSpc>
                <a:spcPct val="115000"/>
              </a:lnSpc>
              <a:spcBef>
                <a:spcPts val="1100"/>
              </a:spcBef>
              <a:spcAft>
                <a:spcPts val="0"/>
              </a:spcAft>
              <a:buClr>
                <a:schemeClr val="dk1"/>
              </a:buClr>
              <a:buSzPts val="1100"/>
              <a:buFont typeface="Arial"/>
              <a:buNone/>
            </a:pPr>
            <a:r>
              <a:t/>
            </a:r>
            <a:endParaRPr>
              <a:solidFill>
                <a:srgbClr val="111111"/>
              </a:solidFill>
            </a:endParaRPr>
          </a:p>
          <a:p>
            <a:pPr indent="0" lvl="0" marL="0" rtl="0" algn="l">
              <a:lnSpc>
                <a:spcPct val="115000"/>
              </a:lnSpc>
              <a:spcBef>
                <a:spcPts val="1100"/>
              </a:spcBef>
              <a:spcAft>
                <a:spcPts val="0"/>
              </a:spcAft>
              <a:buNone/>
            </a:pPr>
            <a:r>
              <a:t/>
            </a:r>
            <a:endParaRPr sz="14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7" name="Shape 1967"/>
        <p:cNvGrpSpPr/>
        <p:nvPr/>
      </p:nvGrpSpPr>
      <p:grpSpPr>
        <a:xfrm>
          <a:off x="0" y="0"/>
          <a:ext cx="0" cy="0"/>
          <a:chOff x="0" y="0"/>
          <a:chExt cx="0" cy="0"/>
        </a:xfrm>
      </p:grpSpPr>
      <p:sp>
        <p:nvSpPr>
          <p:cNvPr id="1968" name="Google Shape;1968;g3ab7d9aa332_0_1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9" name="Google Shape;1969;g3ab7d9aa332_0_1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4" name="Shape 2084"/>
        <p:cNvGrpSpPr/>
        <p:nvPr/>
      </p:nvGrpSpPr>
      <p:grpSpPr>
        <a:xfrm>
          <a:off x="0" y="0"/>
          <a:ext cx="0" cy="0"/>
          <a:chOff x="0" y="0"/>
          <a:chExt cx="0" cy="0"/>
        </a:xfrm>
      </p:grpSpPr>
      <p:sp>
        <p:nvSpPr>
          <p:cNvPr id="2085" name="Google Shape;2085;g3ab7d9aa33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6" name="Google Shape;2086;g3ab7d9aa33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We planned to compare the Random Forest model to XGBoost, which iteratively minimizes errors. </a:t>
            </a:r>
            <a:endParaRPr>
              <a:solidFill>
                <a:schemeClr val="dk1"/>
              </a:solidFill>
            </a:endParaRPr>
          </a:p>
          <a:p>
            <a:pPr indent="0" lvl="0" marL="0" rtl="0" algn="l">
              <a:lnSpc>
                <a:spcPct val="115000"/>
              </a:lnSpc>
              <a:spcBef>
                <a:spcPts val="0"/>
              </a:spcBef>
              <a:spcAft>
                <a:spcPts val="0"/>
              </a:spcAft>
              <a:buNone/>
            </a:pPr>
            <a:r>
              <a:t/>
            </a:r>
            <a:endParaRPr strike="sngStrike">
              <a:solidFill>
                <a:schemeClr val="dk1"/>
              </a:solidFill>
            </a:endParaRPr>
          </a:p>
          <a:p>
            <a:pPr indent="0" lvl="0" marL="0" rtl="0" algn="l">
              <a:lnSpc>
                <a:spcPct val="115000"/>
              </a:lnSpc>
              <a:spcBef>
                <a:spcPts val="0"/>
              </a:spcBef>
              <a:spcAft>
                <a:spcPts val="0"/>
              </a:spcAft>
              <a:buNone/>
            </a:pPr>
            <a:r>
              <a:t/>
            </a:r>
            <a:endParaRPr strike="sngStrike">
              <a:solidFill>
                <a:schemeClr val="dk1"/>
              </a:solidFill>
            </a:endParaRPr>
          </a:p>
          <a:p>
            <a:pPr indent="0" lvl="0" marL="0" rtl="0" algn="l">
              <a:lnSpc>
                <a:spcPct val="115000"/>
              </a:lnSpc>
              <a:spcBef>
                <a:spcPts val="0"/>
              </a:spcBef>
              <a:spcAft>
                <a:spcPts val="0"/>
              </a:spcAft>
              <a:buNone/>
            </a:pPr>
            <a:r>
              <a:rPr lang="en" strike="sngStrike">
                <a:solidFill>
                  <a:schemeClr val="dk1"/>
                </a:solidFill>
              </a:rPr>
              <a:t>XGBoost is another tree-based ensemble model that constructs many trees in sequence, where each tree is trained to reduce the errors of earlier trees. </a:t>
            </a:r>
            <a:r>
              <a:rPr lang="en">
                <a:solidFill>
                  <a:schemeClr val="dk1"/>
                </a:solidFill>
              </a:rPr>
              <a:t>Since XGB does not require normalization or feature reduction either, the data preparation  was identical to the Random Forest model.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8" name="Shape 2108"/>
        <p:cNvGrpSpPr/>
        <p:nvPr/>
      </p:nvGrpSpPr>
      <p:grpSpPr>
        <a:xfrm>
          <a:off x="0" y="0"/>
          <a:ext cx="0" cy="0"/>
          <a:chOff x="0" y="0"/>
          <a:chExt cx="0" cy="0"/>
        </a:xfrm>
      </p:grpSpPr>
      <p:sp>
        <p:nvSpPr>
          <p:cNvPr id="2109" name="Google Shape;2109;g3ab7d9aa332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0" name="Google Shape;2110;g3ab7d9aa332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As before, we randomly sampled combinations from a parameter grid and evaluated each configuration using cross-validation on the R^2 score. These are the hyperparameters we found.</a:t>
            </a:r>
            <a:endParaRPr>
              <a:solidFill>
                <a:schemeClr val="dk1"/>
              </a:solidFill>
            </a:endParaRPr>
          </a:p>
          <a:p>
            <a:pPr indent="0" lvl="0" marL="0" rtl="0" algn="l">
              <a:lnSpc>
                <a:spcPct val="115000"/>
              </a:lnSpc>
              <a:spcBef>
                <a:spcPts val="0"/>
              </a:spcBef>
              <a:spcAft>
                <a:spcPts val="0"/>
              </a:spcAft>
              <a:buNone/>
            </a:pPr>
            <a:r>
              <a:t/>
            </a:r>
            <a:endParaRPr strike="sngStrike">
              <a:solidFill>
                <a:schemeClr val="dk1"/>
              </a:solidFill>
            </a:endParaRPr>
          </a:p>
          <a:p>
            <a:pPr indent="0" lvl="0" marL="0" rtl="0" algn="l">
              <a:lnSpc>
                <a:spcPct val="115000"/>
              </a:lnSpc>
              <a:spcBef>
                <a:spcPts val="0"/>
              </a:spcBef>
              <a:spcAft>
                <a:spcPts val="0"/>
              </a:spcAft>
              <a:buNone/>
            </a:pPr>
            <a:r>
              <a:rPr lang="en" strike="sngStrike">
                <a:solidFill>
                  <a:schemeClr val="dk1"/>
                </a:solidFill>
              </a:rPr>
              <a:t>The model has parameters for the training rows sampled for each tree, the regularization term, the number of trees, the maximum depth of each tree, the step size controlling how much each tree contributes, and features sampled for each tree. </a:t>
            </a:r>
            <a:endParaRPr strike="sngStrike">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g3ab7d9aa332_0_1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6" name="Google Shape;2136;g3ab7d9aa332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111111"/>
                </a:solidFill>
              </a:rPr>
              <a:t>Again, </a:t>
            </a:r>
            <a:r>
              <a:rPr lang="en">
                <a:solidFill>
                  <a:srgbClr val="111111"/>
                </a:solidFill>
              </a:rPr>
              <a:t>the error values for both targets are very strong and reinforce the conclusions that (a) the Congestion Zone is a strong candidate for forecasting, and (b) subway patterns can be meaningful to traffic predictions. Performance is also weaker for excluded entries again, most likely for the reasons we previously discussed. </a:t>
            </a:r>
            <a:endParaRPr>
              <a:solidFill>
                <a:srgbClr val="111111"/>
              </a:solidFill>
            </a:endParaRPr>
          </a:p>
          <a:p>
            <a:pPr indent="0" lvl="0" marL="0" rtl="0" algn="l">
              <a:lnSpc>
                <a:spcPct val="115000"/>
              </a:lnSpc>
              <a:spcBef>
                <a:spcPts val="1100"/>
              </a:spcBef>
              <a:spcAft>
                <a:spcPts val="0"/>
              </a:spcAft>
              <a:buNone/>
            </a:pPr>
            <a:r>
              <a:t/>
            </a:r>
            <a:endParaRPr>
              <a:solidFill>
                <a:srgbClr val="111111"/>
              </a:solidFill>
            </a:endParaRPr>
          </a:p>
          <a:p>
            <a:pPr indent="0" lvl="0" marL="0" rtl="0" algn="l">
              <a:spcBef>
                <a:spcPts val="110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0" name="Shape 2160"/>
        <p:cNvGrpSpPr/>
        <p:nvPr/>
      </p:nvGrpSpPr>
      <p:grpSpPr>
        <a:xfrm>
          <a:off x="0" y="0"/>
          <a:ext cx="0" cy="0"/>
          <a:chOff x="0" y="0"/>
          <a:chExt cx="0" cy="0"/>
        </a:xfrm>
      </p:grpSpPr>
      <p:sp>
        <p:nvSpPr>
          <p:cNvPr id="2161" name="Google Shape;2161;g3ab7d9aa332_0_1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2" name="Google Shape;2162;g3ab7d9aa332_0_1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111111"/>
                </a:solidFill>
              </a:rPr>
              <a:t>XGB outperforms the Random Forest model across all metrics and both target variables. For regular entries, XGBoost reduces RMSE by ~3 vehicles and MAE by ~1.5 vehicles. For excluded entries, XGB lowers RMSE by ~0.8 vehicles and MAE by ~0.15 vehicles. The test R^2 for both targets is increased by 0.004 to &gt;0.99. Overall, XGB generalizes better due to its boosting framework.</a:t>
            </a:r>
            <a:endParaRPr>
              <a:solidFill>
                <a:srgbClr val="111111"/>
              </a:solidFill>
            </a:endParaRPr>
          </a:p>
          <a:p>
            <a:pPr indent="0" lvl="0" marL="0" rtl="0" algn="l">
              <a:lnSpc>
                <a:spcPct val="115000"/>
              </a:lnSpc>
              <a:spcBef>
                <a:spcPts val="1100"/>
              </a:spcBef>
              <a:spcAft>
                <a:spcPts val="0"/>
              </a:spcAft>
              <a:buNone/>
            </a:pPr>
            <a:r>
              <a:t/>
            </a:r>
            <a:endParaRPr>
              <a:solidFill>
                <a:srgbClr val="111111"/>
              </a:solidFill>
            </a:endParaRPr>
          </a:p>
          <a:p>
            <a:pPr indent="0" lvl="0" marL="0" rtl="0" algn="l">
              <a:spcBef>
                <a:spcPts val="110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3ab7d9aa332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0" name="Google Shape;2190;g3ab7d9aa332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111111"/>
                </a:solidFill>
              </a:rPr>
              <a:t>XGB does much better at capturing extreme points for entries than Random Forest, but still tends to miss them for excluded_entries, consistent with the generally weaker performance on that target. </a:t>
            </a:r>
            <a:endParaRPr>
              <a:solidFill>
                <a:schemeClr val="dk1"/>
              </a:solidFill>
            </a:endParaRPr>
          </a:p>
          <a:p>
            <a:pPr indent="0" lvl="0" marL="0" rtl="0" algn="l">
              <a:lnSpc>
                <a:spcPct val="115000"/>
              </a:lnSpc>
              <a:spcBef>
                <a:spcPts val="1100"/>
              </a:spcBef>
              <a:spcAft>
                <a:spcPts val="0"/>
              </a:spcAft>
              <a:buNone/>
            </a:pPr>
            <a:r>
              <a:t/>
            </a:r>
            <a:endParaRPr>
              <a:solidFill>
                <a:srgbClr val="111111"/>
              </a:solidFill>
            </a:endParaRPr>
          </a:p>
          <a:p>
            <a:pPr indent="0" lvl="0" marL="0" rtl="0" algn="l">
              <a:lnSpc>
                <a:spcPct val="115000"/>
              </a:lnSpc>
              <a:spcBef>
                <a:spcPts val="1100"/>
              </a:spcBef>
              <a:spcAft>
                <a:spcPts val="0"/>
              </a:spcAft>
              <a:buNone/>
            </a:pPr>
            <a:r>
              <a:t/>
            </a:r>
            <a:endParaRPr sz="14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3" name="Shape 2213"/>
        <p:cNvGrpSpPr/>
        <p:nvPr/>
      </p:nvGrpSpPr>
      <p:grpSpPr>
        <a:xfrm>
          <a:off x="0" y="0"/>
          <a:ext cx="0" cy="0"/>
          <a:chOff x="0" y="0"/>
          <a:chExt cx="0" cy="0"/>
        </a:xfrm>
      </p:grpSpPr>
      <p:sp>
        <p:nvSpPr>
          <p:cNvPr id="2214" name="Google Shape;2214;g3ab7d9aa332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5" name="Google Shape;2215;g3ab7d9aa332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g3ab7d9aa332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2" name="Google Shape;2332;g3ab7d9aa332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111111"/>
                </a:solidFill>
              </a:rPr>
              <a:t>To address the clustering generalizability, we could try a</a:t>
            </a:r>
            <a:r>
              <a:rPr lang="en">
                <a:solidFill>
                  <a:srgbClr val="111111"/>
                </a:solidFill>
              </a:rPr>
              <a:t> hyperparameter combination somewhere between the previous and current, test alternative distance metrics more suitable to sparse data, and give validation and test noise points more flexible assignments based on probabilities.</a:t>
            </a:r>
            <a:endParaRPr sz="1400">
              <a:solidFill>
                <a:schemeClr val="dk1"/>
              </a:solidFill>
            </a:endParaRPr>
          </a:p>
          <a:p>
            <a:pPr indent="0" lvl="0" marL="0" rtl="0" algn="l">
              <a:lnSpc>
                <a:spcPct val="115000"/>
              </a:lnSpc>
              <a:spcBef>
                <a:spcPts val="1100"/>
              </a:spcBef>
              <a:spcAft>
                <a:spcPts val="0"/>
              </a:spcAft>
              <a:buClr>
                <a:schemeClr val="dk1"/>
              </a:buClr>
              <a:buSzPts val="1100"/>
              <a:buFont typeface="Arial"/>
              <a:buNone/>
            </a:pPr>
            <a:r>
              <a:rPr lang="en">
                <a:solidFill>
                  <a:srgbClr val="111111"/>
                </a:solidFill>
              </a:rPr>
              <a:t>To address extreme points, we could integrate</a:t>
            </a:r>
            <a:r>
              <a:rPr lang="en">
                <a:solidFill>
                  <a:srgbClr val="111111"/>
                </a:solidFill>
              </a:rPr>
              <a:t> additional external factors tied to traffic patterns, add</a:t>
            </a:r>
            <a:r>
              <a:rPr lang="en">
                <a:solidFill>
                  <a:schemeClr val="dk1"/>
                </a:solidFill>
              </a:rPr>
              <a:t> explicit anomaly-detection approaches, or make the model itself slightly more sensitive to outliers.</a:t>
            </a:r>
            <a:endParaRPr/>
          </a:p>
          <a:p>
            <a:pPr indent="0" lvl="0" marL="0" rtl="0" algn="l">
              <a:spcBef>
                <a:spcPts val="110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2" name="Shape 2372"/>
        <p:cNvGrpSpPr/>
        <p:nvPr/>
      </p:nvGrpSpPr>
      <p:grpSpPr>
        <a:xfrm>
          <a:off x="0" y="0"/>
          <a:ext cx="0" cy="0"/>
          <a:chOff x="0" y="0"/>
          <a:chExt cx="0" cy="0"/>
        </a:xfrm>
      </p:grpSpPr>
      <p:sp>
        <p:nvSpPr>
          <p:cNvPr id="2373" name="Google Shape;2373;g3ab7d9aa332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4" name="Google Shape;2374;g3ab7d9aa332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8" name="Shape 2488"/>
        <p:cNvGrpSpPr/>
        <p:nvPr/>
      </p:nvGrpSpPr>
      <p:grpSpPr>
        <a:xfrm>
          <a:off x="0" y="0"/>
          <a:ext cx="0" cy="0"/>
          <a:chOff x="0" y="0"/>
          <a:chExt cx="0" cy="0"/>
        </a:xfrm>
      </p:grpSpPr>
      <p:sp>
        <p:nvSpPr>
          <p:cNvPr id="2489" name="Google Shape;2489;g3848986859a_5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0" name="Google Shape;2490;g3848986859a_5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525719" y="4458105"/>
            <a:ext cx="4030101" cy="1211247"/>
            <a:chOff x="430469" y="4172355"/>
            <a:chExt cx="4030101" cy="1211247"/>
          </a:xfrm>
        </p:grpSpPr>
        <p:grpSp>
          <p:nvGrpSpPr>
            <p:cNvPr id="10" name="Google Shape;10;p2"/>
            <p:cNvGrpSpPr/>
            <p:nvPr/>
          </p:nvGrpSpPr>
          <p:grpSpPr>
            <a:xfrm flipH="1" rot="5538019">
              <a:off x="1919568" y="2782430"/>
              <a:ext cx="1051902" cy="3991097"/>
              <a:chOff x="5485075" y="3521900"/>
              <a:chExt cx="506850" cy="1923075"/>
            </a:xfrm>
          </p:grpSpPr>
          <p:sp>
            <p:nvSpPr>
              <p:cNvPr id="11" name="Google Shape;11;p2"/>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2"/>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 name="Google Shape;22;p2"/>
          <p:cNvSpPr txBox="1"/>
          <p:nvPr>
            <p:ph type="ctrTitle"/>
          </p:nvPr>
        </p:nvSpPr>
        <p:spPr>
          <a:xfrm>
            <a:off x="713250" y="539500"/>
            <a:ext cx="7717500" cy="182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rgbClr val="191919"/>
              </a:buClr>
              <a:buSzPts val="5200"/>
              <a:buNone/>
              <a:defRPr sz="5700">
                <a:latin typeface="Plus Jakarta Sans ExtraBold"/>
                <a:ea typeface="Plus Jakarta Sans ExtraBold"/>
                <a:cs typeface="Plus Jakarta Sans ExtraBold"/>
                <a:sym typeface="Plus Jakarta Sans Extra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3" name="Google Shape;23;p2"/>
          <p:cNvSpPr txBox="1"/>
          <p:nvPr>
            <p:ph idx="1" type="subTitle"/>
          </p:nvPr>
        </p:nvSpPr>
        <p:spPr>
          <a:xfrm>
            <a:off x="713250" y="2415800"/>
            <a:ext cx="5329500" cy="4344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3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3"/>
          <p:cNvSpPr txBox="1"/>
          <p:nvPr>
            <p:ph type="title"/>
          </p:nvPr>
        </p:nvSpPr>
        <p:spPr>
          <a:xfrm flipH="1">
            <a:off x="3855175" y="3138636"/>
            <a:ext cx="4575600" cy="1071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6000">
                <a:latin typeface="Plus Jakarta Sans ExtraBold"/>
                <a:ea typeface="Plus Jakarta Sans ExtraBold"/>
                <a:cs typeface="Plus Jakarta Sans ExtraBold"/>
                <a:sym typeface="Plus Jakarta Sans ExtraBold"/>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 name="Google Shape;26;p3"/>
          <p:cNvSpPr txBox="1"/>
          <p:nvPr>
            <p:ph hasCustomPrompt="1" idx="2" type="title"/>
          </p:nvPr>
        </p:nvSpPr>
        <p:spPr>
          <a:xfrm>
            <a:off x="3855175" y="2269175"/>
            <a:ext cx="1180800" cy="869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b="1" sz="6000">
                <a:latin typeface="Plus Jakarta Sans"/>
                <a:ea typeface="Plus Jakarta Sans"/>
                <a:cs typeface="Plus Jakarta Sans"/>
                <a:sym typeface="Plus Jakarta Sa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7" name="Google Shape;27;p3"/>
          <p:cNvSpPr txBox="1"/>
          <p:nvPr>
            <p:ph idx="1" type="subTitle"/>
          </p:nvPr>
        </p:nvSpPr>
        <p:spPr>
          <a:xfrm flipH="1">
            <a:off x="3855175" y="4174786"/>
            <a:ext cx="4575600" cy="4338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300"/>
              <a:buFont typeface="Roboto Mono"/>
              <a:buNone/>
              <a:defRPr sz="15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4"/>
          <p:cNvSpPr txBox="1"/>
          <p:nvPr>
            <p:ph type="title"/>
          </p:nvPr>
        </p:nvSpPr>
        <p:spPr>
          <a:xfrm>
            <a:off x="720000" y="539500"/>
            <a:ext cx="3453000" cy="12315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atin typeface="Plus Jakarta Sans"/>
                <a:ea typeface="Plus Jakarta Sans"/>
                <a:cs typeface="Plus Jakarta Sans"/>
                <a:sym typeface="Plus Jakarta Sans"/>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 name="Google Shape;30;p4"/>
          <p:cNvSpPr txBox="1"/>
          <p:nvPr>
            <p:ph idx="1" type="body"/>
          </p:nvPr>
        </p:nvSpPr>
        <p:spPr>
          <a:xfrm>
            <a:off x="720000" y="1694800"/>
            <a:ext cx="3453000" cy="22113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oboto Mono"/>
              <a:buChar char="●"/>
              <a:defRPr sz="1200">
                <a:latin typeface="Roboto Mono"/>
                <a:ea typeface="Roboto Mono"/>
                <a:cs typeface="Roboto Mono"/>
                <a:sym typeface="Roboto Mono"/>
              </a:defRPr>
            </a:lvl1pPr>
            <a:lvl2pPr indent="-304800" lvl="1" marL="914400" rtl="0">
              <a:lnSpc>
                <a:spcPct val="115000"/>
              </a:lnSpc>
              <a:spcBef>
                <a:spcPts val="0"/>
              </a:spcBef>
              <a:spcAft>
                <a:spcPts val="0"/>
              </a:spcAft>
              <a:buSzPts val="1200"/>
              <a:buFont typeface="Roboto Mono"/>
              <a:buChar char="○"/>
              <a:defRPr sz="1200">
                <a:latin typeface="Roboto Mono"/>
                <a:ea typeface="Roboto Mono"/>
                <a:cs typeface="Roboto Mono"/>
                <a:sym typeface="Roboto Mono"/>
              </a:defRPr>
            </a:lvl2pPr>
            <a:lvl3pPr indent="-304800" lvl="2" marL="1371600" rtl="0">
              <a:lnSpc>
                <a:spcPct val="115000"/>
              </a:lnSpc>
              <a:spcBef>
                <a:spcPts val="1600"/>
              </a:spcBef>
              <a:spcAft>
                <a:spcPts val="0"/>
              </a:spcAft>
              <a:buSzPts val="1200"/>
              <a:buFont typeface="Roboto Mono"/>
              <a:buChar char="■"/>
              <a:defRPr sz="1200">
                <a:latin typeface="Roboto Mono"/>
                <a:ea typeface="Roboto Mono"/>
                <a:cs typeface="Roboto Mono"/>
                <a:sym typeface="Roboto Mono"/>
              </a:defRPr>
            </a:lvl3pPr>
            <a:lvl4pPr indent="-304800" lvl="3" marL="1828800" rtl="0">
              <a:lnSpc>
                <a:spcPct val="115000"/>
              </a:lnSpc>
              <a:spcBef>
                <a:spcPts val="1600"/>
              </a:spcBef>
              <a:spcAft>
                <a:spcPts val="0"/>
              </a:spcAft>
              <a:buSzPts val="1200"/>
              <a:buFont typeface="Roboto Mono"/>
              <a:buChar char="●"/>
              <a:defRPr sz="1200">
                <a:latin typeface="Roboto Mono"/>
                <a:ea typeface="Roboto Mono"/>
                <a:cs typeface="Roboto Mono"/>
                <a:sym typeface="Roboto Mono"/>
              </a:defRPr>
            </a:lvl4pPr>
            <a:lvl5pPr indent="-304800" lvl="4" marL="2286000" rtl="0">
              <a:lnSpc>
                <a:spcPct val="115000"/>
              </a:lnSpc>
              <a:spcBef>
                <a:spcPts val="1600"/>
              </a:spcBef>
              <a:spcAft>
                <a:spcPts val="0"/>
              </a:spcAft>
              <a:buSzPts val="1200"/>
              <a:buFont typeface="Roboto Mono"/>
              <a:buChar char="○"/>
              <a:defRPr sz="1200">
                <a:latin typeface="Roboto Mono"/>
                <a:ea typeface="Roboto Mono"/>
                <a:cs typeface="Roboto Mono"/>
                <a:sym typeface="Roboto Mono"/>
              </a:defRPr>
            </a:lvl5pPr>
            <a:lvl6pPr indent="-304800" lvl="5" marL="2743200" rtl="0">
              <a:lnSpc>
                <a:spcPct val="115000"/>
              </a:lnSpc>
              <a:spcBef>
                <a:spcPts val="1600"/>
              </a:spcBef>
              <a:spcAft>
                <a:spcPts val="0"/>
              </a:spcAft>
              <a:buSzPts val="1200"/>
              <a:buFont typeface="Roboto Mono"/>
              <a:buChar char="■"/>
              <a:defRPr sz="1200">
                <a:latin typeface="Roboto Mono"/>
                <a:ea typeface="Roboto Mono"/>
                <a:cs typeface="Roboto Mono"/>
                <a:sym typeface="Roboto Mono"/>
              </a:defRPr>
            </a:lvl6pPr>
            <a:lvl7pPr indent="-304800" lvl="6" marL="3200400" rtl="0">
              <a:lnSpc>
                <a:spcPct val="115000"/>
              </a:lnSpc>
              <a:spcBef>
                <a:spcPts val="1600"/>
              </a:spcBef>
              <a:spcAft>
                <a:spcPts val="0"/>
              </a:spcAft>
              <a:buSzPts val="1200"/>
              <a:buFont typeface="Roboto Mono"/>
              <a:buChar char="●"/>
              <a:defRPr sz="1200">
                <a:latin typeface="Roboto Mono"/>
                <a:ea typeface="Roboto Mono"/>
                <a:cs typeface="Roboto Mono"/>
                <a:sym typeface="Roboto Mono"/>
              </a:defRPr>
            </a:lvl7pPr>
            <a:lvl8pPr indent="-304800" lvl="7" marL="3657600" rtl="0">
              <a:lnSpc>
                <a:spcPct val="115000"/>
              </a:lnSpc>
              <a:spcBef>
                <a:spcPts val="1600"/>
              </a:spcBef>
              <a:spcAft>
                <a:spcPts val="0"/>
              </a:spcAft>
              <a:buSzPts val="1200"/>
              <a:buFont typeface="Roboto Mono"/>
              <a:buChar char="○"/>
              <a:defRPr sz="1200">
                <a:latin typeface="Roboto Mono"/>
                <a:ea typeface="Roboto Mono"/>
                <a:cs typeface="Roboto Mono"/>
                <a:sym typeface="Roboto Mono"/>
              </a:defRPr>
            </a:lvl8pPr>
            <a:lvl9pPr indent="-304800" lvl="8" marL="4114800" rtl="0">
              <a:lnSpc>
                <a:spcPct val="115000"/>
              </a:lnSpc>
              <a:spcBef>
                <a:spcPts val="1600"/>
              </a:spcBef>
              <a:spcAft>
                <a:spcPts val="1600"/>
              </a:spcAft>
              <a:buSzPts val="1200"/>
              <a:buFont typeface="Roboto Mono"/>
              <a:buChar char="■"/>
              <a:defRPr sz="1200">
                <a:latin typeface="Roboto Mono"/>
                <a:ea typeface="Roboto Mono"/>
                <a:cs typeface="Roboto Mono"/>
                <a:sym typeface="Roboto Mon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grpSp>
        <p:nvGrpSpPr>
          <p:cNvPr id="32" name="Google Shape;32;p5"/>
          <p:cNvGrpSpPr/>
          <p:nvPr/>
        </p:nvGrpSpPr>
        <p:grpSpPr>
          <a:xfrm>
            <a:off x="-953495" y="-1568972"/>
            <a:ext cx="11270335" cy="8998490"/>
            <a:chOff x="-953495" y="-1568972"/>
            <a:chExt cx="11270335" cy="8998490"/>
          </a:xfrm>
        </p:grpSpPr>
        <p:grpSp>
          <p:nvGrpSpPr>
            <p:cNvPr id="33" name="Google Shape;33;p5"/>
            <p:cNvGrpSpPr/>
            <p:nvPr/>
          </p:nvGrpSpPr>
          <p:grpSpPr>
            <a:xfrm flipH="1" rot="5400000">
              <a:off x="-2046531" y="-159545"/>
              <a:ext cx="4030101" cy="1211247"/>
              <a:chOff x="430469" y="4172355"/>
              <a:chExt cx="4030101" cy="1211247"/>
            </a:xfrm>
          </p:grpSpPr>
          <p:grpSp>
            <p:nvGrpSpPr>
              <p:cNvPr id="34" name="Google Shape;34;p5"/>
              <p:cNvGrpSpPr/>
              <p:nvPr/>
            </p:nvGrpSpPr>
            <p:grpSpPr>
              <a:xfrm flipH="1" rot="5538019">
                <a:off x="1919568" y="2782430"/>
                <a:ext cx="1051902" cy="3991097"/>
                <a:chOff x="5485075" y="3521900"/>
                <a:chExt cx="506850" cy="1923075"/>
              </a:xfrm>
            </p:grpSpPr>
            <p:sp>
              <p:nvSpPr>
                <p:cNvPr id="35" name="Google Shape;35;p5"/>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5"/>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 name="Google Shape;46;p5"/>
            <p:cNvGrpSpPr/>
            <p:nvPr/>
          </p:nvGrpSpPr>
          <p:grpSpPr>
            <a:xfrm>
              <a:off x="8130821" y="2765834"/>
              <a:ext cx="2186019" cy="4663683"/>
              <a:chOff x="3061750" y="2798625"/>
              <a:chExt cx="1053300" cy="2247125"/>
            </a:xfrm>
          </p:grpSpPr>
          <p:grpSp>
            <p:nvGrpSpPr>
              <p:cNvPr id="47" name="Google Shape;47;p5"/>
              <p:cNvGrpSpPr/>
              <p:nvPr/>
            </p:nvGrpSpPr>
            <p:grpSpPr>
              <a:xfrm>
                <a:off x="3061750" y="2798625"/>
                <a:ext cx="1053300" cy="2247125"/>
                <a:chOff x="3682050" y="2775150"/>
                <a:chExt cx="1053300" cy="2247125"/>
              </a:xfrm>
            </p:grpSpPr>
            <p:sp>
              <p:nvSpPr>
                <p:cNvPr id="48" name="Google Shape;48;p5"/>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5"/>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 name="Google Shape;66;p5"/>
            <p:cNvGrpSpPr/>
            <p:nvPr/>
          </p:nvGrpSpPr>
          <p:grpSpPr>
            <a:xfrm rot="-10536040">
              <a:off x="-710877" y="108394"/>
              <a:ext cx="1358255" cy="6377958"/>
              <a:chOff x="4851025" y="424250"/>
              <a:chExt cx="654450" cy="3073100"/>
            </a:xfrm>
          </p:grpSpPr>
          <p:sp>
            <p:nvSpPr>
              <p:cNvPr id="67" name="Google Shape;67;p5"/>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 name="Google Shape;84;p5"/>
          <p:cNvSpPr txBox="1"/>
          <p:nvPr>
            <p:ph type="title"/>
          </p:nvPr>
        </p:nvSpPr>
        <p:spPr>
          <a:xfrm>
            <a:off x="720000" y="539500"/>
            <a:ext cx="3852000" cy="1151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5" name="Google Shape;85;p5"/>
          <p:cNvSpPr txBox="1"/>
          <p:nvPr>
            <p:ph idx="1" type="subTitle"/>
          </p:nvPr>
        </p:nvSpPr>
        <p:spPr>
          <a:xfrm>
            <a:off x="3053291" y="3211644"/>
            <a:ext cx="2600700" cy="98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Font typeface="Roboto Mono"/>
              <a:buNone/>
              <a:defRPr sz="1300"/>
            </a:lvl1pPr>
            <a:lvl2pPr lvl="1"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2pPr>
            <a:lvl3pPr lvl="2"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3pPr>
            <a:lvl4pPr lvl="3"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4pPr>
            <a:lvl5pPr lvl="4"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5pPr>
            <a:lvl6pPr lvl="5"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6pPr>
            <a:lvl7pPr lvl="6"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7pPr>
            <a:lvl8pPr lvl="7"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8pPr>
            <a:lvl9pPr lvl="8"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9pPr>
          </a:lstStyle>
          <a:p/>
        </p:txBody>
      </p:sp>
      <p:sp>
        <p:nvSpPr>
          <p:cNvPr id="86" name="Google Shape;86;p5"/>
          <p:cNvSpPr txBox="1"/>
          <p:nvPr>
            <p:ph idx="2" type="subTitle"/>
          </p:nvPr>
        </p:nvSpPr>
        <p:spPr>
          <a:xfrm>
            <a:off x="5246518" y="1565887"/>
            <a:ext cx="2600700" cy="986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Font typeface="Roboto Mono"/>
              <a:buNone/>
              <a:defRPr sz="1300"/>
            </a:lvl1pPr>
            <a:lvl2pPr lvl="1"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2pPr>
            <a:lvl3pPr lvl="2"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3pPr>
            <a:lvl4pPr lvl="3"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4pPr>
            <a:lvl5pPr lvl="4"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5pPr>
            <a:lvl6pPr lvl="5"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6pPr>
            <a:lvl7pPr lvl="6"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7pPr>
            <a:lvl8pPr lvl="7"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8pPr>
            <a:lvl9pPr lvl="8" rtl="0" algn="ctr">
              <a:lnSpc>
                <a:spcPct val="100000"/>
              </a:lnSpc>
              <a:spcBef>
                <a:spcPts val="0"/>
              </a:spcBef>
              <a:spcAft>
                <a:spcPts val="0"/>
              </a:spcAft>
              <a:buSzPts val="2800"/>
              <a:buFont typeface="Roboto Mono"/>
              <a:buNone/>
              <a:defRPr sz="2800">
                <a:latin typeface="Roboto Mono"/>
                <a:ea typeface="Roboto Mono"/>
                <a:cs typeface="Roboto Mono"/>
                <a:sym typeface="Roboto Mono"/>
              </a:defRPr>
            </a:lvl9pPr>
          </a:lstStyle>
          <a:p/>
        </p:txBody>
      </p:sp>
      <p:sp>
        <p:nvSpPr>
          <p:cNvPr id="87" name="Google Shape;87;p5"/>
          <p:cNvSpPr txBox="1"/>
          <p:nvPr>
            <p:ph idx="3" type="subTitle"/>
          </p:nvPr>
        </p:nvSpPr>
        <p:spPr>
          <a:xfrm>
            <a:off x="3053281" y="2864174"/>
            <a:ext cx="2600700" cy="411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Epilogue"/>
              <a:buNone/>
              <a:defRPr sz="2000">
                <a:solidFill>
                  <a:schemeClr val="dk1"/>
                </a:solidFill>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400"/>
              <a:buFont typeface="Epilogue"/>
              <a:buNone/>
              <a:defRPr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sz="2400">
                <a:latin typeface="Epilogue"/>
                <a:ea typeface="Epilogue"/>
                <a:cs typeface="Epilogue"/>
                <a:sym typeface="Epilogue"/>
              </a:defRPr>
            </a:lvl9pPr>
          </a:lstStyle>
          <a:p/>
        </p:txBody>
      </p:sp>
      <p:sp>
        <p:nvSpPr>
          <p:cNvPr id="88" name="Google Shape;88;p5"/>
          <p:cNvSpPr txBox="1"/>
          <p:nvPr>
            <p:ph idx="4" type="subTitle"/>
          </p:nvPr>
        </p:nvSpPr>
        <p:spPr>
          <a:xfrm>
            <a:off x="5246512" y="1218417"/>
            <a:ext cx="2600700" cy="411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400"/>
              <a:buFont typeface="Epilogue"/>
              <a:buNone/>
              <a:defRPr sz="2000">
                <a:solidFill>
                  <a:schemeClr val="dk1"/>
                </a:solidFill>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400"/>
              <a:buFont typeface="Epilogue"/>
              <a:buNone/>
              <a:defRPr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sz="2400">
                <a:latin typeface="Epilogue"/>
                <a:ea typeface="Epilogue"/>
                <a:cs typeface="Epilogue"/>
                <a:sym typeface="Epilog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9" name="Shape 89"/>
        <p:cNvGrpSpPr/>
        <p:nvPr/>
      </p:nvGrpSpPr>
      <p:grpSpPr>
        <a:xfrm>
          <a:off x="0" y="0"/>
          <a:ext cx="0" cy="0"/>
          <a:chOff x="0" y="0"/>
          <a:chExt cx="0" cy="0"/>
        </a:xfrm>
      </p:grpSpPr>
      <p:grpSp>
        <p:nvGrpSpPr>
          <p:cNvPr id="90" name="Google Shape;90;p6"/>
          <p:cNvGrpSpPr/>
          <p:nvPr/>
        </p:nvGrpSpPr>
        <p:grpSpPr>
          <a:xfrm>
            <a:off x="-1882608" y="-2312493"/>
            <a:ext cx="11769561" cy="6575556"/>
            <a:chOff x="-1882608" y="-2312493"/>
            <a:chExt cx="11769561" cy="6575556"/>
          </a:xfrm>
        </p:grpSpPr>
        <p:grpSp>
          <p:nvGrpSpPr>
            <p:cNvPr id="91" name="Google Shape;91;p6"/>
            <p:cNvGrpSpPr/>
            <p:nvPr/>
          </p:nvGrpSpPr>
          <p:grpSpPr>
            <a:xfrm flipH="1" rot="-275928">
              <a:off x="8275224" y="-2268309"/>
              <a:ext cx="1358233" cy="6377855"/>
              <a:chOff x="4851025" y="424250"/>
              <a:chExt cx="654450" cy="3073100"/>
            </a:xfrm>
          </p:grpSpPr>
          <p:sp>
            <p:nvSpPr>
              <p:cNvPr id="92" name="Google Shape;92;p6"/>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 name="Google Shape;109;p6"/>
            <p:cNvGrpSpPr/>
            <p:nvPr/>
          </p:nvGrpSpPr>
          <p:grpSpPr>
            <a:xfrm>
              <a:off x="-1882608" y="-491730"/>
              <a:ext cx="4482760" cy="4754793"/>
              <a:chOff x="4204225" y="2144350"/>
              <a:chExt cx="2159950" cy="2291025"/>
            </a:xfrm>
          </p:grpSpPr>
          <p:sp>
            <p:nvSpPr>
              <p:cNvPr id="110" name="Google Shape;110;p6"/>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8" name="Google Shape;128;p6"/>
          <p:cNvSpPr txBox="1"/>
          <p:nvPr>
            <p:ph type="title"/>
          </p:nvPr>
        </p:nvSpPr>
        <p:spPr>
          <a:xfrm>
            <a:off x="720000" y="539500"/>
            <a:ext cx="3827400" cy="1400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4000">
                <a:latin typeface="Plus Jakarta Sans ExtraBold"/>
                <a:ea typeface="Plus Jakarta Sans ExtraBold"/>
                <a:cs typeface="Plus Jakarta Sans ExtraBold"/>
                <a:sym typeface="Plus Jakarta Sans ExtraBold"/>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9" name="Shape 129"/>
        <p:cNvGrpSpPr/>
        <p:nvPr/>
      </p:nvGrpSpPr>
      <p:grpSpPr>
        <a:xfrm>
          <a:off x="0" y="0"/>
          <a:ext cx="0" cy="0"/>
          <a:chOff x="0" y="0"/>
          <a:chExt cx="0" cy="0"/>
        </a:xfrm>
      </p:grpSpPr>
      <p:grpSp>
        <p:nvGrpSpPr>
          <p:cNvPr id="130" name="Google Shape;130;p7"/>
          <p:cNvGrpSpPr/>
          <p:nvPr/>
        </p:nvGrpSpPr>
        <p:grpSpPr>
          <a:xfrm>
            <a:off x="75877" y="-603603"/>
            <a:ext cx="4663691" cy="8495642"/>
            <a:chOff x="75877" y="-603603"/>
            <a:chExt cx="4663691" cy="8495642"/>
          </a:xfrm>
        </p:grpSpPr>
        <p:grpSp>
          <p:nvGrpSpPr>
            <p:cNvPr id="131" name="Google Shape;131;p7"/>
            <p:cNvGrpSpPr/>
            <p:nvPr/>
          </p:nvGrpSpPr>
          <p:grpSpPr>
            <a:xfrm rot="-5400000">
              <a:off x="-1132861" y="4345103"/>
              <a:ext cx="4755675" cy="2338198"/>
              <a:chOff x="5910900" y="252875"/>
              <a:chExt cx="2291450" cy="1126625"/>
            </a:xfrm>
          </p:grpSpPr>
          <p:sp>
            <p:nvSpPr>
              <p:cNvPr id="132" name="Google Shape;132;p7"/>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 name="Google Shape;145;p7"/>
            <p:cNvGrpSpPr/>
            <p:nvPr/>
          </p:nvGrpSpPr>
          <p:grpSpPr>
            <a:xfrm flipH="1" rot="-5400000">
              <a:off x="1314717" y="-1842435"/>
              <a:ext cx="2186019" cy="4663683"/>
              <a:chOff x="3061750" y="2798625"/>
              <a:chExt cx="1053300" cy="2247125"/>
            </a:xfrm>
          </p:grpSpPr>
          <p:grpSp>
            <p:nvGrpSpPr>
              <p:cNvPr id="146" name="Google Shape;146;p7"/>
              <p:cNvGrpSpPr/>
              <p:nvPr/>
            </p:nvGrpSpPr>
            <p:grpSpPr>
              <a:xfrm>
                <a:off x="3061750" y="2798625"/>
                <a:ext cx="1053300" cy="2247125"/>
                <a:chOff x="3682050" y="2775150"/>
                <a:chExt cx="1053300" cy="2247125"/>
              </a:xfrm>
            </p:grpSpPr>
            <p:sp>
              <p:nvSpPr>
                <p:cNvPr id="147" name="Google Shape;147;p7"/>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p7"/>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5" name="Google Shape;165;p7"/>
          <p:cNvSpPr txBox="1"/>
          <p:nvPr>
            <p:ph type="title"/>
          </p:nvPr>
        </p:nvSpPr>
        <p:spPr>
          <a:xfrm>
            <a:off x="4482625" y="1169325"/>
            <a:ext cx="3945000" cy="6996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atin typeface="Plus Jakarta Sans ExtraBold"/>
                <a:ea typeface="Plus Jakarta Sans ExtraBold"/>
                <a:cs typeface="Plus Jakarta Sans ExtraBold"/>
                <a:sym typeface="Plus Jakarta Sans ExtraBold"/>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6" name="Google Shape;166;p7"/>
          <p:cNvSpPr txBox="1"/>
          <p:nvPr>
            <p:ph idx="1" type="subTitle"/>
          </p:nvPr>
        </p:nvSpPr>
        <p:spPr>
          <a:xfrm>
            <a:off x="4485787" y="2015171"/>
            <a:ext cx="3945000" cy="19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Nunito Light"/>
              <a:buChar char="●"/>
              <a:defRPr sz="13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300"/>
              <a:buFont typeface="Nunito Light"/>
              <a:buChar char="○"/>
              <a:defRPr/>
            </a:lvl5pPr>
            <a:lvl6pPr lvl="5" rtl="0" algn="ctr">
              <a:lnSpc>
                <a:spcPct val="100000"/>
              </a:lnSpc>
              <a:spcBef>
                <a:spcPts val="0"/>
              </a:spcBef>
              <a:spcAft>
                <a:spcPts val="0"/>
              </a:spcAft>
              <a:buClr>
                <a:srgbClr val="999999"/>
              </a:buClr>
              <a:buSzPts val="13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300"/>
              <a:buFont typeface="Nunito Light"/>
              <a:buChar char="■"/>
              <a:defRPr/>
            </a:lvl9pPr>
          </a:lstStyle>
          <a:p/>
        </p:txBody>
      </p:sp>
      <p:sp>
        <p:nvSpPr>
          <p:cNvPr id="167" name="Google Shape;167;p7"/>
          <p:cNvSpPr/>
          <p:nvPr>
            <p:ph idx="2" type="pic"/>
          </p:nvPr>
        </p:nvSpPr>
        <p:spPr>
          <a:xfrm>
            <a:off x="713225" y="911550"/>
            <a:ext cx="3082500" cy="3320400"/>
          </a:xfrm>
          <a:prstGeom prst="roundRect">
            <a:avLst>
              <a:gd fmla="val 16667" name="adj"/>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8" name="Shape 168"/>
        <p:cNvGrpSpPr/>
        <p:nvPr/>
      </p:nvGrpSpPr>
      <p:grpSpPr>
        <a:xfrm>
          <a:off x="0" y="0"/>
          <a:ext cx="0" cy="0"/>
          <a:chOff x="0" y="0"/>
          <a:chExt cx="0" cy="0"/>
        </a:xfrm>
      </p:grpSpPr>
      <p:grpSp>
        <p:nvGrpSpPr>
          <p:cNvPr id="169" name="Google Shape;169;p8"/>
          <p:cNvGrpSpPr/>
          <p:nvPr/>
        </p:nvGrpSpPr>
        <p:grpSpPr>
          <a:xfrm>
            <a:off x="-2087386" y="-1676454"/>
            <a:ext cx="11947580" cy="5531345"/>
            <a:chOff x="-2087386" y="-1676454"/>
            <a:chExt cx="11947580" cy="5531345"/>
          </a:xfrm>
        </p:grpSpPr>
        <p:grpSp>
          <p:nvGrpSpPr>
            <p:cNvPr id="170" name="Google Shape;170;p8"/>
            <p:cNvGrpSpPr/>
            <p:nvPr/>
          </p:nvGrpSpPr>
          <p:grpSpPr>
            <a:xfrm rot="5400000">
              <a:off x="-1999197" y="-267027"/>
              <a:ext cx="4030101" cy="1211247"/>
              <a:chOff x="430469" y="4172355"/>
              <a:chExt cx="4030101" cy="1211247"/>
            </a:xfrm>
          </p:grpSpPr>
          <p:grpSp>
            <p:nvGrpSpPr>
              <p:cNvPr id="171" name="Google Shape;171;p8"/>
              <p:cNvGrpSpPr/>
              <p:nvPr/>
            </p:nvGrpSpPr>
            <p:grpSpPr>
              <a:xfrm flipH="1" rot="5538019">
                <a:off x="1919568" y="2782430"/>
                <a:ext cx="1051902" cy="3991097"/>
                <a:chOff x="5485075" y="3521900"/>
                <a:chExt cx="506850" cy="1923075"/>
              </a:xfrm>
            </p:grpSpPr>
            <p:sp>
              <p:nvSpPr>
                <p:cNvPr id="172" name="Google Shape;172;p8"/>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 name="Google Shape;182;p8"/>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 name="Google Shape;183;p8"/>
            <p:cNvGrpSpPr/>
            <p:nvPr/>
          </p:nvGrpSpPr>
          <p:grpSpPr>
            <a:xfrm flipH="1" rot="-5400000">
              <a:off x="-848554" y="-1792334"/>
              <a:ext cx="2186019" cy="4663683"/>
              <a:chOff x="3061750" y="2798625"/>
              <a:chExt cx="1053300" cy="2247125"/>
            </a:xfrm>
          </p:grpSpPr>
          <p:grpSp>
            <p:nvGrpSpPr>
              <p:cNvPr id="184" name="Google Shape;184;p8"/>
              <p:cNvGrpSpPr/>
              <p:nvPr/>
            </p:nvGrpSpPr>
            <p:grpSpPr>
              <a:xfrm>
                <a:off x="3061750" y="2798625"/>
                <a:ext cx="1053300" cy="2247125"/>
                <a:chOff x="3682050" y="2775150"/>
                <a:chExt cx="1053300" cy="2247125"/>
              </a:xfrm>
            </p:grpSpPr>
            <p:sp>
              <p:nvSpPr>
                <p:cNvPr id="185" name="Google Shape;185;p8"/>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 name="Google Shape;200;p8"/>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8"/>
            <p:cNvGrpSpPr/>
            <p:nvPr/>
          </p:nvGrpSpPr>
          <p:grpSpPr>
            <a:xfrm rot="5400000">
              <a:off x="6313257" y="307954"/>
              <a:ext cx="4755675" cy="2338198"/>
              <a:chOff x="5910900" y="252875"/>
              <a:chExt cx="2291450" cy="1126625"/>
            </a:xfrm>
          </p:grpSpPr>
          <p:sp>
            <p:nvSpPr>
              <p:cNvPr id="204" name="Google Shape;204;p8"/>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7" name="Google Shape;217;p8"/>
          <p:cNvSpPr txBox="1"/>
          <p:nvPr>
            <p:ph type="title"/>
          </p:nvPr>
        </p:nvSpPr>
        <p:spPr>
          <a:xfrm>
            <a:off x="713225" y="1606375"/>
            <a:ext cx="4686600" cy="29964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4800"/>
              <a:buNone/>
              <a:defRPr b="1"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8" name="Shape 218"/>
        <p:cNvGrpSpPr/>
        <p:nvPr/>
      </p:nvGrpSpPr>
      <p:grpSpPr>
        <a:xfrm>
          <a:off x="0" y="0"/>
          <a:ext cx="0" cy="0"/>
          <a:chOff x="0" y="0"/>
          <a:chExt cx="0" cy="0"/>
        </a:xfrm>
      </p:grpSpPr>
      <p:grpSp>
        <p:nvGrpSpPr>
          <p:cNvPr id="219" name="Google Shape;219;p9"/>
          <p:cNvGrpSpPr/>
          <p:nvPr/>
        </p:nvGrpSpPr>
        <p:grpSpPr>
          <a:xfrm rot="-5400000">
            <a:off x="7135644" y="2076855"/>
            <a:ext cx="4030101" cy="1211247"/>
            <a:chOff x="430469" y="4172355"/>
            <a:chExt cx="4030101" cy="1211247"/>
          </a:xfrm>
        </p:grpSpPr>
        <p:grpSp>
          <p:nvGrpSpPr>
            <p:cNvPr id="220" name="Google Shape;220;p9"/>
            <p:cNvGrpSpPr/>
            <p:nvPr/>
          </p:nvGrpSpPr>
          <p:grpSpPr>
            <a:xfrm flipH="1" rot="5538019">
              <a:off x="1919568" y="2782430"/>
              <a:ext cx="1051902" cy="3991097"/>
              <a:chOff x="5485075" y="3521900"/>
              <a:chExt cx="506850" cy="1923075"/>
            </a:xfrm>
          </p:grpSpPr>
          <p:sp>
            <p:nvSpPr>
              <p:cNvPr id="221" name="Google Shape;221;p9"/>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 name="Google Shape;231;p9"/>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9"/>
          <p:cNvSpPr txBox="1"/>
          <p:nvPr>
            <p:ph type="title"/>
          </p:nvPr>
        </p:nvSpPr>
        <p:spPr>
          <a:xfrm>
            <a:off x="720000" y="539500"/>
            <a:ext cx="5949900" cy="7011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4000">
                <a:latin typeface="Plus Jakarta Sans ExtraBold"/>
                <a:ea typeface="Plus Jakarta Sans ExtraBold"/>
                <a:cs typeface="Plus Jakarta Sans ExtraBold"/>
                <a:sym typeface="Plus Jakarta Sans ExtraBold"/>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3" name="Google Shape;233;p9"/>
          <p:cNvSpPr txBox="1"/>
          <p:nvPr>
            <p:ph idx="1" type="subTitle"/>
          </p:nvPr>
        </p:nvSpPr>
        <p:spPr>
          <a:xfrm>
            <a:off x="4093591" y="1587400"/>
            <a:ext cx="3207300" cy="281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None/>
              <a:defRPr b="0"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234" name="Google Shape;234;p9"/>
          <p:cNvSpPr txBox="1"/>
          <p:nvPr>
            <p:ph idx="2" type="subTitle"/>
          </p:nvPr>
        </p:nvSpPr>
        <p:spPr>
          <a:xfrm>
            <a:off x="720000" y="1587400"/>
            <a:ext cx="3207300" cy="281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None/>
              <a:defRPr b="0"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grpSp>
        <p:nvGrpSpPr>
          <p:cNvPr id="235" name="Google Shape;235;p9"/>
          <p:cNvGrpSpPr/>
          <p:nvPr/>
        </p:nvGrpSpPr>
        <p:grpSpPr>
          <a:xfrm flipH="1" rot="10800000">
            <a:off x="-1725683" y="753932"/>
            <a:ext cx="4482760" cy="4754793"/>
            <a:chOff x="4204225" y="2144350"/>
            <a:chExt cx="2159950" cy="2291025"/>
          </a:xfrm>
        </p:grpSpPr>
        <p:sp>
          <p:nvSpPr>
            <p:cNvPr id="236" name="Google Shape;236;p9"/>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4" name="Shape 254"/>
        <p:cNvGrpSpPr/>
        <p:nvPr/>
      </p:nvGrpSpPr>
      <p:grpSpPr>
        <a:xfrm>
          <a:off x="0" y="0"/>
          <a:ext cx="0" cy="0"/>
          <a:chOff x="0" y="0"/>
          <a:chExt cx="0" cy="0"/>
        </a:xfrm>
      </p:grpSpPr>
      <p:sp>
        <p:nvSpPr>
          <p:cNvPr id="255" name="Google Shape;255;p10"/>
          <p:cNvSpPr txBox="1"/>
          <p:nvPr>
            <p:ph type="title"/>
          </p:nvPr>
        </p:nvSpPr>
        <p:spPr>
          <a:xfrm>
            <a:off x="713225" y="539500"/>
            <a:ext cx="3772200" cy="1264500"/>
          </a:xfrm>
          <a:prstGeom prst="rect">
            <a:avLst/>
          </a:prstGeom>
          <a:solidFill>
            <a:schemeClr val="lt1"/>
          </a:solidFill>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6" name="Shape 256"/>
        <p:cNvGrpSpPr/>
        <p:nvPr/>
      </p:nvGrpSpPr>
      <p:grpSpPr>
        <a:xfrm>
          <a:off x="0" y="0"/>
          <a:ext cx="0" cy="0"/>
          <a:chOff x="0" y="0"/>
          <a:chExt cx="0" cy="0"/>
        </a:xfrm>
      </p:grpSpPr>
      <p:grpSp>
        <p:nvGrpSpPr>
          <p:cNvPr id="257" name="Google Shape;257;p11"/>
          <p:cNvGrpSpPr/>
          <p:nvPr/>
        </p:nvGrpSpPr>
        <p:grpSpPr>
          <a:xfrm>
            <a:off x="-3522023" y="-1485702"/>
            <a:ext cx="14667151" cy="7539144"/>
            <a:chOff x="-3522023" y="-1485702"/>
            <a:chExt cx="14667151" cy="7539144"/>
          </a:xfrm>
        </p:grpSpPr>
        <p:grpSp>
          <p:nvGrpSpPr>
            <p:cNvPr id="258" name="Google Shape;258;p11"/>
            <p:cNvGrpSpPr/>
            <p:nvPr/>
          </p:nvGrpSpPr>
          <p:grpSpPr>
            <a:xfrm>
              <a:off x="-3522023" y="-1485702"/>
              <a:ext cx="6937187" cy="7367552"/>
              <a:chOff x="-3522023" y="-1485702"/>
              <a:chExt cx="6937187" cy="7367552"/>
            </a:xfrm>
          </p:grpSpPr>
          <p:grpSp>
            <p:nvGrpSpPr>
              <p:cNvPr id="259" name="Google Shape;259;p11"/>
              <p:cNvGrpSpPr/>
              <p:nvPr/>
            </p:nvGrpSpPr>
            <p:grpSpPr>
              <a:xfrm flipH="1" rot="-5400000">
                <a:off x="-2601713" y="-2406012"/>
                <a:ext cx="3848803" cy="5689424"/>
                <a:chOff x="939875" y="457213"/>
                <a:chExt cx="1854488" cy="2741363"/>
              </a:xfrm>
            </p:grpSpPr>
            <p:sp>
              <p:nvSpPr>
                <p:cNvPr id="260" name="Google Shape;260;p11"/>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1"/>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 name="Google Shape;286;p11"/>
              <p:cNvGrpSpPr/>
              <p:nvPr/>
            </p:nvGrpSpPr>
            <p:grpSpPr>
              <a:xfrm flipH="1" rot="10800000">
                <a:off x="-1340511" y="3543652"/>
                <a:ext cx="4755675" cy="2338198"/>
                <a:chOff x="5910900" y="252875"/>
                <a:chExt cx="2291450" cy="1126625"/>
              </a:xfrm>
            </p:grpSpPr>
            <p:sp>
              <p:nvSpPr>
                <p:cNvPr id="287" name="Google Shape;287;p11"/>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0" name="Google Shape;300;p11"/>
            <p:cNvGrpSpPr/>
            <p:nvPr/>
          </p:nvGrpSpPr>
          <p:grpSpPr>
            <a:xfrm flipH="1" rot="5130056">
              <a:off x="7233612" y="1937315"/>
              <a:ext cx="1358242" cy="6377897"/>
              <a:chOff x="4851025" y="424250"/>
              <a:chExt cx="654450" cy="3073100"/>
            </a:xfrm>
          </p:grpSpPr>
          <p:sp>
            <p:nvSpPr>
              <p:cNvPr id="301" name="Google Shape;301;p11"/>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8" name="Google Shape;318;p11"/>
          <p:cNvSpPr txBox="1"/>
          <p:nvPr>
            <p:ph hasCustomPrompt="1" type="title"/>
          </p:nvPr>
        </p:nvSpPr>
        <p:spPr>
          <a:xfrm>
            <a:off x="3675166" y="539500"/>
            <a:ext cx="4755600" cy="1231200"/>
          </a:xfrm>
          <a:prstGeom prst="rect">
            <a:avLst/>
          </a:prstGeom>
          <a:noFill/>
        </p:spPr>
        <p:txBody>
          <a:bodyPr anchorCtr="0" anchor="ctr" bIns="91425" lIns="91425" spcFirstLastPara="1" rIns="91425" wrap="square" tIns="91425">
            <a:noAutofit/>
          </a:bodyPr>
          <a:lstStyle>
            <a:lvl1pPr lvl="0" algn="r">
              <a:spcBef>
                <a:spcPts val="0"/>
              </a:spcBef>
              <a:spcAft>
                <a:spcPts val="0"/>
              </a:spcAft>
              <a:buSzPts val="9600"/>
              <a:buNone/>
              <a:defRPr b="1" sz="7700">
                <a:latin typeface="Plus Jakarta Sans"/>
                <a:ea typeface="Plus Jakarta Sans"/>
                <a:cs typeface="Plus Jakarta Sans"/>
                <a:sym typeface="Plus Jakarta Sans"/>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19" name="Google Shape;319;p11"/>
          <p:cNvSpPr txBox="1"/>
          <p:nvPr>
            <p:ph idx="1" type="subTitle"/>
          </p:nvPr>
        </p:nvSpPr>
        <p:spPr>
          <a:xfrm>
            <a:off x="3675166" y="1847674"/>
            <a:ext cx="4755600" cy="4278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5"/>
        </a:solidFill>
      </p:bgPr>
    </p:bg>
    <p:spTree>
      <p:nvGrpSpPr>
        <p:cNvPr id="320" name="Shape 32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21" name="Shape 321"/>
        <p:cNvGrpSpPr/>
        <p:nvPr/>
      </p:nvGrpSpPr>
      <p:grpSpPr>
        <a:xfrm>
          <a:off x="0" y="0"/>
          <a:ext cx="0" cy="0"/>
          <a:chOff x="0" y="0"/>
          <a:chExt cx="0" cy="0"/>
        </a:xfrm>
      </p:grpSpPr>
      <p:sp>
        <p:nvSpPr>
          <p:cNvPr id="322" name="Google Shape;322;p13"/>
          <p:cNvSpPr txBox="1"/>
          <p:nvPr>
            <p:ph type="title"/>
          </p:nvPr>
        </p:nvSpPr>
        <p:spPr>
          <a:xfrm>
            <a:off x="720000" y="539500"/>
            <a:ext cx="2543100" cy="1195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23" name="Google Shape;323;p13"/>
          <p:cNvGrpSpPr/>
          <p:nvPr/>
        </p:nvGrpSpPr>
        <p:grpSpPr>
          <a:xfrm>
            <a:off x="-1053680" y="-3611995"/>
            <a:ext cx="10943305" cy="9415649"/>
            <a:chOff x="-1053680" y="-3611995"/>
            <a:chExt cx="10943305" cy="9415649"/>
          </a:xfrm>
        </p:grpSpPr>
        <p:grpSp>
          <p:nvGrpSpPr>
            <p:cNvPr id="324" name="Google Shape;324;p13"/>
            <p:cNvGrpSpPr/>
            <p:nvPr/>
          </p:nvGrpSpPr>
          <p:grpSpPr>
            <a:xfrm flipH="1" rot="10800000">
              <a:off x="7703606" y="-3611995"/>
              <a:ext cx="2186019" cy="4663683"/>
              <a:chOff x="3061750" y="2798625"/>
              <a:chExt cx="1053300" cy="2247125"/>
            </a:xfrm>
          </p:grpSpPr>
          <p:grpSp>
            <p:nvGrpSpPr>
              <p:cNvPr id="325" name="Google Shape;325;p13"/>
              <p:cNvGrpSpPr/>
              <p:nvPr/>
            </p:nvGrpSpPr>
            <p:grpSpPr>
              <a:xfrm>
                <a:off x="3061750" y="2798625"/>
                <a:ext cx="1053300" cy="2247125"/>
                <a:chOff x="3682050" y="2775150"/>
                <a:chExt cx="1053300" cy="2247125"/>
              </a:xfrm>
            </p:grpSpPr>
            <p:sp>
              <p:nvSpPr>
                <p:cNvPr id="326" name="Google Shape;326;p13"/>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3"/>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3"/>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3"/>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3"/>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 name="Google Shape;341;p13"/>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 name="Google Shape;344;p13"/>
            <p:cNvGrpSpPr/>
            <p:nvPr/>
          </p:nvGrpSpPr>
          <p:grpSpPr>
            <a:xfrm rot="-10532546">
              <a:off x="-807889" y="-617324"/>
              <a:ext cx="1358231" cy="6377843"/>
              <a:chOff x="4851025" y="424250"/>
              <a:chExt cx="654450" cy="3073100"/>
            </a:xfrm>
          </p:grpSpPr>
          <p:sp>
            <p:nvSpPr>
              <p:cNvPr id="345" name="Google Shape;345;p13"/>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3"/>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3"/>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3"/>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362" name="Shape 362"/>
        <p:cNvGrpSpPr/>
        <p:nvPr/>
      </p:nvGrpSpPr>
      <p:grpSpPr>
        <a:xfrm>
          <a:off x="0" y="0"/>
          <a:ext cx="0" cy="0"/>
          <a:chOff x="0" y="0"/>
          <a:chExt cx="0" cy="0"/>
        </a:xfrm>
      </p:grpSpPr>
      <p:sp>
        <p:nvSpPr>
          <p:cNvPr id="363" name="Google Shape;363;p1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64" name="Google Shape;364;p14"/>
          <p:cNvGrpSpPr/>
          <p:nvPr/>
        </p:nvGrpSpPr>
        <p:grpSpPr>
          <a:xfrm>
            <a:off x="-1934777" y="-2221538"/>
            <a:ext cx="10950129" cy="7893752"/>
            <a:chOff x="-1934777" y="-2221538"/>
            <a:chExt cx="10950129" cy="7893752"/>
          </a:xfrm>
        </p:grpSpPr>
        <p:grpSp>
          <p:nvGrpSpPr>
            <p:cNvPr id="365" name="Google Shape;365;p14"/>
            <p:cNvGrpSpPr/>
            <p:nvPr/>
          </p:nvGrpSpPr>
          <p:grpSpPr>
            <a:xfrm rot="5400000">
              <a:off x="5468416" y="-1012799"/>
              <a:ext cx="4755675" cy="2338198"/>
              <a:chOff x="5910900" y="252875"/>
              <a:chExt cx="2291450" cy="1126625"/>
            </a:xfrm>
          </p:grpSpPr>
          <p:sp>
            <p:nvSpPr>
              <p:cNvPr id="366" name="Google Shape;366;p14"/>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4"/>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4"/>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4"/>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4"/>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 name="Google Shape;379;p14"/>
            <p:cNvGrpSpPr/>
            <p:nvPr/>
          </p:nvGrpSpPr>
          <p:grpSpPr>
            <a:xfrm flipH="1" rot="10800000">
              <a:off x="-1934777" y="917420"/>
              <a:ext cx="4482760" cy="4754793"/>
              <a:chOff x="4204225" y="2144350"/>
              <a:chExt cx="2159950" cy="2291025"/>
            </a:xfrm>
          </p:grpSpPr>
          <p:sp>
            <p:nvSpPr>
              <p:cNvPr id="380" name="Google Shape;380;p14"/>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4"/>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98" name="Shape 398"/>
        <p:cNvGrpSpPr/>
        <p:nvPr/>
      </p:nvGrpSpPr>
      <p:grpSpPr>
        <a:xfrm>
          <a:off x="0" y="0"/>
          <a:ext cx="0" cy="0"/>
          <a:chOff x="0" y="0"/>
          <a:chExt cx="0" cy="0"/>
        </a:xfrm>
      </p:grpSpPr>
      <p:grpSp>
        <p:nvGrpSpPr>
          <p:cNvPr id="399" name="Google Shape;399;p15"/>
          <p:cNvGrpSpPr/>
          <p:nvPr/>
        </p:nvGrpSpPr>
        <p:grpSpPr>
          <a:xfrm>
            <a:off x="506669" y="4553355"/>
            <a:ext cx="4030101" cy="1211247"/>
            <a:chOff x="430469" y="4172355"/>
            <a:chExt cx="4030101" cy="1211247"/>
          </a:xfrm>
        </p:grpSpPr>
        <p:grpSp>
          <p:nvGrpSpPr>
            <p:cNvPr id="400" name="Google Shape;400;p15"/>
            <p:cNvGrpSpPr/>
            <p:nvPr/>
          </p:nvGrpSpPr>
          <p:grpSpPr>
            <a:xfrm flipH="1" rot="5538019">
              <a:off x="1919568" y="2782430"/>
              <a:ext cx="1051902" cy="3991097"/>
              <a:chOff x="5485075" y="3521900"/>
              <a:chExt cx="506850" cy="1923075"/>
            </a:xfrm>
          </p:grpSpPr>
          <p:sp>
            <p:nvSpPr>
              <p:cNvPr id="401" name="Google Shape;401;p15"/>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5"/>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5"/>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1" name="Google Shape;411;p15"/>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 name="Google Shape;412;p15"/>
          <p:cNvSpPr txBox="1"/>
          <p:nvPr>
            <p:ph type="title"/>
          </p:nvPr>
        </p:nvSpPr>
        <p:spPr>
          <a:xfrm>
            <a:off x="720000" y="539500"/>
            <a:ext cx="2675400" cy="15711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4000">
                <a:latin typeface="Plus Jakarta Sans ExtraBold"/>
                <a:ea typeface="Plus Jakarta Sans ExtraBold"/>
                <a:cs typeface="Plus Jakarta Sans ExtraBold"/>
                <a:sym typeface="Plus Jakarta Sans ExtraBold"/>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13" name="Google Shape;413;p15"/>
          <p:cNvSpPr txBox="1"/>
          <p:nvPr>
            <p:ph idx="1" type="subTitle"/>
          </p:nvPr>
        </p:nvSpPr>
        <p:spPr>
          <a:xfrm flipH="1">
            <a:off x="3436200" y="1271869"/>
            <a:ext cx="2186100" cy="484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414" name="Google Shape;414;p15"/>
          <p:cNvSpPr txBox="1"/>
          <p:nvPr>
            <p:ph idx="2" type="subTitle"/>
          </p:nvPr>
        </p:nvSpPr>
        <p:spPr>
          <a:xfrm>
            <a:off x="6203725" y="2221498"/>
            <a:ext cx="21861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415" name="Google Shape;415;p15"/>
          <p:cNvSpPr txBox="1"/>
          <p:nvPr>
            <p:ph idx="3" type="subTitle"/>
          </p:nvPr>
        </p:nvSpPr>
        <p:spPr>
          <a:xfrm flipH="1">
            <a:off x="2657750" y="3171126"/>
            <a:ext cx="2186100" cy="484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416" name="Google Shape;416;p15"/>
          <p:cNvSpPr txBox="1"/>
          <p:nvPr>
            <p:ph idx="4" type="subTitle"/>
          </p:nvPr>
        </p:nvSpPr>
        <p:spPr>
          <a:xfrm>
            <a:off x="5425950" y="4120750"/>
            <a:ext cx="21861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417" name="Google Shape;417;p15"/>
          <p:cNvSpPr txBox="1"/>
          <p:nvPr>
            <p:ph hasCustomPrompt="1" idx="5" type="title"/>
          </p:nvPr>
        </p:nvSpPr>
        <p:spPr>
          <a:xfrm flipH="1">
            <a:off x="5080808" y="545940"/>
            <a:ext cx="541500" cy="484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b="1" sz="2000">
                <a:latin typeface="Plus Jakarta Sans"/>
                <a:ea typeface="Plus Jakarta Sans"/>
                <a:cs typeface="Plus Jakarta Sans"/>
                <a:sym typeface="Plus Jakarta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18" name="Google Shape;418;p15"/>
          <p:cNvSpPr txBox="1"/>
          <p:nvPr>
            <p:ph hasCustomPrompt="1" idx="6" type="title"/>
          </p:nvPr>
        </p:nvSpPr>
        <p:spPr>
          <a:xfrm flipH="1">
            <a:off x="4302361" y="2453554"/>
            <a:ext cx="541500" cy="484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b="1" sz="2000">
                <a:latin typeface="Plus Jakarta Sans"/>
                <a:ea typeface="Plus Jakarta Sans"/>
                <a:cs typeface="Plus Jakarta Sans"/>
                <a:sym typeface="Plus Jakarta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19" name="Google Shape;419;p15"/>
          <p:cNvSpPr txBox="1"/>
          <p:nvPr>
            <p:ph hasCustomPrompt="1" idx="7" type="title"/>
          </p:nvPr>
        </p:nvSpPr>
        <p:spPr>
          <a:xfrm>
            <a:off x="6203718" y="1499747"/>
            <a:ext cx="541500" cy="4848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b="1" sz="2000">
                <a:latin typeface="Plus Jakarta Sans"/>
                <a:ea typeface="Plus Jakarta Sans"/>
                <a:cs typeface="Plus Jakarta Sans"/>
                <a:sym typeface="Plus Jakarta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0" name="Google Shape;420;p15"/>
          <p:cNvSpPr txBox="1"/>
          <p:nvPr>
            <p:ph hasCustomPrompt="1" idx="8" type="title"/>
          </p:nvPr>
        </p:nvSpPr>
        <p:spPr>
          <a:xfrm>
            <a:off x="5423183" y="3407361"/>
            <a:ext cx="541500" cy="4848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b="1" sz="2000">
                <a:latin typeface="Plus Jakarta Sans"/>
                <a:ea typeface="Plus Jakarta Sans"/>
                <a:cs typeface="Plus Jakarta Sans"/>
                <a:sym typeface="Plus Jakarta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1" name="Google Shape;421;p15"/>
          <p:cNvSpPr txBox="1"/>
          <p:nvPr>
            <p:ph idx="9" type="subTitle"/>
          </p:nvPr>
        </p:nvSpPr>
        <p:spPr>
          <a:xfrm flipH="1">
            <a:off x="3436200" y="890875"/>
            <a:ext cx="21861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0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gn="ctr">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gn="ctr">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gn="ctr">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gn="ctr">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gn="ctr">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gn="ctr">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gn="ctr">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422" name="Google Shape;422;p15"/>
          <p:cNvSpPr txBox="1"/>
          <p:nvPr>
            <p:ph idx="13" type="subTitle"/>
          </p:nvPr>
        </p:nvSpPr>
        <p:spPr>
          <a:xfrm>
            <a:off x="6203731" y="1840500"/>
            <a:ext cx="2186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gn="ctr">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gn="ctr">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gn="ctr">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gn="ctr">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gn="ctr">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gn="ctr">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gn="ctr">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423" name="Google Shape;423;p15"/>
          <p:cNvSpPr txBox="1"/>
          <p:nvPr>
            <p:ph idx="14" type="subTitle"/>
          </p:nvPr>
        </p:nvSpPr>
        <p:spPr>
          <a:xfrm flipH="1">
            <a:off x="2657740" y="2790125"/>
            <a:ext cx="21861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0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gn="ctr">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gn="ctr">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gn="ctr">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gn="ctr">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gn="ctr">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gn="ctr">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gn="ctr">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424" name="Google Shape;424;p15"/>
          <p:cNvSpPr txBox="1"/>
          <p:nvPr>
            <p:ph idx="15" type="subTitle"/>
          </p:nvPr>
        </p:nvSpPr>
        <p:spPr>
          <a:xfrm>
            <a:off x="5423175" y="3739750"/>
            <a:ext cx="2186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gn="ctr">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gn="ctr">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gn="ctr">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gn="ctr">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gn="ctr">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gn="ctr">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gn="ctr">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25" name="Shape 425"/>
        <p:cNvGrpSpPr/>
        <p:nvPr/>
      </p:nvGrpSpPr>
      <p:grpSpPr>
        <a:xfrm>
          <a:off x="0" y="0"/>
          <a:ext cx="0" cy="0"/>
          <a:chOff x="0" y="0"/>
          <a:chExt cx="0" cy="0"/>
        </a:xfrm>
      </p:grpSpPr>
      <p:sp>
        <p:nvSpPr>
          <p:cNvPr id="426" name="Google Shape;426;p16"/>
          <p:cNvSpPr txBox="1"/>
          <p:nvPr>
            <p:ph type="title"/>
          </p:nvPr>
        </p:nvSpPr>
        <p:spPr>
          <a:xfrm>
            <a:off x="4964050" y="2816725"/>
            <a:ext cx="3466200" cy="411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b="1" sz="2000">
                <a:latin typeface="Plus Jakarta Sans"/>
                <a:ea typeface="Plus Jakarta Sans"/>
                <a:cs typeface="Plus Jakarta Sans"/>
                <a:sym typeface="Plus Jakarta Sans"/>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427" name="Google Shape;427;p16"/>
          <p:cNvSpPr txBox="1"/>
          <p:nvPr>
            <p:ph idx="1" type="subTitle"/>
          </p:nvPr>
        </p:nvSpPr>
        <p:spPr>
          <a:xfrm>
            <a:off x="713900" y="1080785"/>
            <a:ext cx="7716900" cy="1659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428" name="Google Shape;428;p16"/>
          <p:cNvGrpSpPr/>
          <p:nvPr/>
        </p:nvGrpSpPr>
        <p:grpSpPr>
          <a:xfrm>
            <a:off x="-3365717" y="303959"/>
            <a:ext cx="6544357" cy="5725450"/>
            <a:chOff x="-3365717" y="303959"/>
            <a:chExt cx="6544357" cy="5725450"/>
          </a:xfrm>
        </p:grpSpPr>
        <p:grpSp>
          <p:nvGrpSpPr>
            <p:cNvPr id="429" name="Google Shape;429;p16"/>
            <p:cNvGrpSpPr/>
            <p:nvPr/>
          </p:nvGrpSpPr>
          <p:grpSpPr>
            <a:xfrm flipH="1" rot="10800000">
              <a:off x="-1304121" y="1064076"/>
              <a:ext cx="4482760" cy="4754793"/>
              <a:chOff x="4204225" y="2144350"/>
              <a:chExt cx="2159950" cy="2291025"/>
            </a:xfrm>
          </p:grpSpPr>
          <p:sp>
            <p:nvSpPr>
              <p:cNvPr id="430" name="Google Shape;430;p16"/>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6"/>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6"/>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6"/>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6"/>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16"/>
            <p:cNvGrpSpPr/>
            <p:nvPr/>
          </p:nvGrpSpPr>
          <p:grpSpPr>
            <a:xfrm rot="5675928">
              <a:off x="-811723" y="1907869"/>
              <a:ext cx="1358233" cy="6377855"/>
              <a:chOff x="4851025" y="424250"/>
              <a:chExt cx="654450" cy="3073100"/>
            </a:xfrm>
          </p:grpSpPr>
          <p:sp>
            <p:nvSpPr>
              <p:cNvPr id="449" name="Google Shape;449;p16"/>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6"/>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6"/>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6"/>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 name="Google Shape;466;p16"/>
            <p:cNvGrpSpPr/>
            <p:nvPr/>
          </p:nvGrpSpPr>
          <p:grpSpPr>
            <a:xfrm>
              <a:off x="-638282" y="303959"/>
              <a:ext cx="2186019" cy="4663683"/>
              <a:chOff x="3061750" y="2798625"/>
              <a:chExt cx="1053300" cy="2247125"/>
            </a:xfrm>
          </p:grpSpPr>
          <p:grpSp>
            <p:nvGrpSpPr>
              <p:cNvPr id="467" name="Google Shape;467;p16"/>
              <p:cNvGrpSpPr/>
              <p:nvPr/>
            </p:nvGrpSpPr>
            <p:grpSpPr>
              <a:xfrm>
                <a:off x="3061750" y="2798625"/>
                <a:ext cx="1053300" cy="2247125"/>
                <a:chOff x="3682050" y="2775150"/>
                <a:chExt cx="1053300" cy="2247125"/>
              </a:xfrm>
            </p:grpSpPr>
            <p:sp>
              <p:nvSpPr>
                <p:cNvPr id="468" name="Google Shape;468;p16"/>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6"/>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6"/>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6"/>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3" name="Google Shape;483;p16"/>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6"/>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6"/>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486" name="Shape 486"/>
        <p:cNvGrpSpPr/>
        <p:nvPr/>
      </p:nvGrpSpPr>
      <p:grpSpPr>
        <a:xfrm>
          <a:off x="0" y="0"/>
          <a:ext cx="0" cy="0"/>
          <a:chOff x="0" y="0"/>
          <a:chExt cx="0" cy="0"/>
        </a:xfrm>
      </p:grpSpPr>
      <p:grpSp>
        <p:nvGrpSpPr>
          <p:cNvPr id="487" name="Google Shape;487;p17"/>
          <p:cNvGrpSpPr/>
          <p:nvPr/>
        </p:nvGrpSpPr>
        <p:grpSpPr>
          <a:xfrm>
            <a:off x="-3059374" y="393200"/>
            <a:ext cx="8206993" cy="5689424"/>
            <a:chOff x="-3059374" y="393200"/>
            <a:chExt cx="8206993" cy="5689424"/>
          </a:xfrm>
        </p:grpSpPr>
        <p:grpSp>
          <p:nvGrpSpPr>
            <p:cNvPr id="488" name="Google Shape;488;p17"/>
            <p:cNvGrpSpPr/>
            <p:nvPr/>
          </p:nvGrpSpPr>
          <p:grpSpPr>
            <a:xfrm flipH="1" rot="10800000">
              <a:off x="-3059374" y="393200"/>
              <a:ext cx="3848803" cy="5689424"/>
              <a:chOff x="939875" y="457213"/>
              <a:chExt cx="1854488" cy="2741363"/>
            </a:xfrm>
          </p:grpSpPr>
          <p:sp>
            <p:nvSpPr>
              <p:cNvPr id="489" name="Google Shape;489;p17"/>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7"/>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7"/>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7"/>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7"/>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7"/>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7"/>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7"/>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7"/>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7"/>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7"/>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7"/>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7"/>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7"/>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7"/>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7"/>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 name="Google Shape;515;p17"/>
            <p:cNvGrpSpPr/>
            <p:nvPr/>
          </p:nvGrpSpPr>
          <p:grpSpPr>
            <a:xfrm rot="-5400000">
              <a:off x="1429856" y="2001111"/>
              <a:ext cx="2372980" cy="5062548"/>
              <a:chOff x="3061750" y="2798625"/>
              <a:chExt cx="1053300" cy="2247125"/>
            </a:xfrm>
          </p:grpSpPr>
          <p:grpSp>
            <p:nvGrpSpPr>
              <p:cNvPr id="516" name="Google Shape;516;p17"/>
              <p:cNvGrpSpPr/>
              <p:nvPr/>
            </p:nvGrpSpPr>
            <p:grpSpPr>
              <a:xfrm>
                <a:off x="3061750" y="2798625"/>
                <a:ext cx="1053300" cy="2247125"/>
                <a:chOff x="3682050" y="2775150"/>
                <a:chExt cx="1053300" cy="2247125"/>
              </a:xfrm>
            </p:grpSpPr>
            <p:sp>
              <p:nvSpPr>
                <p:cNvPr id="517" name="Google Shape;517;p17"/>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7"/>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7"/>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7"/>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7"/>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7"/>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7"/>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7"/>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7"/>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7"/>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7"/>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7"/>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2" name="Google Shape;532;p17"/>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7"/>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7"/>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5" name="Google Shape;535;p17"/>
          <p:cNvSpPr/>
          <p:nvPr>
            <p:ph idx="2" type="pic"/>
          </p:nvPr>
        </p:nvSpPr>
        <p:spPr>
          <a:xfrm flipH="1">
            <a:off x="5144389" y="911550"/>
            <a:ext cx="3082500" cy="3320400"/>
          </a:xfrm>
          <a:prstGeom prst="roundRect">
            <a:avLst>
              <a:gd fmla="val 16667" name="adj"/>
            </a:avLst>
          </a:prstGeom>
          <a:noFill/>
          <a:ln>
            <a:noFill/>
          </a:ln>
        </p:spPr>
      </p:sp>
      <p:sp>
        <p:nvSpPr>
          <p:cNvPr id="536" name="Google Shape;536;p17"/>
          <p:cNvSpPr txBox="1"/>
          <p:nvPr>
            <p:ph type="title"/>
          </p:nvPr>
        </p:nvSpPr>
        <p:spPr>
          <a:xfrm>
            <a:off x="1313925" y="984900"/>
            <a:ext cx="2948100" cy="2209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b="1">
                <a:latin typeface="Plus Jakarta Sans"/>
                <a:ea typeface="Plus Jakarta Sans"/>
                <a:cs typeface="Plus Jakarta Sans"/>
                <a:sym typeface="Plus Jakarta Sans"/>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37" name="Google Shape;537;p17"/>
          <p:cNvSpPr txBox="1"/>
          <p:nvPr>
            <p:ph idx="1" type="subTitle"/>
          </p:nvPr>
        </p:nvSpPr>
        <p:spPr>
          <a:xfrm>
            <a:off x="1313925" y="3194100"/>
            <a:ext cx="2948100" cy="964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300"/>
              <a:buNone/>
              <a:defRPr/>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538" name="Shape 538"/>
        <p:cNvGrpSpPr/>
        <p:nvPr/>
      </p:nvGrpSpPr>
      <p:grpSpPr>
        <a:xfrm>
          <a:off x="0" y="0"/>
          <a:ext cx="0" cy="0"/>
          <a:chOff x="0" y="0"/>
          <a:chExt cx="0" cy="0"/>
        </a:xfrm>
      </p:grpSpPr>
      <p:grpSp>
        <p:nvGrpSpPr>
          <p:cNvPr id="539" name="Google Shape;539;p18"/>
          <p:cNvGrpSpPr/>
          <p:nvPr/>
        </p:nvGrpSpPr>
        <p:grpSpPr>
          <a:xfrm>
            <a:off x="-2906366" y="-2813400"/>
            <a:ext cx="15360078" cy="8980821"/>
            <a:chOff x="-2906366" y="-2813400"/>
            <a:chExt cx="15360078" cy="8980821"/>
          </a:xfrm>
        </p:grpSpPr>
        <p:grpSp>
          <p:nvGrpSpPr>
            <p:cNvPr id="540" name="Google Shape;540;p18"/>
            <p:cNvGrpSpPr/>
            <p:nvPr/>
          </p:nvGrpSpPr>
          <p:grpSpPr>
            <a:xfrm rot="5400000">
              <a:off x="7684598" y="-3733711"/>
              <a:ext cx="3848803" cy="5689424"/>
              <a:chOff x="939875" y="457213"/>
              <a:chExt cx="1854488" cy="2741363"/>
            </a:xfrm>
          </p:grpSpPr>
          <p:sp>
            <p:nvSpPr>
              <p:cNvPr id="541" name="Google Shape;541;p18"/>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8"/>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8"/>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8"/>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8"/>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8"/>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8"/>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8"/>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8"/>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8"/>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8"/>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8"/>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8"/>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8"/>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8"/>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8"/>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8"/>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8"/>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 name="Google Shape;567;p18"/>
            <p:cNvGrpSpPr/>
            <p:nvPr/>
          </p:nvGrpSpPr>
          <p:grpSpPr>
            <a:xfrm rot="5604526">
              <a:off x="-361830" y="2110985"/>
              <a:ext cx="1358227" cy="6377825"/>
              <a:chOff x="4851025" y="424250"/>
              <a:chExt cx="654450" cy="3073100"/>
            </a:xfrm>
          </p:grpSpPr>
          <p:sp>
            <p:nvSpPr>
              <p:cNvPr id="568" name="Google Shape;568;p18"/>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8"/>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8"/>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8"/>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8"/>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8"/>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8"/>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8"/>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8"/>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8"/>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8"/>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8"/>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8"/>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8"/>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85" name="Google Shape;585;p18"/>
          <p:cNvSpPr txBox="1"/>
          <p:nvPr>
            <p:ph type="title"/>
          </p:nvPr>
        </p:nvSpPr>
        <p:spPr>
          <a:xfrm>
            <a:off x="713225" y="539500"/>
            <a:ext cx="2737500" cy="11013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86" name="Google Shape;586;p18"/>
          <p:cNvSpPr txBox="1"/>
          <p:nvPr>
            <p:ph idx="1" type="subTitle"/>
          </p:nvPr>
        </p:nvSpPr>
        <p:spPr>
          <a:xfrm>
            <a:off x="713225" y="1772525"/>
            <a:ext cx="2737500" cy="110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587" name="Shape 587"/>
        <p:cNvGrpSpPr/>
        <p:nvPr/>
      </p:nvGrpSpPr>
      <p:grpSpPr>
        <a:xfrm>
          <a:off x="0" y="0"/>
          <a:ext cx="0" cy="0"/>
          <a:chOff x="0" y="0"/>
          <a:chExt cx="0" cy="0"/>
        </a:xfrm>
      </p:grpSpPr>
      <p:grpSp>
        <p:nvGrpSpPr>
          <p:cNvPr id="588" name="Google Shape;588;p19"/>
          <p:cNvGrpSpPr/>
          <p:nvPr/>
        </p:nvGrpSpPr>
        <p:grpSpPr>
          <a:xfrm>
            <a:off x="-1863298" y="-2716693"/>
            <a:ext cx="11778583" cy="9289578"/>
            <a:chOff x="-1863298" y="-2716693"/>
            <a:chExt cx="11778583" cy="9289578"/>
          </a:xfrm>
        </p:grpSpPr>
        <p:grpSp>
          <p:nvGrpSpPr>
            <p:cNvPr id="589" name="Google Shape;589;p19"/>
            <p:cNvGrpSpPr/>
            <p:nvPr/>
          </p:nvGrpSpPr>
          <p:grpSpPr>
            <a:xfrm rot="10800000">
              <a:off x="202894" y="-1810398"/>
              <a:ext cx="3848803" cy="5689424"/>
              <a:chOff x="939875" y="457213"/>
              <a:chExt cx="1854488" cy="2741363"/>
            </a:xfrm>
          </p:grpSpPr>
          <p:sp>
            <p:nvSpPr>
              <p:cNvPr id="590" name="Google Shape;590;p19"/>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9"/>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9"/>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9"/>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9"/>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9"/>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9"/>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9"/>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9"/>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9"/>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9"/>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9"/>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9"/>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9"/>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9"/>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9"/>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9"/>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9"/>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9"/>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9"/>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9"/>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9"/>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9"/>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9"/>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9"/>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6" name="Google Shape;616;p19"/>
            <p:cNvGrpSpPr/>
            <p:nvPr/>
          </p:nvGrpSpPr>
          <p:grpSpPr>
            <a:xfrm rot="204526">
              <a:off x="8368648" y="-617165"/>
              <a:ext cx="1358227" cy="6377825"/>
              <a:chOff x="4851025" y="424250"/>
              <a:chExt cx="654450" cy="3073100"/>
            </a:xfrm>
          </p:grpSpPr>
          <p:sp>
            <p:nvSpPr>
              <p:cNvPr id="617" name="Google Shape;617;p19"/>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9"/>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9"/>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9"/>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9"/>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9"/>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9"/>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9"/>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9"/>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9"/>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9"/>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9"/>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9"/>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9"/>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9"/>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9"/>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9"/>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4" name="Google Shape;634;p19"/>
            <p:cNvGrpSpPr/>
            <p:nvPr/>
          </p:nvGrpSpPr>
          <p:grpSpPr>
            <a:xfrm rot="10800000">
              <a:off x="-1772833" y="-2716693"/>
              <a:ext cx="4482760" cy="4754793"/>
              <a:chOff x="4204225" y="2144350"/>
              <a:chExt cx="2159950" cy="2291025"/>
            </a:xfrm>
          </p:grpSpPr>
          <p:sp>
            <p:nvSpPr>
              <p:cNvPr id="635" name="Google Shape;635;p19"/>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9"/>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9"/>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9"/>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9"/>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9"/>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9"/>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9"/>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9"/>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9"/>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9"/>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9"/>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9"/>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9"/>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9"/>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9"/>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 name="Google Shape;653;p19"/>
            <p:cNvGrpSpPr/>
            <p:nvPr/>
          </p:nvGrpSpPr>
          <p:grpSpPr>
            <a:xfrm rot="5400000">
              <a:off x="-624466" y="3148034"/>
              <a:ext cx="2186019" cy="4663683"/>
              <a:chOff x="3061750" y="2798625"/>
              <a:chExt cx="1053300" cy="2247125"/>
            </a:xfrm>
          </p:grpSpPr>
          <p:grpSp>
            <p:nvGrpSpPr>
              <p:cNvPr id="654" name="Google Shape;654;p19"/>
              <p:cNvGrpSpPr/>
              <p:nvPr/>
            </p:nvGrpSpPr>
            <p:grpSpPr>
              <a:xfrm>
                <a:off x="3061750" y="2798625"/>
                <a:ext cx="1053300" cy="2247125"/>
                <a:chOff x="3682050" y="2775150"/>
                <a:chExt cx="1053300" cy="2247125"/>
              </a:xfrm>
            </p:grpSpPr>
            <p:sp>
              <p:nvSpPr>
                <p:cNvPr id="655" name="Google Shape;655;p19"/>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9"/>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9"/>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9"/>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9"/>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9"/>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9"/>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9"/>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9"/>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0" name="Google Shape;670;p19"/>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73" name="Google Shape;673;p19"/>
          <p:cNvSpPr txBox="1"/>
          <p:nvPr>
            <p:ph type="title"/>
          </p:nvPr>
        </p:nvSpPr>
        <p:spPr>
          <a:xfrm>
            <a:off x="3447900" y="539500"/>
            <a:ext cx="4808400" cy="6123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74" name="Google Shape;674;p19"/>
          <p:cNvSpPr txBox="1"/>
          <p:nvPr>
            <p:ph idx="1" type="subTitle"/>
          </p:nvPr>
        </p:nvSpPr>
        <p:spPr>
          <a:xfrm>
            <a:off x="2966275" y="1221750"/>
            <a:ext cx="5289900" cy="3386700"/>
          </a:xfrm>
          <a:prstGeom prst="rect">
            <a:avLst/>
          </a:prstGeom>
        </p:spPr>
        <p:txBody>
          <a:bodyPr anchorCtr="0" anchor="t" bIns="91425" lIns="91425" spcFirstLastPara="1" rIns="91425" wrap="square" tIns="91425">
            <a:noAutofit/>
          </a:bodyPr>
          <a:lstStyle>
            <a:lvl1pPr lvl="0" rtl="0">
              <a:lnSpc>
                <a:spcPct val="200000"/>
              </a:lnSpc>
              <a:spcBef>
                <a:spcPts val="0"/>
              </a:spcBef>
              <a:spcAft>
                <a:spcPts val="0"/>
              </a:spcAft>
              <a:buSzPts val="1300"/>
              <a:buChar char="●"/>
              <a:defRPr sz="1400"/>
            </a:lvl1pPr>
            <a:lvl2pPr lvl="1" rtl="0" algn="ctr">
              <a:lnSpc>
                <a:spcPct val="100000"/>
              </a:lnSpc>
              <a:spcBef>
                <a:spcPts val="0"/>
              </a:spcBef>
              <a:spcAft>
                <a:spcPts val="0"/>
              </a:spcAft>
              <a:buSzPts val="1300"/>
              <a:buChar char="○"/>
              <a:defRPr/>
            </a:lvl2pPr>
            <a:lvl3pPr lvl="2" rtl="0" algn="ctr">
              <a:lnSpc>
                <a:spcPct val="100000"/>
              </a:lnSpc>
              <a:spcBef>
                <a:spcPts val="0"/>
              </a:spcBef>
              <a:spcAft>
                <a:spcPts val="0"/>
              </a:spcAft>
              <a:buSzPts val="1300"/>
              <a:buChar char="■"/>
              <a:defRPr/>
            </a:lvl3pPr>
            <a:lvl4pPr lvl="3" rtl="0" algn="ctr">
              <a:lnSpc>
                <a:spcPct val="100000"/>
              </a:lnSpc>
              <a:spcBef>
                <a:spcPts val="0"/>
              </a:spcBef>
              <a:spcAft>
                <a:spcPts val="0"/>
              </a:spcAft>
              <a:buSzPts val="1300"/>
              <a:buChar char="●"/>
              <a:defRPr/>
            </a:lvl4pPr>
            <a:lvl5pPr lvl="4" rtl="0" algn="ctr">
              <a:lnSpc>
                <a:spcPct val="100000"/>
              </a:lnSpc>
              <a:spcBef>
                <a:spcPts val="0"/>
              </a:spcBef>
              <a:spcAft>
                <a:spcPts val="0"/>
              </a:spcAft>
              <a:buSzPts val="1300"/>
              <a:buChar char="○"/>
              <a:defRPr/>
            </a:lvl5pPr>
            <a:lvl6pPr lvl="5" rtl="0" algn="ctr">
              <a:lnSpc>
                <a:spcPct val="100000"/>
              </a:lnSpc>
              <a:spcBef>
                <a:spcPts val="0"/>
              </a:spcBef>
              <a:spcAft>
                <a:spcPts val="0"/>
              </a:spcAft>
              <a:buSzPts val="1300"/>
              <a:buChar char="■"/>
              <a:defRPr/>
            </a:lvl6pPr>
            <a:lvl7pPr lvl="6" rtl="0" algn="ctr">
              <a:lnSpc>
                <a:spcPct val="100000"/>
              </a:lnSpc>
              <a:spcBef>
                <a:spcPts val="0"/>
              </a:spcBef>
              <a:spcAft>
                <a:spcPts val="0"/>
              </a:spcAft>
              <a:buSzPts val="1300"/>
              <a:buChar char="●"/>
              <a:defRPr/>
            </a:lvl7pPr>
            <a:lvl8pPr lvl="7" rtl="0" algn="ctr">
              <a:lnSpc>
                <a:spcPct val="100000"/>
              </a:lnSpc>
              <a:spcBef>
                <a:spcPts val="0"/>
              </a:spcBef>
              <a:spcAft>
                <a:spcPts val="0"/>
              </a:spcAft>
              <a:buSzPts val="1300"/>
              <a:buChar char="○"/>
              <a:defRPr/>
            </a:lvl8pPr>
            <a:lvl9pPr lvl="8" rtl="0" algn="ctr">
              <a:lnSpc>
                <a:spcPct val="100000"/>
              </a:lnSpc>
              <a:spcBef>
                <a:spcPts val="0"/>
              </a:spcBef>
              <a:spcAft>
                <a:spcPts val="0"/>
              </a:spcAft>
              <a:buSzPts val="13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675" name="Shape 675"/>
        <p:cNvGrpSpPr/>
        <p:nvPr/>
      </p:nvGrpSpPr>
      <p:grpSpPr>
        <a:xfrm>
          <a:off x="0" y="0"/>
          <a:ext cx="0" cy="0"/>
          <a:chOff x="0" y="0"/>
          <a:chExt cx="0" cy="0"/>
        </a:xfrm>
      </p:grpSpPr>
      <p:sp>
        <p:nvSpPr>
          <p:cNvPr id="676" name="Google Shape;676;p20"/>
          <p:cNvSpPr txBox="1"/>
          <p:nvPr>
            <p:ph type="title"/>
          </p:nvPr>
        </p:nvSpPr>
        <p:spPr>
          <a:xfrm>
            <a:off x="720000" y="539500"/>
            <a:ext cx="3153900" cy="11658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77" name="Google Shape;677;p20"/>
          <p:cNvSpPr txBox="1"/>
          <p:nvPr>
            <p:ph idx="1" type="subTitle"/>
          </p:nvPr>
        </p:nvSpPr>
        <p:spPr>
          <a:xfrm>
            <a:off x="1883585" y="2587977"/>
            <a:ext cx="1992300" cy="52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None/>
              <a:defRPr b="0"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678" name="Google Shape;678;p20"/>
          <p:cNvSpPr txBox="1"/>
          <p:nvPr>
            <p:ph idx="2" type="subTitle"/>
          </p:nvPr>
        </p:nvSpPr>
        <p:spPr>
          <a:xfrm>
            <a:off x="5796849" y="4061276"/>
            <a:ext cx="1992300" cy="52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None/>
              <a:defRPr b="0"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679" name="Google Shape;679;p20"/>
          <p:cNvSpPr txBox="1"/>
          <p:nvPr>
            <p:ph idx="3" type="subTitle"/>
          </p:nvPr>
        </p:nvSpPr>
        <p:spPr>
          <a:xfrm>
            <a:off x="1883584" y="2246700"/>
            <a:ext cx="1992300" cy="411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680" name="Google Shape;680;p20"/>
          <p:cNvSpPr txBox="1"/>
          <p:nvPr>
            <p:ph idx="4" type="subTitle"/>
          </p:nvPr>
        </p:nvSpPr>
        <p:spPr>
          <a:xfrm>
            <a:off x="5796849" y="3720000"/>
            <a:ext cx="1992300" cy="411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grpSp>
        <p:nvGrpSpPr>
          <p:cNvPr id="681" name="Google Shape;681;p20"/>
          <p:cNvGrpSpPr/>
          <p:nvPr/>
        </p:nvGrpSpPr>
        <p:grpSpPr>
          <a:xfrm>
            <a:off x="-1983976" y="-2958395"/>
            <a:ext cx="11811362" cy="8623459"/>
            <a:chOff x="-1983976" y="-2958395"/>
            <a:chExt cx="11811362" cy="8623459"/>
          </a:xfrm>
        </p:grpSpPr>
        <p:grpSp>
          <p:nvGrpSpPr>
            <p:cNvPr id="682" name="Google Shape;682;p20"/>
            <p:cNvGrpSpPr/>
            <p:nvPr/>
          </p:nvGrpSpPr>
          <p:grpSpPr>
            <a:xfrm flipH="1" rot="10800000">
              <a:off x="7641367" y="-2958395"/>
              <a:ext cx="2186019" cy="4663683"/>
              <a:chOff x="3061750" y="2798625"/>
              <a:chExt cx="1053300" cy="2247125"/>
            </a:xfrm>
          </p:grpSpPr>
          <p:grpSp>
            <p:nvGrpSpPr>
              <p:cNvPr id="683" name="Google Shape;683;p20"/>
              <p:cNvGrpSpPr/>
              <p:nvPr/>
            </p:nvGrpSpPr>
            <p:grpSpPr>
              <a:xfrm>
                <a:off x="3061750" y="2798625"/>
                <a:ext cx="1053300" cy="2247125"/>
                <a:chOff x="3682050" y="2775150"/>
                <a:chExt cx="1053300" cy="2247125"/>
              </a:xfrm>
            </p:grpSpPr>
            <p:sp>
              <p:nvSpPr>
                <p:cNvPr id="684" name="Google Shape;684;p20"/>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0"/>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0"/>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0"/>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0"/>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0"/>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0"/>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0"/>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0"/>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0"/>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9" name="Google Shape;699;p20"/>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0"/>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0"/>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 name="Google Shape;702;p20"/>
            <p:cNvGrpSpPr/>
            <p:nvPr/>
          </p:nvGrpSpPr>
          <p:grpSpPr>
            <a:xfrm flipH="1" rot="10800000">
              <a:off x="-1983976" y="910271"/>
              <a:ext cx="4482760" cy="4754793"/>
              <a:chOff x="4204225" y="2144350"/>
              <a:chExt cx="2159950" cy="2291025"/>
            </a:xfrm>
          </p:grpSpPr>
          <p:sp>
            <p:nvSpPr>
              <p:cNvPr id="703" name="Google Shape;703;p20"/>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0"/>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0"/>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0"/>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0"/>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0"/>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0"/>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0"/>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0"/>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0"/>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0"/>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0"/>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0"/>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0"/>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0"/>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21" name="Shape 721"/>
        <p:cNvGrpSpPr/>
        <p:nvPr/>
      </p:nvGrpSpPr>
      <p:grpSpPr>
        <a:xfrm>
          <a:off x="0" y="0"/>
          <a:ext cx="0" cy="0"/>
          <a:chOff x="0" y="0"/>
          <a:chExt cx="0" cy="0"/>
        </a:xfrm>
      </p:grpSpPr>
      <p:grpSp>
        <p:nvGrpSpPr>
          <p:cNvPr id="722" name="Google Shape;722;p21"/>
          <p:cNvGrpSpPr/>
          <p:nvPr/>
        </p:nvGrpSpPr>
        <p:grpSpPr>
          <a:xfrm>
            <a:off x="-3358617" y="-151795"/>
            <a:ext cx="6466222" cy="6259329"/>
            <a:chOff x="-3358617" y="-151795"/>
            <a:chExt cx="6466222" cy="6259329"/>
          </a:xfrm>
        </p:grpSpPr>
        <p:grpSp>
          <p:nvGrpSpPr>
            <p:cNvPr id="723" name="Google Shape;723;p21"/>
            <p:cNvGrpSpPr/>
            <p:nvPr/>
          </p:nvGrpSpPr>
          <p:grpSpPr>
            <a:xfrm rot="5675928">
              <a:off x="-804623" y="1985994"/>
              <a:ext cx="1358233" cy="6377855"/>
              <a:chOff x="4851025" y="424250"/>
              <a:chExt cx="654450" cy="3073100"/>
            </a:xfrm>
          </p:grpSpPr>
          <p:sp>
            <p:nvSpPr>
              <p:cNvPr id="724" name="Google Shape;724;p21"/>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1"/>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1"/>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1"/>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1"/>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1"/>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1"/>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1"/>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1"/>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1"/>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1"/>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1"/>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1"/>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1"/>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1"/>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1"/>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1"/>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 name="Google Shape;741;p21"/>
            <p:cNvGrpSpPr/>
            <p:nvPr/>
          </p:nvGrpSpPr>
          <p:grpSpPr>
            <a:xfrm>
              <a:off x="-327715" y="-151795"/>
              <a:ext cx="2186019" cy="4663683"/>
              <a:chOff x="3061750" y="2798625"/>
              <a:chExt cx="1053300" cy="2247125"/>
            </a:xfrm>
          </p:grpSpPr>
          <p:grpSp>
            <p:nvGrpSpPr>
              <p:cNvPr id="742" name="Google Shape;742;p21"/>
              <p:cNvGrpSpPr/>
              <p:nvPr/>
            </p:nvGrpSpPr>
            <p:grpSpPr>
              <a:xfrm>
                <a:off x="3061750" y="2798625"/>
                <a:ext cx="1053300" cy="2247125"/>
                <a:chOff x="3682050" y="2775150"/>
                <a:chExt cx="1053300" cy="2247125"/>
              </a:xfrm>
            </p:grpSpPr>
            <p:sp>
              <p:nvSpPr>
                <p:cNvPr id="743" name="Google Shape;743;p21"/>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1"/>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1"/>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1"/>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1"/>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1"/>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1"/>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1"/>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1"/>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1"/>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1"/>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1"/>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1"/>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1"/>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1"/>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8" name="Google Shape;758;p21"/>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1"/>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1"/>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61" name="Google Shape;761;p21"/>
          <p:cNvSpPr txBox="1"/>
          <p:nvPr>
            <p:ph type="title"/>
          </p:nvPr>
        </p:nvSpPr>
        <p:spPr>
          <a:xfrm>
            <a:off x="720000" y="539500"/>
            <a:ext cx="2604000" cy="11709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62" name="Google Shape;762;p21"/>
          <p:cNvSpPr txBox="1"/>
          <p:nvPr>
            <p:ph idx="1" type="subTitle"/>
          </p:nvPr>
        </p:nvSpPr>
        <p:spPr>
          <a:xfrm>
            <a:off x="4477050" y="967409"/>
            <a:ext cx="2305500" cy="680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63" name="Google Shape;763;p21"/>
          <p:cNvSpPr txBox="1"/>
          <p:nvPr>
            <p:ph idx="2" type="subTitle"/>
          </p:nvPr>
        </p:nvSpPr>
        <p:spPr>
          <a:xfrm>
            <a:off x="4947630" y="2447100"/>
            <a:ext cx="2305500" cy="680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64" name="Google Shape;764;p21"/>
          <p:cNvSpPr txBox="1"/>
          <p:nvPr>
            <p:ph idx="3" type="subTitle"/>
          </p:nvPr>
        </p:nvSpPr>
        <p:spPr>
          <a:xfrm>
            <a:off x="5753902" y="3926792"/>
            <a:ext cx="2305500" cy="680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65" name="Google Shape;765;p21"/>
          <p:cNvSpPr txBox="1"/>
          <p:nvPr>
            <p:ph idx="4" type="subTitle"/>
          </p:nvPr>
        </p:nvSpPr>
        <p:spPr>
          <a:xfrm>
            <a:off x="4477058" y="591242"/>
            <a:ext cx="2305500" cy="43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766" name="Google Shape;766;p21"/>
          <p:cNvSpPr txBox="1"/>
          <p:nvPr>
            <p:ph idx="5" type="subTitle"/>
          </p:nvPr>
        </p:nvSpPr>
        <p:spPr>
          <a:xfrm>
            <a:off x="4947642" y="2070933"/>
            <a:ext cx="2305500" cy="43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767" name="Google Shape;767;p21"/>
          <p:cNvSpPr txBox="1"/>
          <p:nvPr>
            <p:ph idx="6" type="subTitle"/>
          </p:nvPr>
        </p:nvSpPr>
        <p:spPr>
          <a:xfrm>
            <a:off x="5753919" y="3550625"/>
            <a:ext cx="2305500" cy="43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768" name="Shape 768"/>
        <p:cNvGrpSpPr/>
        <p:nvPr/>
      </p:nvGrpSpPr>
      <p:grpSpPr>
        <a:xfrm>
          <a:off x="0" y="0"/>
          <a:ext cx="0" cy="0"/>
          <a:chOff x="0" y="0"/>
          <a:chExt cx="0" cy="0"/>
        </a:xfrm>
      </p:grpSpPr>
      <p:grpSp>
        <p:nvGrpSpPr>
          <p:cNvPr id="769" name="Google Shape;769;p22"/>
          <p:cNvGrpSpPr/>
          <p:nvPr/>
        </p:nvGrpSpPr>
        <p:grpSpPr>
          <a:xfrm rot="-5400000">
            <a:off x="1503074" y="2718787"/>
            <a:ext cx="2186019" cy="4663683"/>
            <a:chOff x="3061750" y="2798625"/>
            <a:chExt cx="1053300" cy="2247125"/>
          </a:xfrm>
        </p:grpSpPr>
        <p:grpSp>
          <p:nvGrpSpPr>
            <p:cNvPr id="770" name="Google Shape;770;p22"/>
            <p:cNvGrpSpPr/>
            <p:nvPr/>
          </p:nvGrpSpPr>
          <p:grpSpPr>
            <a:xfrm>
              <a:off x="3061750" y="2798625"/>
              <a:ext cx="1053300" cy="2247125"/>
              <a:chOff x="3682050" y="2775150"/>
              <a:chExt cx="1053300" cy="2247125"/>
            </a:xfrm>
          </p:grpSpPr>
          <p:sp>
            <p:nvSpPr>
              <p:cNvPr id="771" name="Google Shape;771;p22"/>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2"/>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2"/>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2"/>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2"/>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2"/>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2"/>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2"/>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2"/>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2"/>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2"/>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2"/>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2"/>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2"/>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2"/>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6" name="Google Shape;786;p22"/>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2"/>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2"/>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9" name="Google Shape;789;p22"/>
          <p:cNvSpPr txBox="1"/>
          <p:nvPr>
            <p:ph type="title"/>
          </p:nvPr>
        </p:nvSpPr>
        <p:spPr>
          <a:xfrm>
            <a:off x="720000" y="539500"/>
            <a:ext cx="34269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90" name="Google Shape;790;p22"/>
          <p:cNvSpPr txBox="1"/>
          <p:nvPr>
            <p:ph idx="1" type="subTitle"/>
          </p:nvPr>
        </p:nvSpPr>
        <p:spPr>
          <a:xfrm>
            <a:off x="5337346" y="593250"/>
            <a:ext cx="3089100" cy="481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p:txBody>
      </p:sp>
      <p:sp>
        <p:nvSpPr>
          <p:cNvPr id="791" name="Google Shape;791;p22"/>
          <p:cNvSpPr txBox="1"/>
          <p:nvPr>
            <p:ph idx="2" type="subTitle"/>
          </p:nvPr>
        </p:nvSpPr>
        <p:spPr>
          <a:xfrm>
            <a:off x="5337346" y="2034684"/>
            <a:ext cx="3089100" cy="481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p:txBody>
      </p:sp>
      <p:sp>
        <p:nvSpPr>
          <p:cNvPr id="792" name="Google Shape;792;p22"/>
          <p:cNvSpPr txBox="1"/>
          <p:nvPr>
            <p:ph idx="3" type="subTitle"/>
          </p:nvPr>
        </p:nvSpPr>
        <p:spPr>
          <a:xfrm>
            <a:off x="5337346" y="3476119"/>
            <a:ext cx="3089100" cy="481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p:txBody>
      </p:sp>
      <p:sp>
        <p:nvSpPr>
          <p:cNvPr id="793" name="Google Shape;793;p22"/>
          <p:cNvSpPr txBox="1"/>
          <p:nvPr>
            <p:ph idx="4" type="subTitle"/>
          </p:nvPr>
        </p:nvSpPr>
        <p:spPr>
          <a:xfrm>
            <a:off x="5337346" y="1110396"/>
            <a:ext cx="3089100" cy="43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794" name="Google Shape;794;p22"/>
          <p:cNvSpPr txBox="1"/>
          <p:nvPr>
            <p:ph idx="5" type="subTitle"/>
          </p:nvPr>
        </p:nvSpPr>
        <p:spPr>
          <a:xfrm>
            <a:off x="5337346" y="2551868"/>
            <a:ext cx="3089100" cy="43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795" name="Google Shape;795;p22"/>
          <p:cNvSpPr txBox="1"/>
          <p:nvPr>
            <p:ph idx="6" type="subTitle"/>
          </p:nvPr>
        </p:nvSpPr>
        <p:spPr>
          <a:xfrm>
            <a:off x="5337346" y="3993339"/>
            <a:ext cx="3089100" cy="43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96" name="Shape 796"/>
        <p:cNvGrpSpPr/>
        <p:nvPr/>
      </p:nvGrpSpPr>
      <p:grpSpPr>
        <a:xfrm>
          <a:off x="0" y="0"/>
          <a:ext cx="0" cy="0"/>
          <a:chOff x="0" y="0"/>
          <a:chExt cx="0" cy="0"/>
        </a:xfrm>
      </p:grpSpPr>
      <p:grpSp>
        <p:nvGrpSpPr>
          <p:cNvPr id="797" name="Google Shape;797;p23"/>
          <p:cNvGrpSpPr/>
          <p:nvPr/>
        </p:nvGrpSpPr>
        <p:grpSpPr>
          <a:xfrm flipH="1" rot="10800000">
            <a:off x="-1469542" y="1064076"/>
            <a:ext cx="4482760" cy="4754793"/>
            <a:chOff x="4204225" y="2144350"/>
            <a:chExt cx="2159950" cy="2291025"/>
          </a:xfrm>
        </p:grpSpPr>
        <p:sp>
          <p:nvSpPr>
            <p:cNvPr id="798" name="Google Shape;798;p23"/>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3"/>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3"/>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3"/>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3"/>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3"/>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3"/>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3"/>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3"/>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3"/>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3"/>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3"/>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3"/>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3"/>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3"/>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3"/>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3"/>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3"/>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6" name="Google Shape;816;p23"/>
          <p:cNvSpPr txBox="1"/>
          <p:nvPr>
            <p:ph type="title"/>
          </p:nvPr>
        </p:nvSpPr>
        <p:spPr>
          <a:xfrm>
            <a:off x="720000" y="539500"/>
            <a:ext cx="2746200" cy="11535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17" name="Google Shape;817;p23"/>
          <p:cNvSpPr txBox="1"/>
          <p:nvPr>
            <p:ph idx="1" type="subTitle"/>
          </p:nvPr>
        </p:nvSpPr>
        <p:spPr>
          <a:xfrm>
            <a:off x="4403665" y="982503"/>
            <a:ext cx="16383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18" name="Google Shape;818;p23"/>
          <p:cNvSpPr txBox="1"/>
          <p:nvPr>
            <p:ph idx="2" type="subTitle"/>
          </p:nvPr>
        </p:nvSpPr>
        <p:spPr>
          <a:xfrm>
            <a:off x="6736975" y="1711552"/>
            <a:ext cx="16383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19" name="Google Shape;819;p23"/>
          <p:cNvSpPr txBox="1"/>
          <p:nvPr>
            <p:ph idx="3" type="subTitle"/>
          </p:nvPr>
        </p:nvSpPr>
        <p:spPr>
          <a:xfrm>
            <a:off x="4403665" y="2259233"/>
            <a:ext cx="16383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20" name="Google Shape;820;p23"/>
          <p:cNvSpPr txBox="1"/>
          <p:nvPr>
            <p:ph idx="4" type="subTitle"/>
          </p:nvPr>
        </p:nvSpPr>
        <p:spPr>
          <a:xfrm>
            <a:off x="6736975" y="2988282"/>
            <a:ext cx="16383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21" name="Google Shape;821;p23"/>
          <p:cNvSpPr txBox="1"/>
          <p:nvPr>
            <p:ph idx="5" type="subTitle"/>
          </p:nvPr>
        </p:nvSpPr>
        <p:spPr>
          <a:xfrm>
            <a:off x="4403665" y="613641"/>
            <a:ext cx="1638300" cy="40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22" name="Google Shape;822;p23"/>
          <p:cNvSpPr txBox="1"/>
          <p:nvPr>
            <p:ph idx="6" type="subTitle"/>
          </p:nvPr>
        </p:nvSpPr>
        <p:spPr>
          <a:xfrm>
            <a:off x="6736972" y="1342689"/>
            <a:ext cx="1638300" cy="40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23" name="Google Shape;823;p23"/>
          <p:cNvSpPr txBox="1"/>
          <p:nvPr>
            <p:ph idx="7" type="subTitle"/>
          </p:nvPr>
        </p:nvSpPr>
        <p:spPr>
          <a:xfrm>
            <a:off x="4403665" y="1890359"/>
            <a:ext cx="1638300" cy="40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24" name="Google Shape;824;p23"/>
          <p:cNvSpPr txBox="1"/>
          <p:nvPr>
            <p:ph idx="8" type="subTitle"/>
          </p:nvPr>
        </p:nvSpPr>
        <p:spPr>
          <a:xfrm>
            <a:off x="6736972" y="2619408"/>
            <a:ext cx="1638300" cy="40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25" name="Shape 825"/>
        <p:cNvGrpSpPr/>
        <p:nvPr/>
      </p:nvGrpSpPr>
      <p:grpSpPr>
        <a:xfrm>
          <a:off x="0" y="0"/>
          <a:ext cx="0" cy="0"/>
          <a:chOff x="0" y="0"/>
          <a:chExt cx="0" cy="0"/>
        </a:xfrm>
      </p:grpSpPr>
      <p:sp>
        <p:nvSpPr>
          <p:cNvPr id="826" name="Google Shape;826;p24"/>
          <p:cNvSpPr txBox="1"/>
          <p:nvPr>
            <p:ph type="title"/>
          </p:nvPr>
        </p:nvSpPr>
        <p:spPr>
          <a:xfrm>
            <a:off x="720000" y="539500"/>
            <a:ext cx="2797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27" name="Google Shape;827;p24"/>
          <p:cNvSpPr txBox="1"/>
          <p:nvPr>
            <p:ph idx="1" type="subTitle"/>
          </p:nvPr>
        </p:nvSpPr>
        <p:spPr>
          <a:xfrm>
            <a:off x="4368077" y="983174"/>
            <a:ext cx="1779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28" name="Google Shape;828;p24"/>
          <p:cNvSpPr txBox="1"/>
          <p:nvPr>
            <p:ph idx="2" type="subTitle"/>
          </p:nvPr>
        </p:nvSpPr>
        <p:spPr>
          <a:xfrm>
            <a:off x="6651799" y="1605065"/>
            <a:ext cx="17781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29" name="Google Shape;829;p24"/>
          <p:cNvSpPr txBox="1"/>
          <p:nvPr>
            <p:ph idx="3" type="subTitle"/>
          </p:nvPr>
        </p:nvSpPr>
        <p:spPr>
          <a:xfrm>
            <a:off x="4368077" y="2226956"/>
            <a:ext cx="1779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30" name="Google Shape;830;p24"/>
          <p:cNvSpPr txBox="1"/>
          <p:nvPr>
            <p:ph idx="4" type="subTitle"/>
          </p:nvPr>
        </p:nvSpPr>
        <p:spPr>
          <a:xfrm>
            <a:off x="6652673" y="2848848"/>
            <a:ext cx="17781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31" name="Google Shape;831;p24"/>
          <p:cNvSpPr txBox="1"/>
          <p:nvPr>
            <p:ph idx="5" type="subTitle"/>
          </p:nvPr>
        </p:nvSpPr>
        <p:spPr>
          <a:xfrm>
            <a:off x="4368084" y="3470739"/>
            <a:ext cx="1779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32" name="Google Shape;832;p24"/>
          <p:cNvSpPr txBox="1"/>
          <p:nvPr>
            <p:ph idx="6" type="subTitle"/>
          </p:nvPr>
        </p:nvSpPr>
        <p:spPr>
          <a:xfrm>
            <a:off x="6651355" y="4092630"/>
            <a:ext cx="1779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3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833" name="Google Shape;833;p24"/>
          <p:cNvSpPr txBox="1"/>
          <p:nvPr>
            <p:ph idx="7" type="subTitle"/>
          </p:nvPr>
        </p:nvSpPr>
        <p:spPr>
          <a:xfrm>
            <a:off x="4368077" y="613641"/>
            <a:ext cx="1779000" cy="411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34" name="Google Shape;834;p24"/>
          <p:cNvSpPr txBox="1"/>
          <p:nvPr>
            <p:ph idx="8" type="subTitle"/>
          </p:nvPr>
        </p:nvSpPr>
        <p:spPr>
          <a:xfrm>
            <a:off x="6652669" y="1235472"/>
            <a:ext cx="1778100" cy="411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35" name="Google Shape;835;p24"/>
          <p:cNvSpPr txBox="1"/>
          <p:nvPr>
            <p:ph idx="9" type="subTitle"/>
          </p:nvPr>
        </p:nvSpPr>
        <p:spPr>
          <a:xfrm>
            <a:off x="4368077" y="1857303"/>
            <a:ext cx="1779000" cy="411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36" name="Google Shape;836;p24"/>
          <p:cNvSpPr txBox="1"/>
          <p:nvPr>
            <p:ph idx="13" type="subTitle"/>
          </p:nvPr>
        </p:nvSpPr>
        <p:spPr>
          <a:xfrm>
            <a:off x="6652670" y="2479134"/>
            <a:ext cx="1778100" cy="411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37" name="Google Shape;837;p24"/>
          <p:cNvSpPr txBox="1"/>
          <p:nvPr>
            <p:ph idx="14" type="subTitle"/>
          </p:nvPr>
        </p:nvSpPr>
        <p:spPr>
          <a:xfrm>
            <a:off x="4368077" y="3100966"/>
            <a:ext cx="1779000" cy="411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38" name="Google Shape;838;p24"/>
          <p:cNvSpPr txBox="1"/>
          <p:nvPr>
            <p:ph idx="15" type="subTitle"/>
          </p:nvPr>
        </p:nvSpPr>
        <p:spPr>
          <a:xfrm>
            <a:off x="6651350" y="3722797"/>
            <a:ext cx="1779000" cy="411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39" name="Shape 839"/>
        <p:cNvGrpSpPr/>
        <p:nvPr/>
      </p:nvGrpSpPr>
      <p:grpSpPr>
        <a:xfrm>
          <a:off x="0" y="0"/>
          <a:ext cx="0" cy="0"/>
          <a:chOff x="0" y="0"/>
          <a:chExt cx="0" cy="0"/>
        </a:xfrm>
      </p:grpSpPr>
      <p:sp>
        <p:nvSpPr>
          <p:cNvPr id="840" name="Google Shape;840;p25"/>
          <p:cNvSpPr txBox="1"/>
          <p:nvPr>
            <p:ph hasCustomPrompt="1" type="title"/>
          </p:nvPr>
        </p:nvSpPr>
        <p:spPr>
          <a:xfrm flipH="1">
            <a:off x="2676041" y="539488"/>
            <a:ext cx="39216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b="1" sz="4500">
                <a:latin typeface="Plus Jakarta Sans"/>
                <a:ea typeface="Plus Jakarta Sans"/>
                <a:cs typeface="Plus Jakarta Sans"/>
                <a:sym typeface="Plus Jakarta Sa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41" name="Google Shape;841;p25"/>
          <p:cNvSpPr txBox="1"/>
          <p:nvPr>
            <p:ph idx="1" type="subTitle"/>
          </p:nvPr>
        </p:nvSpPr>
        <p:spPr>
          <a:xfrm flipH="1">
            <a:off x="2676040" y="1232225"/>
            <a:ext cx="3921600" cy="413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None/>
              <a:defRPr sz="13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842" name="Google Shape;842;p25"/>
          <p:cNvSpPr txBox="1"/>
          <p:nvPr>
            <p:ph hasCustomPrompt="1" idx="2" type="title"/>
          </p:nvPr>
        </p:nvSpPr>
        <p:spPr>
          <a:xfrm flipH="1">
            <a:off x="3292152" y="1973516"/>
            <a:ext cx="39216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b="1" sz="4500">
                <a:latin typeface="Plus Jakarta Sans"/>
                <a:ea typeface="Plus Jakarta Sans"/>
                <a:cs typeface="Plus Jakarta Sans"/>
                <a:sym typeface="Plus Jakarta Sa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43" name="Google Shape;843;p25"/>
          <p:cNvSpPr txBox="1"/>
          <p:nvPr>
            <p:ph idx="3" type="subTitle"/>
          </p:nvPr>
        </p:nvSpPr>
        <p:spPr>
          <a:xfrm flipH="1">
            <a:off x="3292151" y="2666230"/>
            <a:ext cx="3921600" cy="413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None/>
              <a:defRPr sz="13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844" name="Google Shape;844;p25"/>
          <p:cNvSpPr txBox="1"/>
          <p:nvPr>
            <p:ph hasCustomPrompt="1" idx="4" type="title"/>
          </p:nvPr>
        </p:nvSpPr>
        <p:spPr>
          <a:xfrm flipH="1">
            <a:off x="3908263" y="3407544"/>
            <a:ext cx="39216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b="1" sz="4500">
                <a:latin typeface="Plus Jakarta Sans"/>
                <a:ea typeface="Plus Jakarta Sans"/>
                <a:cs typeface="Plus Jakarta Sans"/>
                <a:sym typeface="Plus Jakarta Sa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45" name="Google Shape;845;p25"/>
          <p:cNvSpPr txBox="1"/>
          <p:nvPr>
            <p:ph idx="5" type="subTitle"/>
          </p:nvPr>
        </p:nvSpPr>
        <p:spPr>
          <a:xfrm flipH="1">
            <a:off x="3908262" y="4100236"/>
            <a:ext cx="3921600" cy="4137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None/>
              <a:defRPr sz="13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846" name="Google Shape;846;p25"/>
          <p:cNvGrpSpPr/>
          <p:nvPr/>
        </p:nvGrpSpPr>
        <p:grpSpPr>
          <a:xfrm flipH="1">
            <a:off x="8521951" y="-2672687"/>
            <a:ext cx="3848803" cy="5689424"/>
            <a:chOff x="939875" y="457213"/>
            <a:chExt cx="1854488" cy="2741363"/>
          </a:xfrm>
        </p:grpSpPr>
        <p:sp>
          <p:nvSpPr>
            <p:cNvPr id="847" name="Google Shape;847;p25"/>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5"/>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5"/>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5"/>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5"/>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5"/>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5"/>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5"/>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5"/>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5"/>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5"/>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5"/>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5"/>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5"/>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5"/>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5"/>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5"/>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5"/>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5"/>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5"/>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5"/>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5"/>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5"/>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5"/>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5"/>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5"/>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873" name="Shape 873"/>
        <p:cNvGrpSpPr/>
        <p:nvPr/>
      </p:nvGrpSpPr>
      <p:grpSpPr>
        <a:xfrm>
          <a:off x="0" y="0"/>
          <a:ext cx="0" cy="0"/>
          <a:chOff x="0" y="0"/>
          <a:chExt cx="0" cy="0"/>
        </a:xfrm>
      </p:grpSpPr>
      <p:grpSp>
        <p:nvGrpSpPr>
          <p:cNvPr id="874" name="Google Shape;874;p26"/>
          <p:cNvGrpSpPr/>
          <p:nvPr/>
        </p:nvGrpSpPr>
        <p:grpSpPr>
          <a:xfrm>
            <a:off x="7703606" y="-3611995"/>
            <a:ext cx="2404726" cy="12015937"/>
            <a:chOff x="7703606" y="-3611995"/>
            <a:chExt cx="2404726" cy="12015937"/>
          </a:xfrm>
        </p:grpSpPr>
        <p:grpSp>
          <p:nvGrpSpPr>
            <p:cNvPr id="875" name="Google Shape;875;p26"/>
            <p:cNvGrpSpPr/>
            <p:nvPr/>
          </p:nvGrpSpPr>
          <p:grpSpPr>
            <a:xfrm flipH="1" rot="10800000">
              <a:off x="7703606" y="-3611995"/>
              <a:ext cx="2186019" cy="4663683"/>
              <a:chOff x="3061750" y="2798625"/>
              <a:chExt cx="1053300" cy="2247125"/>
            </a:xfrm>
          </p:grpSpPr>
          <p:grpSp>
            <p:nvGrpSpPr>
              <p:cNvPr id="876" name="Google Shape;876;p26"/>
              <p:cNvGrpSpPr/>
              <p:nvPr/>
            </p:nvGrpSpPr>
            <p:grpSpPr>
              <a:xfrm>
                <a:off x="3061750" y="2798625"/>
                <a:ext cx="1053300" cy="2247125"/>
                <a:chOff x="3682050" y="2775150"/>
                <a:chExt cx="1053300" cy="2247125"/>
              </a:xfrm>
            </p:grpSpPr>
            <p:sp>
              <p:nvSpPr>
                <p:cNvPr id="877" name="Google Shape;877;p26"/>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6"/>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6"/>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6"/>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6"/>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6"/>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6"/>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6"/>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6"/>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6"/>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6"/>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6"/>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6"/>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6"/>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6"/>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2" name="Google Shape;892;p26"/>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6"/>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6"/>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5" name="Google Shape;895;p26"/>
            <p:cNvGrpSpPr/>
            <p:nvPr/>
          </p:nvGrpSpPr>
          <p:grpSpPr>
            <a:xfrm rot="204526">
              <a:off x="8561696" y="1991379"/>
              <a:ext cx="1358227" cy="6377825"/>
              <a:chOff x="4851025" y="424250"/>
              <a:chExt cx="654450" cy="3073100"/>
            </a:xfrm>
          </p:grpSpPr>
          <p:sp>
            <p:nvSpPr>
              <p:cNvPr id="896" name="Google Shape;896;p26"/>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6"/>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6"/>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6"/>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6"/>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6"/>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6"/>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6"/>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6"/>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6"/>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6"/>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6"/>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6"/>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6"/>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6"/>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6"/>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6"/>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13" name="Google Shape;913;p26"/>
          <p:cNvSpPr txBox="1"/>
          <p:nvPr>
            <p:ph hasCustomPrompt="1" type="title"/>
          </p:nvPr>
        </p:nvSpPr>
        <p:spPr>
          <a:xfrm>
            <a:off x="6026590" y="837640"/>
            <a:ext cx="1397700" cy="40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b="1" sz="2000">
                <a:latin typeface="Plus Jakarta Sans"/>
                <a:ea typeface="Plus Jakarta Sans"/>
                <a:cs typeface="Plus Jakarta Sans"/>
                <a:sym typeface="Plus Jakarta Sa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14" name="Google Shape;914;p26"/>
          <p:cNvSpPr txBox="1"/>
          <p:nvPr>
            <p:ph idx="1" type="subTitle"/>
          </p:nvPr>
        </p:nvSpPr>
        <p:spPr>
          <a:xfrm>
            <a:off x="6026590" y="1528499"/>
            <a:ext cx="2304000" cy="69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PT Sans"/>
              <a:buNone/>
              <a:defRPr sz="13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15" name="Google Shape;915;p26"/>
          <p:cNvSpPr txBox="1"/>
          <p:nvPr>
            <p:ph idx="2" type="subTitle"/>
          </p:nvPr>
        </p:nvSpPr>
        <p:spPr>
          <a:xfrm>
            <a:off x="6026590" y="1180700"/>
            <a:ext cx="2304000" cy="426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solidFill>
                  <a:schemeClr val="dk1"/>
                </a:solidFill>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16" name="Google Shape;916;p26"/>
          <p:cNvSpPr txBox="1"/>
          <p:nvPr>
            <p:ph hasCustomPrompt="1" idx="3" type="title"/>
          </p:nvPr>
        </p:nvSpPr>
        <p:spPr>
          <a:xfrm>
            <a:off x="6026590" y="3227722"/>
            <a:ext cx="1397700" cy="40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b="1" sz="2000">
                <a:latin typeface="Plus Jakarta Sans"/>
                <a:ea typeface="Plus Jakarta Sans"/>
                <a:cs typeface="Plus Jakarta Sans"/>
                <a:sym typeface="Plus Jakarta Sa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17" name="Google Shape;917;p26"/>
          <p:cNvSpPr txBox="1"/>
          <p:nvPr>
            <p:ph idx="4" type="subTitle"/>
          </p:nvPr>
        </p:nvSpPr>
        <p:spPr>
          <a:xfrm>
            <a:off x="6026590" y="3918575"/>
            <a:ext cx="2304000" cy="69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PT Sans"/>
              <a:buNone/>
              <a:defRPr sz="13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18" name="Google Shape;918;p26"/>
          <p:cNvSpPr txBox="1"/>
          <p:nvPr>
            <p:ph idx="5" type="subTitle"/>
          </p:nvPr>
        </p:nvSpPr>
        <p:spPr>
          <a:xfrm>
            <a:off x="6026590" y="3570775"/>
            <a:ext cx="2304000" cy="426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solidFill>
                  <a:schemeClr val="dk1"/>
                </a:solidFill>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19" name="Google Shape;919;p26"/>
          <p:cNvSpPr txBox="1"/>
          <p:nvPr>
            <p:ph idx="6" type="title"/>
          </p:nvPr>
        </p:nvSpPr>
        <p:spPr>
          <a:xfrm>
            <a:off x="719950" y="539500"/>
            <a:ext cx="3746400" cy="12183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20" name="Google Shape;920;p26"/>
          <p:cNvSpPr txBox="1"/>
          <p:nvPr>
            <p:ph hasCustomPrompt="1" idx="7" type="title"/>
          </p:nvPr>
        </p:nvSpPr>
        <p:spPr>
          <a:xfrm>
            <a:off x="2192832" y="2398647"/>
            <a:ext cx="1397700" cy="406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b="1" sz="2000">
                <a:latin typeface="Plus Jakarta Sans"/>
                <a:ea typeface="Plus Jakarta Sans"/>
                <a:cs typeface="Plus Jakarta Sans"/>
                <a:sym typeface="Plus Jakarta Sa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21" name="Google Shape;921;p26"/>
          <p:cNvSpPr txBox="1"/>
          <p:nvPr>
            <p:ph idx="8" type="subTitle"/>
          </p:nvPr>
        </p:nvSpPr>
        <p:spPr>
          <a:xfrm>
            <a:off x="978432" y="3089500"/>
            <a:ext cx="2612100" cy="1519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3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22" name="Google Shape;922;p26"/>
          <p:cNvSpPr txBox="1"/>
          <p:nvPr>
            <p:ph idx="9" type="subTitle"/>
          </p:nvPr>
        </p:nvSpPr>
        <p:spPr>
          <a:xfrm>
            <a:off x="978432" y="2741700"/>
            <a:ext cx="2612100" cy="426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sz="2000">
                <a:solidFill>
                  <a:schemeClr val="dk1"/>
                </a:solidFill>
                <a:latin typeface="Plus Jakarta Sans SemiBold"/>
                <a:ea typeface="Plus Jakarta Sans SemiBold"/>
                <a:cs typeface="Plus Jakarta Sans SemiBold"/>
                <a:sym typeface="Plus Jakarta Sa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23" name="Shape 923"/>
        <p:cNvGrpSpPr/>
        <p:nvPr/>
      </p:nvGrpSpPr>
      <p:grpSpPr>
        <a:xfrm>
          <a:off x="0" y="0"/>
          <a:ext cx="0" cy="0"/>
          <a:chOff x="0" y="0"/>
          <a:chExt cx="0" cy="0"/>
        </a:xfrm>
      </p:grpSpPr>
      <p:grpSp>
        <p:nvGrpSpPr>
          <p:cNvPr id="924" name="Google Shape;924;p27"/>
          <p:cNvGrpSpPr/>
          <p:nvPr/>
        </p:nvGrpSpPr>
        <p:grpSpPr>
          <a:xfrm>
            <a:off x="5554631" y="138384"/>
            <a:ext cx="6466222" cy="5725450"/>
            <a:chOff x="5554631" y="138384"/>
            <a:chExt cx="6466222" cy="5725450"/>
          </a:xfrm>
        </p:grpSpPr>
        <p:grpSp>
          <p:nvGrpSpPr>
            <p:cNvPr id="925" name="Google Shape;925;p27"/>
            <p:cNvGrpSpPr/>
            <p:nvPr/>
          </p:nvGrpSpPr>
          <p:grpSpPr>
            <a:xfrm rot="10800000">
              <a:off x="6924297" y="593701"/>
              <a:ext cx="4482760" cy="4754793"/>
              <a:chOff x="4204225" y="2144350"/>
              <a:chExt cx="2159950" cy="2291025"/>
            </a:xfrm>
          </p:grpSpPr>
          <p:sp>
            <p:nvSpPr>
              <p:cNvPr id="926" name="Google Shape;926;p27"/>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7"/>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7"/>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7"/>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7"/>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7"/>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7"/>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7"/>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7"/>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7"/>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7"/>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7"/>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7"/>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7"/>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7"/>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7"/>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7"/>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7"/>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4" name="Google Shape;944;p27"/>
            <p:cNvGrpSpPr/>
            <p:nvPr/>
          </p:nvGrpSpPr>
          <p:grpSpPr>
            <a:xfrm flipH="1" rot="-5675928">
              <a:off x="8108626" y="1742294"/>
              <a:ext cx="1358233" cy="6377855"/>
              <a:chOff x="4851025" y="424250"/>
              <a:chExt cx="654450" cy="3073100"/>
            </a:xfrm>
          </p:grpSpPr>
          <p:sp>
            <p:nvSpPr>
              <p:cNvPr id="945" name="Google Shape;945;p27"/>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7"/>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7"/>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7"/>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7"/>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7"/>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7"/>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7"/>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7"/>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7"/>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7"/>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7"/>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7"/>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7"/>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7"/>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7"/>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7"/>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27"/>
            <p:cNvGrpSpPr/>
            <p:nvPr/>
          </p:nvGrpSpPr>
          <p:grpSpPr>
            <a:xfrm flipH="1">
              <a:off x="7107400" y="138384"/>
              <a:ext cx="2186019" cy="4663683"/>
              <a:chOff x="3061750" y="2798625"/>
              <a:chExt cx="1053300" cy="2247125"/>
            </a:xfrm>
          </p:grpSpPr>
          <p:grpSp>
            <p:nvGrpSpPr>
              <p:cNvPr id="963" name="Google Shape;963;p27"/>
              <p:cNvGrpSpPr/>
              <p:nvPr/>
            </p:nvGrpSpPr>
            <p:grpSpPr>
              <a:xfrm>
                <a:off x="3061750" y="2798625"/>
                <a:ext cx="1053300" cy="2247125"/>
                <a:chOff x="3682050" y="2775150"/>
                <a:chExt cx="1053300" cy="2247125"/>
              </a:xfrm>
            </p:grpSpPr>
            <p:sp>
              <p:nvSpPr>
                <p:cNvPr id="964" name="Google Shape;964;p27"/>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7"/>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7"/>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7"/>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7"/>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7"/>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7"/>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7"/>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7"/>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7"/>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7"/>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7"/>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7"/>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7"/>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7"/>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9" name="Google Shape;979;p27"/>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7"/>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7"/>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82" name="Google Shape;982;p27"/>
          <p:cNvSpPr txBox="1"/>
          <p:nvPr>
            <p:ph type="title"/>
          </p:nvPr>
        </p:nvSpPr>
        <p:spPr>
          <a:xfrm>
            <a:off x="713225" y="537571"/>
            <a:ext cx="5081400" cy="12120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b="1" sz="8500">
                <a:latin typeface="Plus Jakarta Sans"/>
                <a:ea typeface="Plus Jakarta Sans"/>
                <a:cs typeface="Plus Jakarta Sans"/>
                <a:sym typeface="Plus Jakarta Sans"/>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83" name="Google Shape;983;p27"/>
          <p:cNvSpPr txBox="1"/>
          <p:nvPr>
            <p:ph idx="1" type="subTitle"/>
          </p:nvPr>
        </p:nvSpPr>
        <p:spPr>
          <a:xfrm>
            <a:off x="713225" y="1832871"/>
            <a:ext cx="50814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984" name="Google Shape;984;p27"/>
          <p:cNvSpPr txBox="1"/>
          <p:nvPr/>
        </p:nvSpPr>
        <p:spPr>
          <a:xfrm>
            <a:off x="713225" y="3810782"/>
            <a:ext cx="5081400" cy="58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Plus Jakarta Sans"/>
                <a:ea typeface="Plus Jakarta Sans"/>
                <a:cs typeface="Plus Jakarta Sans"/>
                <a:sym typeface="Plus Jakarta Sans"/>
              </a:rPr>
              <a:t>CREDITS:</a:t>
            </a:r>
            <a:r>
              <a:rPr lang="en" sz="1200">
                <a:solidFill>
                  <a:schemeClr val="dk1"/>
                </a:solidFill>
                <a:latin typeface="Plus Jakarta Sans"/>
                <a:ea typeface="Plus Jakarta Sans"/>
                <a:cs typeface="Plus Jakarta Sans"/>
                <a:sym typeface="Plus Jakarta Sans"/>
              </a:rPr>
              <a:t> This presentation template was created by </a:t>
            </a:r>
            <a:r>
              <a:rPr b="1" lang="en" sz="1200">
                <a:solidFill>
                  <a:schemeClr val="dk1"/>
                </a:solidFill>
                <a:uFill>
                  <a:noFill/>
                </a:uFill>
                <a:latin typeface="Plus Jakarta Sans"/>
                <a:ea typeface="Plus Jakarta Sans"/>
                <a:cs typeface="Plus Jakarta Sans"/>
                <a:sym typeface="Plus Jakarta Sans"/>
                <a:hlinkClick r:id="rId2">
                  <a:extLst>
                    <a:ext uri="{A12FA001-AC4F-418D-AE19-62706E023703}">
                      <ahyp:hlinkClr val="tx"/>
                    </a:ext>
                  </a:extLst>
                </a:hlinkClick>
              </a:rPr>
              <a:t>Slidesgo</a:t>
            </a:r>
            <a:r>
              <a:rPr lang="en" sz="1200">
                <a:solidFill>
                  <a:schemeClr val="dk1"/>
                </a:solidFill>
                <a:latin typeface="Plus Jakarta Sans"/>
                <a:ea typeface="Plus Jakarta Sans"/>
                <a:cs typeface="Plus Jakarta Sans"/>
                <a:sym typeface="Plus Jakarta Sans"/>
              </a:rPr>
              <a:t>, and includes icons by </a:t>
            </a:r>
            <a:r>
              <a:rPr b="1" lang="en" sz="1200">
                <a:solidFill>
                  <a:schemeClr val="dk1"/>
                </a:solidFill>
                <a:uFill>
                  <a:noFill/>
                </a:uFill>
                <a:latin typeface="Plus Jakarta Sans"/>
                <a:ea typeface="Plus Jakarta Sans"/>
                <a:cs typeface="Plus Jakarta Sans"/>
                <a:sym typeface="Plus Jakarta Sans"/>
                <a:hlinkClick r:id="rId3">
                  <a:extLst>
                    <a:ext uri="{A12FA001-AC4F-418D-AE19-62706E023703}">
                      <ahyp:hlinkClr val="tx"/>
                    </a:ext>
                  </a:extLst>
                </a:hlinkClick>
              </a:rPr>
              <a:t>Flaticon</a:t>
            </a:r>
            <a:r>
              <a:rPr lang="en" sz="1200">
                <a:solidFill>
                  <a:schemeClr val="dk1"/>
                </a:solidFill>
                <a:latin typeface="Plus Jakarta Sans"/>
                <a:ea typeface="Plus Jakarta Sans"/>
                <a:cs typeface="Plus Jakarta Sans"/>
                <a:sym typeface="Plus Jakarta Sans"/>
              </a:rPr>
              <a:t>, and infographics &amp; images by </a:t>
            </a:r>
            <a:r>
              <a:rPr b="1" lang="en" sz="1200">
                <a:solidFill>
                  <a:schemeClr val="dk1"/>
                </a:solidFill>
                <a:uFill>
                  <a:noFill/>
                </a:uFill>
                <a:latin typeface="Plus Jakarta Sans"/>
                <a:ea typeface="Plus Jakarta Sans"/>
                <a:cs typeface="Plus Jakarta Sans"/>
                <a:sym typeface="Plus Jakarta Sans"/>
                <a:hlinkClick r:id="rId4">
                  <a:extLst>
                    <a:ext uri="{A12FA001-AC4F-418D-AE19-62706E023703}">
                      <ahyp:hlinkClr val="tx"/>
                    </a:ext>
                  </a:extLst>
                </a:hlinkClick>
              </a:rPr>
              <a:t>Freepik</a:t>
            </a:r>
            <a:r>
              <a:rPr lang="en" sz="1200">
                <a:solidFill>
                  <a:schemeClr val="dk1"/>
                </a:solidFill>
                <a:latin typeface="Plus Jakarta Sans"/>
                <a:ea typeface="Plus Jakarta Sans"/>
                <a:cs typeface="Plus Jakarta Sans"/>
                <a:sym typeface="Plus Jakarta Sans"/>
              </a:rPr>
              <a:t> </a:t>
            </a:r>
            <a:endParaRPr b="1" sz="1200">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85" name="Shape 985"/>
        <p:cNvGrpSpPr/>
        <p:nvPr/>
      </p:nvGrpSpPr>
      <p:grpSpPr>
        <a:xfrm>
          <a:off x="0" y="0"/>
          <a:ext cx="0" cy="0"/>
          <a:chOff x="0" y="0"/>
          <a:chExt cx="0" cy="0"/>
        </a:xfrm>
      </p:grpSpPr>
      <p:grpSp>
        <p:nvGrpSpPr>
          <p:cNvPr id="986" name="Google Shape;986;p28"/>
          <p:cNvGrpSpPr/>
          <p:nvPr/>
        </p:nvGrpSpPr>
        <p:grpSpPr>
          <a:xfrm>
            <a:off x="-637104" y="-1568972"/>
            <a:ext cx="11841201" cy="9795847"/>
            <a:chOff x="-637104" y="-1568972"/>
            <a:chExt cx="11841201" cy="9795847"/>
          </a:xfrm>
        </p:grpSpPr>
        <p:grpSp>
          <p:nvGrpSpPr>
            <p:cNvPr id="987" name="Google Shape;987;p28"/>
            <p:cNvGrpSpPr/>
            <p:nvPr/>
          </p:nvGrpSpPr>
          <p:grpSpPr>
            <a:xfrm flipH="1" rot="5400000">
              <a:off x="-2046531" y="-159545"/>
              <a:ext cx="4030101" cy="1211247"/>
              <a:chOff x="430469" y="4172355"/>
              <a:chExt cx="4030101" cy="1211247"/>
            </a:xfrm>
          </p:grpSpPr>
          <p:grpSp>
            <p:nvGrpSpPr>
              <p:cNvPr id="988" name="Google Shape;988;p28"/>
              <p:cNvGrpSpPr/>
              <p:nvPr/>
            </p:nvGrpSpPr>
            <p:grpSpPr>
              <a:xfrm flipH="1" rot="5538019">
                <a:off x="1919568" y="2782430"/>
                <a:ext cx="1051902" cy="3991097"/>
                <a:chOff x="5485075" y="3521900"/>
                <a:chExt cx="506850" cy="1923075"/>
              </a:xfrm>
            </p:grpSpPr>
            <p:sp>
              <p:nvSpPr>
                <p:cNvPr id="989" name="Google Shape;989;p28"/>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8"/>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8"/>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8"/>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8"/>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8"/>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8"/>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8"/>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8"/>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8"/>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9" name="Google Shape;999;p28"/>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0" name="Google Shape;1000;p28"/>
            <p:cNvGrpSpPr/>
            <p:nvPr/>
          </p:nvGrpSpPr>
          <p:grpSpPr>
            <a:xfrm rot="5400000">
              <a:off x="7779246" y="-1792341"/>
              <a:ext cx="2186019" cy="4663683"/>
              <a:chOff x="3061750" y="2798625"/>
              <a:chExt cx="1053300" cy="2247125"/>
            </a:xfrm>
          </p:grpSpPr>
          <p:grpSp>
            <p:nvGrpSpPr>
              <p:cNvPr id="1001" name="Google Shape;1001;p28"/>
              <p:cNvGrpSpPr/>
              <p:nvPr/>
            </p:nvGrpSpPr>
            <p:grpSpPr>
              <a:xfrm>
                <a:off x="3061750" y="2798625"/>
                <a:ext cx="1053300" cy="2247125"/>
                <a:chOff x="3682050" y="2775150"/>
                <a:chExt cx="1053300" cy="2247125"/>
              </a:xfrm>
            </p:grpSpPr>
            <p:sp>
              <p:nvSpPr>
                <p:cNvPr id="1002" name="Google Shape;1002;p28"/>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8"/>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8"/>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8"/>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8"/>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8"/>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8"/>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8"/>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8"/>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8"/>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8"/>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8"/>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8"/>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8"/>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8"/>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7" name="Google Shape;1017;p28"/>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8"/>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8"/>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0" name="Google Shape;1020;p28"/>
            <p:cNvGrpSpPr/>
            <p:nvPr/>
          </p:nvGrpSpPr>
          <p:grpSpPr>
            <a:xfrm rot="-10536040">
              <a:off x="8286973" y="1806219"/>
              <a:ext cx="1358255" cy="6377958"/>
              <a:chOff x="4851025" y="424250"/>
              <a:chExt cx="654450" cy="3073100"/>
            </a:xfrm>
          </p:grpSpPr>
          <p:sp>
            <p:nvSpPr>
              <p:cNvPr id="1021" name="Google Shape;1021;p28"/>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8"/>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8"/>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8"/>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8"/>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8"/>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8"/>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8"/>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8"/>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8"/>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8"/>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8"/>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8"/>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8"/>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8"/>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8"/>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8"/>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038" name="Shape 1038"/>
        <p:cNvGrpSpPr/>
        <p:nvPr/>
      </p:nvGrpSpPr>
      <p:grpSpPr>
        <a:xfrm>
          <a:off x="0" y="0"/>
          <a:ext cx="0" cy="0"/>
          <a:chOff x="0" y="0"/>
          <a:chExt cx="0" cy="0"/>
        </a:xfrm>
      </p:grpSpPr>
      <p:grpSp>
        <p:nvGrpSpPr>
          <p:cNvPr id="1039" name="Google Shape;1039;p29"/>
          <p:cNvGrpSpPr/>
          <p:nvPr/>
        </p:nvGrpSpPr>
        <p:grpSpPr>
          <a:xfrm>
            <a:off x="-1545742" y="-135645"/>
            <a:ext cx="14095135" cy="6259329"/>
            <a:chOff x="-1545742" y="-135645"/>
            <a:chExt cx="14095135" cy="6259329"/>
          </a:xfrm>
        </p:grpSpPr>
        <p:grpSp>
          <p:nvGrpSpPr>
            <p:cNvPr id="1040" name="Google Shape;1040;p29"/>
            <p:cNvGrpSpPr/>
            <p:nvPr/>
          </p:nvGrpSpPr>
          <p:grpSpPr>
            <a:xfrm flipH="1" rot="10800000">
              <a:off x="-1545742" y="987876"/>
              <a:ext cx="4482760" cy="4754793"/>
              <a:chOff x="4204225" y="2144350"/>
              <a:chExt cx="2159950" cy="2291025"/>
            </a:xfrm>
          </p:grpSpPr>
          <p:sp>
            <p:nvSpPr>
              <p:cNvPr id="1041" name="Google Shape;1041;p29"/>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9"/>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9"/>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9"/>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9"/>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9"/>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9"/>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9"/>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9"/>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9"/>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9"/>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9"/>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9"/>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9"/>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9"/>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9"/>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9"/>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9"/>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9" name="Google Shape;1059;p29"/>
            <p:cNvGrpSpPr/>
            <p:nvPr/>
          </p:nvGrpSpPr>
          <p:grpSpPr>
            <a:xfrm flipH="1">
              <a:off x="6083170" y="-135645"/>
              <a:ext cx="6466222" cy="6259329"/>
              <a:chOff x="-3358617" y="-151795"/>
              <a:chExt cx="6466222" cy="6259329"/>
            </a:xfrm>
          </p:grpSpPr>
          <p:grpSp>
            <p:nvGrpSpPr>
              <p:cNvPr id="1060" name="Google Shape;1060;p29"/>
              <p:cNvGrpSpPr/>
              <p:nvPr/>
            </p:nvGrpSpPr>
            <p:grpSpPr>
              <a:xfrm rot="5675928">
                <a:off x="-804623" y="1985994"/>
                <a:ext cx="1358233" cy="6377855"/>
                <a:chOff x="4851025" y="424250"/>
                <a:chExt cx="654450" cy="3073100"/>
              </a:xfrm>
            </p:grpSpPr>
            <p:sp>
              <p:nvSpPr>
                <p:cNvPr id="1061" name="Google Shape;1061;p29"/>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9"/>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9"/>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9"/>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9"/>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9"/>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9"/>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9"/>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9"/>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9"/>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9"/>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9"/>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9"/>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9"/>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9"/>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9"/>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9"/>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8" name="Google Shape;1078;p29"/>
              <p:cNvGrpSpPr/>
              <p:nvPr/>
            </p:nvGrpSpPr>
            <p:grpSpPr>
              <a:xfrm>
                <a:off x="-327715" y="-151795"/>
                <a:ext cx="2186019" cy="4663683"/>
                <a:chOff x="3061750" y="2798625"/>
                <a:chExt cx="1053300" cy="2247125"/>
              </a:xfrm>
            </p:grpSpPr>
            <p:grpSp>
              <p:nvGrpSpPr>
                <p:cNvPr id="1079" name="Google Shape;1079;p29"/>
                <p:cNvGrpSpPr/>
                <p:nvPr/>
              </p:nvGrpSpPr>
              <p:grpSpPr>
                <a:xfrm>
                  <a:off x="3061750" y="2798625"/>
                  <a:ext cx="1053300" cy="2247125"/>
                  <a:chOff x="3682050" y="2775150"/>
                  <a:chExt cx="1053300" cy="2247125"/>
                </a:xfrm>
              </p:grpSpPr>
              <p:sp>
                <p:nvSpPr>
                  <p:cNvPr id="1080" name="Google Shape;1080;p29"/>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9"/>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9"/>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9"/>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9"/>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9"/>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9"/>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9"/>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9"/>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9"/>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9"/>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9"/>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9"/>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9"/>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9"/>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5" name="Google Shape;1095;p29"/>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9"/>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9"/>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50" y="539500"/>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Plus Jakarta Sans SemiBold"/>
              <a:buNone/>
              <a:defRPr sz="3500">
                <a:solidFill>
                  <a:schemeClr val="dk1"/>
                </a:solidFill>
                <a:latin typeface="Plus Jakarta Sans SemiBold"/>
                <a:ea typeface="Plus Jakarta Sans SemiBold"/>
                <a:cs typeface="Plus Jakarta Sans SemiBold"/>
                <a:sym typeface="Plus Jakarta Sans SemiBold"/>
              </a:defRPr>
            </a:lvl1pPr>
            <a:lvl2pPr lvl="1" rtl="0">
              <a:spcBef>
                <a:spcPts val="0"/>
              </a:spcBef>
              <a:spcAft>
                <a:spcPts val="0"/>
              </a:spcAft>
              <a:buClr>
                <a:schemeClr val="dk1"/>
              </a:buClr>
              <a:buSzPts val="3500"/>
              <a:buFont typeface="Plus Jakarta Sans"/>
              <a:buNone/>
              <a:defRPr sz="3500">
                <a:solidFill>
                  <a:schemeClr val="dk1"/>
                </a:solidFill>
                <a:latin typeface="Plus Jakarta Sans"/>
                <a:ea typeface="Plus Jakarta Sans"/>
                <a:cs typeface="Plus Jakarta Sans"/>
                <a:sym typeface="Plus Jakarta Sans"/>
              </a:defRPr>
            </a:lvl2pPr>
            <a:lvl3pPr lvl="2" rtl="0">
              <a:spcBef>
                <a:spcPts val="0"/>
              </a:spcBef>
              <a:spcAft>
                <a:spcPts val="0"/>
              </a:spcAft>
              <a:buClr>
                <a:schemeClr val="dk1"/>
              </a:buClr>
              <a:buSzPts val="3500"/>
              <a:buFont typeface="Plus Jakarta Sans"/>
              <a:buNone/>
              <a:defRPr sz="3500">
                <a:solidFill>
                  <a:schemeClr val="dk1"/>
                </a:solidFill>
                <a:latin typeface="Plus Jakarta Sans"/>
                <a:ea typeface="Plus Jakarta Sans"/>
                <a:cs typeface="Plus Jakarta Sans"/>
                <a:sym typeface="Plus Jakarta Sans"/>
              </a:defRPr>
            </a:lvl3pPr>
            <a:lvl4pPr lvl="3" rtl="0">
              <a:spcBef>
                <a:spcPts val="0"/>
              </a:spcBef>
              <a:spcAft>
                <a:spcPts val="0"/>
              </a:spcAft>
              <a:buClr>
                <a:schemeClr val="dk1"/>
              </a:buClr>
              <a:buSzPts val="3500"/>
              <a:buFont typeface="Plus Jakarta Sans"/>
              <a:buNone/>
              <a:defRPr sz="3500">
                <a:solidFill>
                  <a:schemeClr val="dk1"/>
                </a:solidFill>
                <a:latin typeface="Plus Jakarta Sans"/>
                <a:ea typeface="Plus Jakarta Sans"/>
                <a:cs typeface="Plus Jakarta Sans"/>
                <a:sym typeface="Plus Jakarta Sans"/>
              </a:defRPr>
            </a:lvl4pPr>
            <a:lvl5pPr lvl="4" rtl="0">
              <a:spcBef>
                <a:spcPts val="0"/>
              </a:spcBef>
              <a:spcAft>
                <a:spcPts val="0"/>
              </a:spcAft>
              <a:buClr>
                <a:schemeClr val="dk1"/>
              </a:buClr>
              <a:buSzPts val="3500"/>
              <a:buFont typeface="Plus Jakarta Sans"/>
              <a:buNone/>
              <a:defRPr sz="3500">
                <a:solidFill>
                  <a:schemeClr val="dk1"/>
                </a:solidFill>
                <a:latin typeface="Plus Jakarta Sans"/>
                <a:ea typeface="Plus Jakarta Sans"/>
                <a:cs typeface="Plus Jakarta Sans"/>
                <a:sym typeface="Plus Jakarta Sans"/>
              </a:defRPr>
            </a:lvl5pPr>
            <a:lvl6pPr lvl="5" rtl="0">
              <a:spcBef>
                <a:spcPts val="0"/>
              </a:spcBef>
              <a:spcAft>
                <a:spcPts val="0"/>
              </a:spcAft>
              <a:buClr>
                <a:schemeClr val="dk1"/>
              </a:buClr>
              <a:buSzPts val="3500"/>
              <a:buFont typeface="Plus Jakarta Sans"/>
              <a:buNone/>
              <a:defRPr sz="3500">
                <a:solidFill>
                  <a:schemeClr val="dk1"/>
                </a:solidFill>
                <a:latin typeface="Plus Jakarta Sans"/>
                <a:ea typeface="Plus Jakarta Sans"/>
                <a:cs typeface="Plus Jakarta Sans"/>
                <a:sym typeface="Plus Jakarta Sans"/>
              </a:defRPr>
            </a:lvl6pPr>
            <a:lvl7pPr lvl="6" rtl="0">
              <a:spcBef>
                <a:spcPts val="0"/>
              </a:spcBef>
              <a:spcAft>
                <a:spcPts val="0"/>
              </a:spcAft>
              <a:buClr>
                <a:schemeClr val="dk1"/>
              </a:buClr>
              <a:buSzPts val="3500"/>
              <a:buFont typeface="Plus Jakarta Sans"/>
              <a:buNone/>
              <a:defRPr sz="3500">
                <a:solidFill>
                  <a:schemeClr val="dk1"/>
                </a:solidFill>
                <a:latin typeface="Plus Jakarta Sans"/>
                <a:ea typeface="Plus Jakarta Sans"/>
                <a:cs typeface="Plus Jakarta Sans"/>
                <a:sym typeface="Plus Jakarta Sans"/>
              </a:defRPr>
            </a:lvl7pPr>
            <a:lvl8pPr lvl="7" rtl="0">
              <a:spcBef>
                <a:spcPts val="0"/>
              </a:spcBef>
              <a:spcAft>
                <a:spcPts val="0"/>
              </a:spcAft>
              <a:buClr>
                <a:schemeClr val="dk1"/>
              </a:buClr>
              <a:buSzPts val="3500"/>
              <a:buFont typeface="Plus Jakarta Sans"/>
              <a:buNone/>
              <a:defRPr sz="3500">
                <a:solidFill>
                  <a:schemeClr val="dk1"/>
                </a:solidFill>
                <a:latin typeface="Plus Jakarta Sans"/>
                <a:ea typeface="Plus Jakarta Sans"/>
                <a:cs typeface="Plus Jakarta Sans"/>
                <a:sym typeface="Plus Jakarta Sans"/>
              </a:defRPr>
            </a:lvl8pPr>
            <a:lvl9pPr lvl="8" rtl="0">
              <a:spcBef>
                <a:spcPts val="0"/>
              </a:spcBef>
              <a:spcAft>
                <a:spcPts val="0"/>
              </a:spcAft>
              <a:buClr>
                <a:schemeClr val="dk1"/>
              </a:buClr>
              <a:buSzPts val="3500"/>
              <a:buFont typeface="Plus Jakarta Sans"/>
              <a:buNone/>
              <a:defRPr sz="3500">
                <a:solidFill>
                  <a:schemeClr val="dk1"/>
                </a:solidFill>
                <a:latin typeface="Plus Jakarta Sans"/>
                <a:ea typeface="Plus Jakarta Sans"/>
                <a:cs typeface="Plus Jakarta Sans"/>
                <a:sym typeface="Plus Jakarta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1150" lvl="0" marL="457200">
              <a:lnSpc>
                <a:spcPct val="100000"/>
              </a:lnSpc>
              <a:spcBef>
                <a:spcPts val="0"/>
              </a:spcBef>
              <a:spcAft>
                <a:spcPts val="0"/>
              </a:spcAft>
              <a:buClr>
                <a:schemeClr val="dk1"/>
              </a:buClr>
              <a:buSzPts val="1300"/>
              <a:buFont typeface="Plus Jakarta Sans"/>
              <a:buChar char="●"/>
              <a:defRPr sz="1300">
                <a:solidFill>
                  <a:schemeClr val="dk1"/>
                </a:solidFill>
                <a:latin typeface="Plus Jakarta Sans"/>
                <a:ea typeface="Plus Jakarta Sans"/>
                <a:cs typeface="Plus Jakarta Sans"/>
                <a:sym typeface="Plus Jakarta Sans"/>
              </a:defRPr>
            </a:lvl1pPr>
            <a:lvl2pPr indent="-311150" lvl="1" marL="914400">
              <a:lnSpc>
                <a:spcPct val="100000"/>
              </a:lnSpc>
              <a:spcBef>
                <a:spcPts val="0"/>
              </a:spcBef>
              <a:spcAft>
                <a:spcPts val="0"/>
              </a:spcAft>
              <a:buClr>
                <a:schemeClr val="dk1"/>
              </a:buClr>
              <a:buSzPts val="1300"/>
              <a:buFont typeface="Plus Jakarta Sans"/>
              <a:buChar char="○"/>
              <a:defRPr sz="1300">
                <a:solidFill>
                  <a:schemeClr val="dk1"/>
                </a:solidFill>
                <a:latin typeface="Plus Jakarta Sans"/>
                <a:ea typeface="Plus Jakarta Sans"/>
                <a:cs typeface="Plus Jakarta Sans"/>
                <a:sym typeface="Plus Jakarta Sans"/>
              </a:defRPr>
            </a:lvl2pPr>
            <a:lvl3pPr indent="-311150" lvl="2" marL="1371600">
              <a:lnSpc>
                <a:spcPct val="100000"/>
              </a:lnSpc>
              <a:spcBef>
                <a:spcPts val="0"/>
              </a:spcBef>
              <a:spcAft>
                <a:spcPts val="0"/>
              </a:spcAft>
              <a:buClr>
                <a:schemeClr val="dk1"/>
              </a:buClr>
              <a:buSzPts val="1300"/>
              <a:buFont typeface="Plus Jakarta Sans"/>
              <a:buChar char="■"/>
              <a:defRPr sz="1300">
                <a:solidFill>
                  <a:schemeClr val="dk1"/>
                </a:solidFill>
                <a:latin typeface="Plus Jakarta Sans"/>
                <a:ea typeface="Plus Jakarta Sans"/>
                <a:cs typeface="Plus Jakarta Sans"/>
                <a:sym typeface="Plus Jakarta Sans"/>
              </a:defRPr>
            </a:lvl3pPr>
            <a:lvl4pPr indent="-311150" lvl="3" marL="1828800">
              <a:lnSpc>
                <a:spcPct val="100000"/>
              </a:lnSpc>
              <a:spcBef>
                <a:spcPts val="0"/>
              </a:spcBef>
              <a:spcAft>
                <a:spcPts val="0"/>
              </a:spcAft>
              <a:buClr>
                <a:schemeClr val="dk1"/>
              </a:buClr>
              <a:buSzPts val="1300"/>
              <a:buFont typeface="Plus Jakarta Sans"/>
              <a:buChar char="●"/>
              <a:defRPr sz="1300">
                <a:solidFill>
                  <a:schemeClr val="dk1"/>
                </a:solidFill>
                <a:latin typeface="Plus Jakarta Sans"/>
                <a:ea typeface="Plus Jakarta Sans"/>
                <a:cs typeface="Plus Jakarta Sans"/>
                <a:sym typeface="Plus Jakarta Sans"/>
              </a:defRPr>
            </a:lvl4pPr>
            <a:lvl5pPr indent="-311150" lvl="4" marL="2286000">
              <a:lnSpc>
                <a:spcPct val="100000"/>
              </a:lnSpc>
              <a:spcBef>
                <a:spcPts val="0"/>
              </a:spcBef>
              <a:spcAft>
                <a:spcPts val="0"/>
              </a:spcAft>
              <a:buClr>
                <a:schemeClr val="dk1"/>
              </a:buClr>
              <a:buSzPts val="1300"/>
              <a:buFont typeface="Plus Jakarta Sans"/>
              <a:buChar char="○"/>
              <a:defRPr sz="1300">
                <a:solidFill>
                  <a:schemeClr val="dk1"/>
                </a:solidFill>
                <a:latin typeface="Plus Jakarta Sans"/>
                <a:ea typeface="Plus Jakarta Sans"/>
                <a:cs typeface="Plus Jakarta Sans"/>
                <a:sym typeface="Plus Jakarta Sans"/>
              </a:defRPr>
            </a:lvl5pPr>
            <a:lvl6pPr indent="-311150" lvl="5" marL="2743200">
              <a:lnSpc>
                <a:spcPct val="100000"/>
              </a:lnSpc>
              <a:spcBef>
                <a:spcPts val="0"/>
              </a:spcBef>
              <a:spcAft>
                <a:spcPts val="0"/>
              </a:spcAft>
              <a:buClr>
                <a:schemeClr val="dk1"/>
              </a:buClr>
              <a:buSzPts val="1300"/>
              <a:buFont typeface="Plus Jakarta Sans"/>
              <a:buChar char="■"/>
              <a:defRPr sz="1300">
                <a:solidFill>
                  <a:schemeClr val="dk1"/>
                </a:solidFill>
                <a:latin typeface="Plus Jakarta Sans"/>
                <a:ea typeface="Plus Jakarta Sans"/>
                <a:cs typeface="Plus Jakarta Sans"/>
                <a:sym typeface="Plus Jakarta Sans"/>
              </a:defRPr>
            </a:lvl6pPr>
            <a:lvl7pPr indent="-311150" lvl="6" marL="3200400">
              <a:lnSpc>
                <a:spcPct val="100000"/>
              </a:lnSpc>
              <a:spcBef>
                <a:spcPts val="0"/>
              </a:spcBef>
              <a:spcAft>
                <a:spcPts val="0"/>
              </a:spcAft>
              <a:buClr>
                <a:schemeClr val="dk1"/>
              </a:buClr>
              <a:buSzPts val="1300"/>
              <a:buFont typeface="Plus Jakarta Sans"/>
              <a:buChar char="●"/>
              <a:defRPr sz="1300">
                <a:solidFill>
                  <a:schemeClr val="dk1"/>
                </a:solidFill>
                <a:latin typeface="Plus Jakarta Sans"/>
                <a:ea typeface="Plus Jakarta Sans"/>
                <a:cs typeface="Plus Jakarta Sans"/>
                <a:sym typeface="Plus Jakarta Sans"/>
              </a:defRPr>
            </a:lvl7pPr>
            <a:lvl8pPr indent="-311150" lvl="7" marL="3657600">
              <a:lnSpc>
                <a:spcPct val="100000"/>
              </a:lnSpc>
              <a:spcBef>
                <a:spcPts val="0"/>
              </a:spcBef>
              <a:spcAft>
                <a:spcPts val="0"/>
              </a:spcAft>
              <a:buClr>
                <a:schemeClr val="dk1"/>
              </a:buClr>
              <a:buSzPts val="1300"/>
              <a:buFont typeface="Plus Jakarta Sans"/>
              <a:buChar char="○"/>
              <a:defRPr sz="1300">
                <a:solidFill>
                  <a:schemeClr val="dk1"/>
                </a:solidFill>
                <a:latin typeface="Plus Jakarta Sans"/>
                <a:ea typeface="Plus Jakarta Sans"/>
                <a:cs typeface="Plus Jakarta Sans"/>
                <a:sym typeface="Plus Jakarta Sans"/>
              </a:defRPr>
            </a:lvl8pPr>
            <a:lvl9pPr indent="-311150" lvl="8" marL="4114800">
              <a:lnSpc>
                <a:spcPct val="100000"/>
              </a:lnSpc>
              <a:spcBef>
                <a:spcPts val="0"/>
              </a:spcBef>
              <a:spcAft>
                <a:spcPts val="0"/>
              </a:spcAft>
              <a:buClr>
                <a:schemeClr val="dk1"/>
              </a:buClr>
              <a:buSzPts val="1300"/>
              <a:buFont typeface="Plus Jakarta Sans"/>
              <a:buChar char="■"/>
              <a:defRPr sz="1300">
                <a:solidFill>
                  <a:schemeClr val="dk1"/>
                </a:solidFill>
                <a:latin typeface="Plus Jakarta Sans"/>
                <a:ea typeface="Plus Jakarta Sans"/>
                <a:cs typeface="Plus Jakarta Sans"/>
                <a:sym typeface="Plus Jakarta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hyperlink" Target="https://data.ny.gov/Transportation/MTA-Congestion-Relief-Zone-Vehicle-Entries-Beginni/t6yz-b64h/about_data" TargetMode="External"/><Relationship Id="rId4" Type="http://schemas.openxmlformats.org/officeDocument/2006/relationships/hyperlink" Target="https://subwaydata.nyc/explore-the-dat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grpSp>
        <p:nvGrpSpPr>
          <p:cNvPr id="1102" name="Google Shape;1102;p30"/>
          <p:cNvGrpSpPr/>
          <p:nvPr/>
        </p:nvGrpSpPr>
        <p:grpSpPr>
          <a:xfrm rot="10800000">
            <a:off x="6042667" y="270545"/>
            <a:ext cx="4482760" cy="4754793"/>
            <a:chOff x="4204225" y="2144350"/>
            <a:chExt cx="2159950" cy="2291025"/>
          </a:xfrm>
        </p:grpSpPr>
        <p:sp>
          <p:nvSpPr>
            <p:cNvPr id="1103" name="Google Shape;1103;p30"/>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0"/>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0"/>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0"/>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0"/>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0"/>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0"/>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0"/>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0"/>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0"/>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0"/>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0"/>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0"/>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0"/>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0"/>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0"/>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0"/>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0"/>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1" name="Google Shape;1121;p30"/>
          <p:cNvGrpSpPr/>
          <p:nvPr/>
        </p:nvGrpSpPr>
        <p:grpSpPr>
          <a:xfrm rot="5604526">
            <a:off x="-375805" y="1445285"/>
            <a:ext cx="1358227" cy="6377825"/>
            <a:chOff x="4851025" y="424250"/>
            <a:chExt cx="654450" cy="3073100"/>
          </a:xfrm>
        </p:grpSpPr>
        <p:sp>
          <p:nvSpPr>
            <p:cNvPr id="1122" name="Google Shape;1122;p30"/>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0"/>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0"/>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0"/>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0"/>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0"/>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0"/>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0"/>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0"/>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0"/>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0"/>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0"/>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0"/>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0"/>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0"/>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0"/>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0"/>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9" name="Google Shape;1139;p30"/>
          <p:cNvSpPr txBox="1"/>
          <p:nvPr>
            <p:ph type="ctrTitle"/>
          </p:nvPr>
        </p:nvSpPr>
        <p:spPr>
          <a:xfrm>
            <a:off x="713250" y="539500"/>
            <a:ext cx="7717500" cy="182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100"/>
              <a:t>M</a:t>
            </a:r>
            <a:r>
              <a:rPr lang="en" sz="5100"/>
              <a:t>anhattan Congestion Relief Zone Forecasting</a:t>
            </a:r>
            <a:endParaRPr sz="5100"/>
          </a:p>
        </p:txBody>
      </p:sp>
      <p:sp>
        <p:nvSpPr>
          <p:cNvPr id="1140" name="Google Shape;1140;p30"/>
          <p:cNvSpPr txBox="1"/>
          <p:nvPr>
            <p:ph idx="1" type="subTitle"/>
          </p:nvPr>
        </p:nvSpPr>
        <p:spPr>
          <a:xfrm>
            <a:off x="713250" y="2625775"/>
            <a:ext cx="7205700" cy="11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t>
            </a:r>
            <a:r>
              <a:rPr lang="en"/>
              <a:t>o</a:t>
            </a:r>
            <a:r>
              <a:rPr lang="en"/>
              <a:t>up 30 Members: Sriathmiha K Bhaskaran, Sarah Friedrichs, Nimit Sharma, Anoosha Thumma, Emily Jin Yang</a:t>
            </a:r>
            <a:endParaRPr/>
          </a:p>
          <a:p>
            <a:pPr indent="0" lvl="0" marL="0" rtl="0" algn="l">
              <a:spcBef>
                <a:spcPts val="0"/>
              </a:spcBef>
              <a:spcAft>
                <a:spcPts val="0"/>
              </a:spcAft>
              <a:buNone/>
            </a:pPr>
            <a:r>
              <a:t/>
            </a:r>
            <a:endParaRPr/>
          </a:p>
        </p:txBody>
      </p:sp>
      <p:grpSp>
        <p:nvGrpSpPr>
          <p:cNvPr id="1141" name="Google Shape;1141;p30"/>
          <p:cNvGrpSpPr/>
          <p:nvPr/>
        </p:nvGrpSpPr>
        <p:grpSpPr>
          <a:xfrm>
            <a:off x="-688154" y="3278934"/>
            <a:ext cx="2186019" cy="4663683"/>
            <a:chOff x="3061750" y="2798625"/>
            <a:chExt cx="1053300" cy="2247125"/>
          </a:xfrm>
        </p:grpSpPr>
        <p:grpSp>
          <p:nvGrpSpPr>
            <p:cNvPr id="1142" name="Google Shape;1142;p30"/>
            <p:cNvGrpSpPr/>
            <p:nvPr/>
          </p:nvGrpSpPr>
          <p:grpSpPr>
            <a:xfrm>
              <a:off x="3061750" y="2798625"/>
              <a:ext cx="1053300" cy="2247125"/>
              <a:chOff x="3682050" y="2775150"/>
              <a:chExt cx="1053300" cy="2247125"/>
            </a:xfrm>
          </p:grpSpPr>
          <p:sp>
            <p:nvSpPr>
              <p:cNvPr id="1143" name="Google Shape;1143;p30"/>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0"/>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0"/>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0"/>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0"/>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0"/>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0"/>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0"/>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0"/>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0"/>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0"/>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0"/>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0"/>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0"/>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0"/>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8" name="Google Shape;1158;p30"/>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0"/>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0"/>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1" name="Google Shape;1161;p30"/>
          <p:cNvGrpSpPr/>
          <p:nvPr/>
        </p:nvGrpSpPr>
        <p:grpSpPr>
          <a:xfrm>
            <a:off x="-2187687" y="3642676"/>
            <a:ext cx="4755675" cy="2338198"/>
            <a:chOff x="5910900" y="252875"/>
            <a:chExt cx="2291450" cy="1126625"/>
          </a:xfrm>
        </p:grpSpPr>
        <p:sp>
          <p:nvSpPr>
            <p:cNvPr id="1162" name="Google Shape;1162;p30"/>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0"/>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0"/>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0"/>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0"/>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0"/>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0"/>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0"/>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0"/>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0"/>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0"/>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0"/>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0"/>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5" name="Google Shape;1175;p30"/>
          <p:cNvGrpSpPr/>
          <p:nvPr/>
        </p:nvGrpSpPr>
        <p:grpSpPr>
          <a:xfrm>
            <a:off x="4971498" y="-263898"/>
            <a:ext cx="3848803" cy="5689424"/>
            <a:chOff x="939875" y="457213"/>
            <a:chExt cx="1854488" cy="2741363"/>
          </a:xfrm>
        </p:grpSpPr>
        <p:sp>
          <p:nvSpPr>
            <p:cNvPr id="1176" name="Google Shape;1176;p30"/>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0"/>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0"/>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0"/>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0"/>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0"/>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0"/>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0"/>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0"/>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0"/>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0"/>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0"/>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0"/>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0"/>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0"/>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0"/>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0"/>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0"/>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0"/>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0"/>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0"/>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0"/>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0"/>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0"/>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0"/>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0"/>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31"/>
          <p:cNvSpPr txBox="1"/>
          <p:nvPr>
            <p:ph type="title"/>
          </p:nvPr>
        </p:nvSpPr>
        <p:spPr>
          <a:xfrm flipH="1">
            <a:off x="3972150" y="3027550"/>
            <a:ext cx="5079900" cy="138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Introduction </a:t>
            </a:r>
            <a:endParaRPr sz="4000"/>
          </a:p>
        </p:txBody>
      </p:sp>
      <p:sp>
        <p:nvSpPr>
          <p:cNvPr id="1207" name="Google Shape;1207;p31"/>
          <p:cNvSpPr txBox="1"/>
          <p:nvPr>
            <p:ph idx="2" type="title"/>
          </p:nvPr>
        </p:nvSpPr>
        <p:spPr>
          <a:xfrm>
            <a:off x="3855175" y="2269175"/>
            <a:ext cx="1180800" cy="86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grpSp>
        <p:nvGrpSpPr>
          <p:cNvPr id="1208" name="Google Shape;1208;p31"/>
          <p:cNvGrpSpPr/>
          <p:nvPr/>
        </p:nvGrpSpPr>
        <p:grpSpPr>
          <a:xfrm flipH="1" rot="10800000">
            <a:off x="2438542" y="3027557"/>
            <a:ext cx="4482760" cy="4754793"/>
            <a:chOff x="4204225" y="2144350"/>
            <a:chExt cx="2159950" cy="2291025"/>
          </a:xfrm>
        </p:grpSpPr>
        <p:sp>
          <p:nvSpPr>
            <p:cNvPr id="1209" name="Google Shape;1209;p31"/>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1"/>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1"/>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1"/>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1"/>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1"/>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1"/>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1"/>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1"/>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1"/>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1"/>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1"/>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1"/>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1"/>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1"/>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1"/>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1"/>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1"/>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7" name="Google Shape;1227;p31"/>
          <p:cNvGrpSpPr/>
          <p:nvPr/>
        </p:nvGrpSpPr>
        <p:grpSpPr>
          <a:xfrm rot="5604526">
            <a:off x="-73105" y="-1205015"/>
            <a:ext cx="1358227" cy="6377825"/>
            <a:chOff x="4851025" y="424250"/>
            <a:chExt cx="654450" cy="3073100"/>
          </a:xfrm>
        </p:grpSpPr>
        <p:sp>
          <p:nvSpPr>
            <p:cNvPr id="1228" name="Google Shape;1228;p31"/>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1"/>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1"/>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1"/>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1"/>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1"/>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1"/>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1"/>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1"/>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1"/>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1"/>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1"/>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1"/>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1"/>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1"/>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1"/>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1"/>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5" name="Google Shape;1245;p31"/>
          <p:cNvGrpSpPr/>
          <p:nvPr/>
        </p:nvGrpSpPr>
        <p:grpSpPr>
          <a:xfrm flipH="1" rot="-5400000">
            <a:off x="6940748" y="-1917686"/>
            <a:ext cx="3848803" cy="5689424"/>
            <a:chOff x="939875" y="457213"/>
            <a:chExt cx="1854488" cy="2741363"/>
          </a:xfrm>
        </p:grpSpPr>
        <p:sp>
          <p:nvSpPr>
            <p:cNvPr id="1246" name="Google Shape;1246;p31"/>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1"/>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1"/>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1"/>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1"/>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1"/>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1"/>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1"/>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1"/>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1"/>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1"/>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1"/>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1"/>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1"/>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1"/>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1"/>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1"/>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1"/>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1"/>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1"/>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1"/>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1"/>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1"/>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1"/>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1"/>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1"/>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2" name="Google Shape;1272;p31"/>
          <p:cNvGrpSpPr/>
          <p:nvPr/>
        </p:nvGrpSpPr>
        <p:grpSpPr>
          <a:xfrm>
            <a:off x="-385454" y="628634"/>
            <a:ext cx="2186019" cy="4663683"/>
            <a:chOff x="3061750" y="2798625"/>
            <a:chExt cx="1053300" cy="2247125"/>
          </a:xfrm>
        </p:grpSpPr>
        <p:grpSp>
          <p:nvGrpSpPr>
            <p:cNvPr id="1273" name="Google Shape;1273;p31"/>
            <p:cNvGrpSpPr/>
            <p:nvPr/>
          </p:nvGrpSpPr>
          <p:grpSpPr>
            <a:xfrm>
              <a:off x="3061750" y="2798625"/>
              <a:ext cx="1053300" cy="2247125"/>
              <a:chOff x="3682050" y="2775150"/>
              <a:chExt cx="1053300" cy="2247125"/>
            </a:xfrm>
          </p:grpSpPr>
          <p:sp>
            <p:nvSpPr>
              <p:cNvPr id="1274" name="Google Shape;1274;p31"/>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1"/>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1"/>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1"/>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1"/>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1"/>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1"/>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1"/>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1"/>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1"/>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1"/>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1"/>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1"/>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1"/>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1"/>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9" name="Google Shape;1289;p31"/>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1"/>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1"/>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2" name="Google Shape;1292;p31"/>
          <p:cNvGrpSpPr/>
          <p:nvPr/>
        </p:nvGrpSpPr>
        <p:grpSpPr>
          <a:xfrm>
            <a:off x="-1884987" y="992376"/>
            <a:ext cx="4755675" cy="2338198"/>
            <a:chOff x="5910900" y="252875"/>
            <a:chExt cx="2291450" cy="1126625"/>
          </a:xfrm>
        </p:grpSpPr>
        <p:sp>
          <p:nvSpPr>
            <p:cNvPr id="1293" name="Google Shape;1293;p31"/>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1"/>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1"/>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1"/>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1"/>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1"/>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1"/>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1"/>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1"/>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1"/>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1"/>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1"/>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1"/>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6" name="Google Shape;1306;p31"/>
          <p:cNvGrpSpPr/>
          <p:nvPr/>
        </p:nvGrpSpPr>
        <p:grpSpPr>
          <a:xfrm>
            <a:off x="-522031" y="95655"/>
            <a:ext cx="4030101" cy="1211247"/>
            <a:chOff x="430469" y="4172355"/>
            <a:chExt cx="4030101" cy="1211247"/>
          </a:xfrm>
        </p:grpSpPr>
        <p:grpSp>
          <p:nvGrpSpPr>
            <p:cNvPr id="1307" name="Google Shape;1307;p31"/>
            <p:cNvGrpSpPr/>
            <p:nvPr/>
          </p:nvGrpSpPr>
          <p:grpSpPr>
            <a:xfrm flipH="1" rot="5538019">
              <a:off x="1919568" y="2782430"/>
              <a:ext cx="1051902" cy="3991097"/>
              <a:chOff x="5485075" y="3521900"/>
              <a:chExt cx="506850" cy="1923075"/>
            </a:xfrm>
          </p:grpSpPr>
          <p:sp>
            <p:nvSpPr>
              <p:cNvPr id="1308" name="Google Shape;1308;p31"/>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1"/>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1"/>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1"/>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1"/>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1"/>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1"/>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1"/>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1"/>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1"/>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8" name="Google Shape;1318;p31"/>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32"/>
          <p:cNvSpPr txBox="1"/>
          <p:nvPr>
            <p:ph type="title"/>
          </p:nvPr>
        </p:nvSpPr>
        <p:spPr>
          <a:xfrm>
            <a:off x="673350" y="3584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a:t>
            </a:r>
            <a:endParaRPr/>
          </a:p>
        </p:txBody>
      </p:sp>
      <p:sp>
        <p:nvSpPr>
          <p:cNvPr id="1324" name="Google Shape;1324;p32"/>
          <p:cNvSpPr txBox="1"/>
          <p:nvPr>
            <p:ph idx="2" type="subTitle"/>
          </p:nvPr>
        </p:nvSpPr>
        <p:spPr>
          <a:xfrm>
            <a:off x="673350" y="1287325"/>
            <a:ext cx="3045300" cy="34461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000000"/>
              </a:buClr>
              <a:buSzPts val="1200"/>
              <a:buChar char="●"/>
            </a:pPr>
            <a:r>
              <a:rPr lang="en" sz="1200">
                <a:solidFill>
                  <a:srgbClr val="000000"/>
                </a:solidFill>
              </a:rPr>
              <a:t>NYC’s Metropolitan Transportation Authority (MTA) introduced a Congestion Relief Zone (CRZ) in January of this year, requiring tolls on vehicles entering the area</a:t>
            </a:r>
            <a:r>
              <a:rPr lang="en" sz="1200">
                <a:solidFill>
                  <a:srgbClr val="000000"/>
                </a:solidFill>
              </a:rPr>
              <a:t>.</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lang="en" sz="1200">
                <a:solidFill>
                  <a:srgbClr val="000000"/>
                </a:solidFill>
              </a:rPr>
              <a:t>We are interested in using forecasting to analyze the efficacy of the CRZ, accounting for interactions between vehicle traffic and NYC public transit</a:t>
            </a:r>
            <a:r>
              <a:rPr lang="en" sz="1200">
                <a:solidFill>
                  <a:srgbClr val="000000"/>
                </a:solidFill>
              </a:rPr>
              <a:t>. </a:t>
            </a:r>
            <a:endParaRPr sz="1200">
              <a:solidFill>
                <a:srgbClr val="000000"/>
              </a:solidFill>
            </a:endParaRPr>
          </a:p>
          <a:p>
            <a:pPr indent="0" lvl="0" marL="0" rtl="0" algn="l">
              <a:spcBef>
                <a:spcPts val="1000"/>
              </a:spcBef>
              <a:spcAft>
                <a:spcPts val="1000"/>
              </a:spcAft>
              <a:buNone/>
            </a:pPr>
            <a:r>
              <a:t/>
            </a:r>
            <a:endParaRPr sz="1450"/>
          </a:p>
        </p:txBody>
      </p:sp>
      <p:grpSp>
        <p:nvGrpSpPr>
          <p:cNvPr id="1325" name="Google Shape;1325;p32"/>
          <p:cNvGrpSpPr/>
          <p:nvPr/>
        </p:nvGrpSpPr>
        <p:grpSpPr>
          <a:xfrm rot="204526">
            <a:off x="8102686" y="1955831"/>
            <a:ext cx="1358227" cy="6377825"/>
            <a:chOff x="4851025" y="424250"/>
            <a:chExt cx="654450" cy="3073100"/>
          </a:xfrm>
        </p:grpSpPr>
        <p:sp>
          <p:nvSpPr>
            <p:cNvPr id="1326" name="Google Shape;1326;p32"/>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2"/>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2"/>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2"/>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2"/>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2"/>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2"/>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2"/>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2"/>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2"/>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2"/>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2"/>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2"/>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2"/>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2"/>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2"/>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2"/>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3" name="Google Shape;1343;p32"/>
          <p:cNvGrpSpPr/>
          <p:nvPr/>
        </p:nvGrpSpPr>
        <p:grpSpPr>
          <a:xfrm rot="-5400000">
            <a:off x="6581539" y="4088803"/>
            <a:ext cx="4755675" cy="2338198"/>
            <a:chOff x="5910900" y="252875"/>
            <a:chExt cx="2291450" cy="1126625"/>
          </a:xfrm>
        </p:grpSpPr>
        <p:sp>
          <p:nvSpPr>
            <p:cNvPr id="1344" name="Google Shape;1344;p32"/>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2"/>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2"/>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2"/>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2"/>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2"/>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2"/>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2"/>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2"/>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2"/>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2"/>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2"/>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2"/>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57" name="Google Shape;1357;p32"/>
          <p:cNvPicPr preferRelativeResize="0"/>
          <p:nvPr/>
        </p:nvPicPr>
        <p:blipFill>
          <a:blip r:embed="rId3">
            <a:alphaModFix/>
          </a:blip>
          <a:stretch>
            <a:fillRect/>
          </a:stretch>
        </p:blipFill>
        <p:spPr>
          <a:xfrm>
            <a:off x="6499750" y="1287325"/>
            <a:ext cx="2404300" cy="2560974"/>
          </a:xfrm>
          <a:prstGeom prst="rect">
            <a:avLst/>
          </a:prstGeom>
          <a:noFill/>
          <a:ln>
            <a:noFill/>
          </a:ln>
        </p:spPr>
      </p:pic>
      <p:pic>
        <p:nvPicPr>
          <p:cNvPr id="1358" name="Google Shape;1358;p32"/>
          <p:cNvPicPr preferRelativeResize="0"/>
          <p:nvPr/>
        </p:nvPicPr>
        <p:blipFill rotWithShape="1">
          <a:blip r:embed="rId4">
            <a:alphaModFix/>
          </a:blip>
          <a:srcRect b="0" l="0" r="0" t="1729"/>
          <a:stretch/>
        </p:blipFill>
        <p:spPr>
          <a:xfrm>
            <a:off x="3859571" y="1256100"/>
            <a:ext cx="2499254" cy="1381500"/>
          </a:xfrm>
          <a:prstGeom prst="rect">
            <a:avLst/>
          </a:prstGeom>
          <a:noFill/>
          <a:ln>
            <a:noFill/>
          </a:ln>
        </p:spPr>
      </p:pic>
      <p:pic>
        <p:nvPicPr>
          <p:cNvPr id="1359" name="Google Shape;1359;p32" title="Screenshot 2025-10-02 at 12.26.07 PM.png"/>
          <p:cNvPicPr preferRelativeResize="0"/>
          <p:nvPr/>
        </p:nvPicPr>
        <p:blipFill rotWithShape="1">
          <a:blip r:embed="rId5">
            <a:alphaModFix/>
          </a:blip>
          <a:srcRect b="2144" l="1477" r="1941" t="2526"/>
          <a:stretch/>
        </p:blipFill>
        <p:spPr>
          <a:xfrm>
            <a:off x="3859574" y="2753825"/>
            <a:ext cx="2499252" cy="1094480"/>
          </a:xfrm>
          <a:prstGeom prst="rect">
            <a:avLst/>
          </a:prstGeom>
          <a:noFill/>
          <a:ln>
            <a:noFill/>
          </a:ln>
        </p:spPr>
      </p:pic>
      <p:sp>
        <p:nvSpPr>
          <p:cNvPr id="1360" name="Google Shape;1360;p32"/>
          <p:cNvSpPr txBox="1"/>
          <p:nvPr/>
        </p:nvSpPr>
        <p:spPr>
          <a:xfrm>
            <a:off x="6499750" y="3904075"/>
            <a:ext cx="3741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Plus Jakarta Sans"/>
                <a:ea typeface="Plus Jakarta Sans"/>
                <a:cs typeface="Plus Jakarta Sans"/>
                <a:sym typeface="Plus Jakarta Sans"/>
              </a:rPr>
              <a:t>[2]</a:t>
            </a:r>
            <a:endParaRPr sz="1000">
              <a:solidFill>
                <a:srgbClr val="161616"/>
              </a:solidFill>
              <a:latin typeface="Plus Jakarta Sans"/>
              <a:ea typeface="Plus Jakarta Sans"/>
              <a:cs typeface="Plus Jakarta Sans"/>
              <a:sym typeface="Plus Jakarta Sans"/>
            </a:endParaRPr>
          </a:p>
        </p:txBody>
      </p:sp>
      <p:sp>
        <p:nvSpPr>
          <p:cNvPr id="1361" name="Google Shape;1361;p32"/>
          <p:cNvSpPr txBox="1"/>
          <p:nvPr/>
        </p:nvSpPr>
        <p:spPr>
          <a:xfrm>
            <a:off x="3859563" y="2352600"/>
            <a:ext cx="3741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Plus Jakarta Sans"/>
                <a:ea typeface="Plus Jakarta Sans"/>
                <a:cs typeface="Plus Jakarta Sans"/>
                <a:sym typeface="Plus Jakarta Sans"/>
              </a:rPr>
              <a:t>[4]</a:t>
            </a:r>
            <a:endParaRPr sz="1000">
              <a:solidFill>
                <a:srgbClr val="161616"/>
              </a:solidFill>
              <a:latin typeface="Plus Jakarta Sans"/>
              <a:ea typeface="Plus Jakarta Sans"/>
              <a:cs typeface="Plus Jakarta Sans"/>
              <a:sym typeface="Plus Jakarta Sans"/>
            </a:endParaRPr>
          </a:p>
        </p:txBody>
      </p:sp>
      <p:sp>
        <p:nvSpPr>
          <p:cNvPr id="1362" name="Google Shape;1362;p32"/>
          <p:cNvSpPr txBox="1"/>
          <p:nvPr/>
        </p:nvSpPr>
        <p:spPr>
          <a:xfrm>
            <a:off x="3859563" y="3904075"/>
            <a:ext cx="3741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Plus Jakarta Sans"/>
                <a:ea typeface="Plus Jakarta Sans"/>
                <a:cs typeface="Plus Jakarta Sans"/>
                <a:sym typeface="Plus Jakarta Sans"/>
              </a:rPr>
              <a:t>[4]</a:t>
            </a:r>
            <a:endParaRPr sz="1000">
              <a:solidFill>
                <a:srgbClr val="161616"/>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33"/>
          <p:cNvSpPr txBox="1"/>
          <p:nvPr>
            <p:ph type="title"/>
          </p:nvPr>
        </p:nvSpPr>
        <p:spPr>
          <a:xfrm flipH="1">
            <a:off x="3972150" y="3027550"/>
            <a:ext cx="5079900" cy="138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Data Cleaning</a:t>
            </a:r>
            <a:endParaRPr sz="4000"/>
          </a:p>
        </p:txBody>
      </p:sp>
      <p:sp>
        <p:nvSpPr>
          <p:cNvPr id="1368" name="Google Shape;1368;p33"/>
          <p:cNvSpPr txBox="1"/>
          <p:nvPr>
            <p:ph idx="2" type="title"/>
          </p:nvPr>
        </p:nvSpPr>
        <p:spPr>
          <a:xfrm>
            <a:off x="3855175" y="2269175"/>
            <a:ext cx="1508400" cy="86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grpSp>
        <p:nvGrpSpPr>
          <p:cNvPr id="1369" name="Google Shape;1369;p33"/>
          <p:cNvGrpSpPr/>
          <p:nvPr/>
        </p:nvGrpSpPr>
        <p:grpSpPr>
          <a:xfrm flipH="1" rot="10800000">
            <a:off x="2438542" y="3027557"/>
            <a:ext cx="4482760" cy="4754793"/>
            <a:chOff x="4204225" y="2144350"/>
            <a:chExt cx="2159950" cy="2291025"/>
          </a:xfrm>
        </p:grpSpPr>
        <p:sp>
          <p:nvSpPr>
            <p:cNvPr id="1370" name="Google Shape;1370;p33"/>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3"/>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3"/>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3"/>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3"/>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3"/>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3"/>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3"/>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3"/>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3"/>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3"/>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3"/>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3"/>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3"/>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3"/>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3"/>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3"/>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3"/>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8" name="Google Shape;1388;p33"/>
          <p:cNvGrpSpPr/>
          <p:nvPr/>
        </p:nvGrpSpPr>
        <p:grpSpPr>
          <a:xfrm rot="5604526">
            <a:off x="-73105" y="-1205015"/>
            <a:ext cx="1358227" cy="6377825"/>
            <a:chOff x="4851025" y="424250"/>
            <a:chExt cx="654450" cy="3073100"/>
          </a:xfrm>
        </p:grpSpPr>
        <p:sp>
          <p:nvSpPr>
            <p:cNvPr id="1389" name="Google Shape;1389;p33"/>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3"/>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3"/>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3"/>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3"/>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3"/>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3"/>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3"/>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3"/>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3"/>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3"/>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3"/>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3"/>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3"/>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3"/>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3"/>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3"/>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6" name="Google Shape;1406;p33"/>
          <p:cNvGrpSpPr/>
          <p:nvPr/>
        </p:nvGrpSpPr>
        <p:grpSpPr>
          <a:xfrm flipH="1" rot="-5400000">
            <a:off x="6940748" y="-1917686"/>
            <a:ext cx="3848803" cy="5689424"/>
            <a:chOff x="939875" y="457213"/>
            <a:chExt cx="1854488" cy="2741363"/>
          </a:xfrm>
        </p:grpSpPr>
        <p:sp>
          <p:nvSpPr>
            <p:cNvPr id="1407" name="Google Shape;1407;p33"/>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3"/>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3"/>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3"/>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3"/>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3"/>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3"/>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3"/>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3"/>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3"/>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3"/>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3"/>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3"/>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3"/>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3"/>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3"/>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3"/>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3"/>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3"/>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3"/>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3"/>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3"/>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3"/>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3"/>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3"/>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3"/>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3" name="Google Shape;1433;p33"/>
          <p:cNvGrpSpPr/>
          <p:nvPr/>
        </p:nvGrpSpPr>
        <p:grpSpPr>
          <a:xfrm>
            <a:off x="-385454" y="628634"/>
            <a:ext cx="2186019" cy="4663683"/>
            <a:chOff x="3061750" y="2798625"/>
            <a:chExt cx="1053300" cy="2247125"/>
          </a:xfrm>
        </p:grpSpPr>
        <p:grpSp>
          <p:nvGrpSpPr>
            <p:cNvPr id="1434" name="Google Shape;1434;p33"/>
            <p:cNvGrpSpPr/>
            <p:nvPr/>
          </p:nvGrpSpPr>
          <p:grpSpPr>
            <a:xfrm>
              <a:off x="3061750" y="2798625"/>
              <a:ext cx="1053300" cy="2247125"/>
              <a:chOff x="3682050" y="2775150"/>
              <a:chExt cx="1053300" cy="2247125"/>
            </a:xfrm>
          </p:grpSpPr>
          <p:sp>
            <p:nvSpPr>
              <p:cNvPr id="1435" name="Google Shape;1435;p33"/>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3"/>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3"/>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3"/>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3"/>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3"/>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3"/>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3"/>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3"/>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3"/>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3"/>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3"/>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3"/>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3"/>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3"/>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0" name="Google Shape;1450;p33"/>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3"/>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3"/>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3" name="Google Shape;1453;p33"/>
          <p:cNvGrpSpPr/>
          <p:nvPr/>
        </p:nvGrpSpPr>
        <p:grpSpPr>
          <a:xfrm>
            <a:off x="-1884987" y="992376"/>
            <a:ext cx="4755675" cy="2338198"/>
            <a:chOff x="5910900" y="252875"/>
            <a:chExt cx="2291450" cy="1126625"/>
          </a:xfrm>
        </p:grpSpPr>
        <p:sp>
          <p:nvSpPr>
            <p:cNvPr id="1454" name="Google Shape;1454;p33"/>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3"/>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3"/>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3"/>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3"/>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3"/>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3"/>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3"/>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3"/>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3"/>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3"/>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3"/>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3"/>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7" name="Google Shape;1467;p33"/>
          <p:cNvGrpSpPr/>
          <p:nvPr/>
        </p:nvGrpSpPr>
        <p:grpSpPr>
          <a:xfrm>
            <a:off x="-522031" y="95655"/>
            <a:ext cx="4030101" cy="1211247"/>
            <a:chOff x="430469" y="4172355"/>
            <a:chExt cx="4030101" cy="1211247"/>
          </a:xfrm>
        </p:grpSpPr>
        <p:grpSp>
          <p:nvGrpSpPr>
            <p:cNvPr id="1468" name="Google Shape;1468;p33"/>
            <p:cNvGrpSpPr/>
            <p:nvPr/>
          </p:nvGrpSpPr>
          <p:grpSpPr>
            <a:xfrm flipH="1" rot="5538019">
              <a:off x="1919568" y="2782430"/>
              <a:ext cx="1051902" cy="3991097"/>
              <a:chOff x="5485075" y="3521900"/>
              <a:chExt cx="506850" cy="1923075"/>
            </a:xfrm>
          </p:grpSpPr>
          <p:sp>
            <p:nvSpPr>
              <p:cNvPr id="1469" name="Google Shape;1469;p33"/>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3"/>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3"/>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3"/>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3"/>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3"/>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3"/>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3"/>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3"/>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3"/>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9" name="Google Shape;1479;p33"/>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34"/>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Sources </a:t>
            </a:r>
            <a:endParaRPr/>
          </a:p>
        </p:txBody>
      </p:sp>
      <p:grpSp>
        <p:nvGrpSpPr>
          <p:cNvPr id="1485" name="Google Shape;1485;p34"/>
          <p:cNvGrpSpPr/>
          <p:nvPr/>
        </p:nvGrpSpPr>
        <p:grpSpPr>
          <a:xfrm rot="204526">
            <a:off x="8102686" y="1992056"/>
            <a:ext cx="1358227" cy="6377825"/>
            <a:chOff x="4851025" y="424250"/>
            <a:chExt cx="654450" cy="3073100"/>
          </a:xfrm>
        </p:grpSpPr>
        <p:sp>
          <p:nvSpPr>
            <p:cNvPr id="1486" name="Google Shape;1486;p34"/>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4"/>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4"/>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4"/>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4"/>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4"/>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4"/>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4"/>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4"/>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4"/>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4"/>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4"/>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4"/>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4"/>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4"/>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4"/>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4"/>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3" name="Google Shape;1503;p34"/>
          <p:cNvSpPr txBox="1"/>
          <p:nvPr/>
        </p:nvSpPr>
        <p:spPr>
          <a:xfrm>
            <a:off x="720000" y="1159075"/>
            <a:ext cx="7298700" cy="26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u="sng">
                <a:solidFill>
                  <a:srgbClr val="2A7AE2"/>
                </a:solidFill>
                <a:latin typeface="Plus Jakarta Sans"/>
                <a:ea typeface="Plus Jakarta Sans"/>
                <a:cs typeface="Plus Jakarta Sans"/>
                <a:sym typeface="Plus Jakarta Sans"/>
                <a:hlinkClick r:id="rId3">
                  <a:extLst>
                    <a:ext uri="{A12FA001-AC4F-418D-AE19-62706E023703}">
                      <ahyp:hlinkClr val="tx"/>
                    </a:ext>
                  </a:extLst>
                </a:hlinkClick>
              </a:rPr>
              <a:t>Traffic Dataset</a:t>
            </a:r>
            <a:r>
              <a:rPr b="1" lang="en">
                <a:solidFill>
                  <a:srgbClr val="111111"/>
                </a:solidFill>
                <a:latin typeface="Plus Jakarta Sans"/>
                <a:ea typeface="Plus Jakarta Sans"/>
                <a:cs typeface="Plus Jakarta Sans"/>
                <a:sym typeface="Plus Jakarta Sans"/>
              </a:rPr>
              <a:t>: </a:t>
            </a:r>
            <a:endParaRPr b="1">
              <a:solidFill>
                <a:srgbClr val="111111"/>
              </a:solidFill>
              <a:latin typeface="Plus Jakarta Sans"/>
              <a:ea typeface="Plus Jakarta Sans"/>
              <a:cs typeface="Plus Jakarta Sans"/>
              <a:sym typeface="Plus Jakarta Sans"/>
            </a:endParaRPr>
          </a:p>
          <a:p>
            <a:pPr indent="-317500" lvl="0" marL="457200" rtl="0" algn="l">
              <a:lnSpc>
                <a:spcPct val="115000"/>
              </a:lnSpc>
              <a:spcBef>
                <a:spcPts val="0"/>
              </a:spcBef>
              <a:spcAft>
                <a:spcPts val="0"/>
              </a:spcAft>
              <a:buClr>
                <a:srgbClr val="111111"/>
              </a:buClr>
              <a:buSzPts val="1400"/>
              <a:buFont typeface="Plus Jakarta Sans"/>
              <a:buChar char="-"/>
            </a:pPr>
            <a:r>
              <a:rPr lang="en">
                <a:latin typeface="Plus Jakarta Sans"/>
                <a:ea typeface="Plus Jakarta Sans"/>
                <a:cs typeface="Plus Jakarta Sans"/>
                <a:sym typeface="Plus Jakarta Sans"/>
              </a:rPr>
              <a:t>2.69M rows and 14 columns </a:t>
            </a:r>
            <a:endParaRPr>
              <a:solidFill>
                <a:srgbClr val="111111"/>
              </a:solidFill>
              <a:latin typeface="Plus Jakarta Sans"/>
              <a:ea typeface="Plus Jakarta Sans"/>
              <a:cs typeface="Plus Jakarta Sans"/>
              <a:sym typeface="Plus Jakarta Sans"/>
            </a:endParaRPr>
          </a:p>
          <a:p>
            <a:pPr indent="-317500" lvl="0" marL="457200" rtl="0" algn="l">
              <a:lnSpc>
                <a:spcPct val="115000"/>
              </a:lnSpc>
              <a:spcBef>
                <a:spcPts val="0"/>
              </a:spcBef>
              <a:spcAft>
                <a:spcPts val="0"/>
              </a:spcAft>
              <a:buClr>
                <a:srgbClr val="111111"/>
              </a:buClr>
              <a:buSzPts val="1400"/>
              <a:buFont typeface="Plus Jakarta Sans"/>
              <a:buChar char="-"/>
            </a:pPr>
            <a:r>
              <a:rPr lang="en">
                <a:solidFill>
                  <a:srgbClr val="111111"/>
                </a:solidFill>
                <a:latin typeface="Plus Jakarta Sans"/>
                <a:ea typeface="Plus Jakarta Sans"/>
                <a:cs typeface="Plus Jakarta Sans"/>
                <a:sym typeface="Plus Jakarta Sans"/>
              </a:rPr>
              <a:t>Maintained by the MTA since the CRZ’s launch in January</a:t>
            </a:r>
            <a:endParaRPr>
              <a:solidFill>
                <a:srgbClr val="111111"/>
              </a:solidFill>
              <a:latin typeface="Plus Jakarta Sans"/>
              <a:ea typeface="Plus Jakarta Sans"/>
              <a:cs typeface="Plus Jakarta Sans"/>
              <a:sym typeface="Plus Jakarta Sans"/>
            </a:endParaRPr>
          </a:p>
          <a:p>
            <a:pPr indent="-317500" lvl="0" marL="457200" rtl="0" algn="l">
              <a:lnSpc>
                <a:spcPct val="115000"/>
              </a:lnSpc>
              <a:spcBef>
                <a:spcPts val="0"/>
              </a:spcBef>
              <a:spcAft>
                <a:spcPts val="0"/>
              </a:spcAft>
              <a:buClr>
                <a:srgbClr val="111111"/>
              </a:buClr>
              <a:buSzPts val="1400"/>
              <a:buFont typeface="Plus Jakarta Sans"/>
              <a:buChar char="-"/>
            </a:pPr>
            <a:r>
              <a:rPr lang="en">
                <a:solidFill>
                  <a:srgbClr val="111111"/>
                </a:solidFill>
                <a:latin typeface="Plus Jakarta Sans"/>
                <a:ea typeface="Plus Jakarta Sans"/>
                <a:cs typeface="Plus Jakarta Sans"/>
                <a:sym typeface="Plus Jakarta Sans"/>
              </a:rPr>
              <a:t>Broken down into 10-minute intervals </a:t>
            </a:r>
            <a:endParaRPr>
              <a:solidFill>
                <a:srgbClr val="111111"/>
              </a:solidFill>
              <a:latin typeface="Plus Jakarta Sans"/>
              <a:ea typeface="Plus Jakarta Sans"/>
              <a:cs typeface="Plus Jakarta Sans"/>
              <a:sym typeface="Plus Jakarta Sans"/>
            </a:endParaRPr>
          </a:p>
          <a:p>
            <a:pPr indent="-317500" lvl="0" marL="457200" rtl="0" algn="l">
              <a:lnSpc>
                <a:spcPct val="115000"/>
              </a:lnSpc>
              <a:spcBef>
                <a:spcPts val="0"/>
              </a:spcBef>
              <a:spcAft>
                <a:spcPts val="0"/>
              </a:spcAft>
              <a:buClr>
                <a:srgbClr val="111111"/>
              </a:buClr>
              <a:buSzPts val="1400"/>
              <a:buFont typeface="Plus Jakarta Sans"/>
              <a:buChar char="-"/>
            </a:pPr>
            <a:r>
              <a:rPr lang="en">
                <a:solidFill>
                  <a:srgbClr val="111111"/>
                </a:solidFill>
                <a:latin typeface="Plus Jakarta Sans"/>
                <a:ea typeface="Plus Jakarta Sans"/>
                <a:cs typeface="Plus Jakarta Sans"/>
                <a:sym typeface="Plus Jakarta Sans"/>
              </a:rPr>
              <a:t>Vehicle counts, toll period (rate), vehicle type, detection point/region</a:t>
            </a:r>
            <a:endParaRPr>
              <a:solidFill>
                <a:srgbClr val="111111"/>
              </a:solidFill>
              <a:latin typeface="Plus Jakarta Sans"/>
              <a:ea typeface="Plus Jakarta Sans"/>
              <a:cs typeface="Plus Jakarta Sans"/>
              <a:sym typeface="Plus Jakarta Sans"/>
            </a:endParaRPr>
          </a:p>
          <a:p>
            <a:pPr indent="0" lvl="0" marL="0" rtl="0" algn="l">
              <a:lnSpc>
                <a:spcPct val="115000"/>
              </a:lnSpc>
              <a:spcBef>
                <a:spcPts val="0"/>
              </a:spcBef>
              <a:spcAft>
                <a:spcPts val="0"/>
              </a:spcAft>
              <a:buNone/>
            </a:pPr>
            <a:r>
              <a:t/>
            </a:r>
            <a:endParaRPr>
              <a:solidFill>
                <a:srgbClr val="111111"/>
              </a:solidFill>
              <a:latin typeface="Plus Jakarta Sans"/>
              <a:ea typeface="Plus Jakarta Sans"/>
              <a:cs typeface="Plus Jakarta Sans"/>
              <a:sym typeface="Plus Jakarta Sans"/>
            </a:endParaRPr>
          </a:p>
          <a:p>
            <a:pPr indent="0" lvl="0" marL="0" rtl="0" algn="l">
              <a:lnSpc>
                <a:spcPct val="115000"/>
              </a:lnSpc>
              <a:spcBef>
                <a:spcPts val="0"/>
              </a:spcBef>
              <a:spcAft>
                <a:spcPts val="0"/>
              </a:spcAft>
              <a:buNone/>
            </a:pPr>
            <a:r>
              <a:rPr b="1" lang="en" u="sng">
                <a:solidFill>
                  <a:srgbClr val="2A7AE2"/>
                </a:solidFill>
                <a:latin typeface="Plus Jakarta Sans"/>
                <a:ea typeface="Plus Jakarta Sans"/>
                <a:cs typeface="Plus Jakarta Sans"/>
                <a:sym typeface="Plus Jakarta Sans"/>
                <a:hlinkClick r:id="rId4">
                  <a:extLst>
                    <a:ext uri="{A12FA001-AC4F-418D-AE19-62706E023703}">
                      <ahyp:hlinkClr val="tx"/>
                    </a:ext>
                  </a:extLst>
                </a:hlinkClick>
              </a:rPr>
              <a:t>NYC Subway Dataset</a:t>
            </a:r>
            <a:r>
              <a:rPr b="1" lang="en">
                <a:solidFill>
                  <a:srgbClr val="111111"/>
                </a:solidFill>
                <a:latin typeface="Plus Jakarta Sans"/>
                <a:ea typeface="Plus Jakarta Sans"/>
                <a:cs typeface="Plus Jakarta Sans"/>
                <a:sym typeface="Plus Jakarta Sans"/>
              </a:rPr>
              <a:t>: </a:t>
            </a:r>
            <a:endParaRPr b="1">
              <a:solidFill>
                <a:srgbClr val="111111"/>
              </a:solidFill>
              <a:latin typeface="Plus Jakarta Sans"/>
              <a:ea typeface="Plus Jakarta Sans"/>
              <a:cs typeface="Plus Jakarta Sans"/>
              <a:sym typeface="Plus Jakarta Sans"/>
            </a:endParaRPr>
          </a:p>
          <a:p>
            <a:pPr indent="-317500" lvl="0" marL="457200" rtl="0" algn="l">
              <a:lnSpc>
                <a:spcPct val="115000"/>
              </a:lnSpc>
              <a:spcBef>
                <a:spcPts val="0"/>
              </a:spcBef>
              <a:spcAft>
                <a:spcPts val="0"/>
              </a:spcAft>
              <a:buClr>
                <a:srgbClr val="111111"/>
              </a:buClr>
              <a:buSzPts val="1400"/>
              <a:buFont typeface="Plus Jakarta Sans"/>
              <a:buChar char="-"/>
            </a:pPr>
            <a:r>
              <a:rPr lang="en">
                <a:solidFill>
                  <a:srgbClr val="111111"/>
                </a:solidFill>
                <a:latin typeface="Plus Jakarta Sans"/>
                <a:ea typeface="Plus Jakarta Sans"/>
                <a:cs typeface="Plus Jakarta Sans"/>
                <a:sym typeface="Plus Jakarta Sans"/>
              </a:rPr>
              <a:t>Details daily operations since 2021</a:t>
            </a:r>
            <a:endParaRPr>
              <a:solidFill>
                <a:srgbClr val="111111"/>
              </a:solidFill>
              <a:latin typeface="Plus Jakarta Sans"/>
              <a:ea typeface="Plus Jakarta Sans"/>
              <a:cs typeface="Plus Jakarta Sans"/>
              <a:sym typeface="Plus Jakarta Sans"/>
            </a:endParaRPr>
          </a:p>
          <a:p>
            <a:pPr indent="-317500" lvl="0" marL="457200" rtl="0" algn="l">
              <a:lnSpc>
                <a:spcPct val="115000"/>
              </a:lnSpc>
              <a:spcBef>
                <a:spcPts val="0"/>
              </a:spcBef>
              <a:spcAft>
                <a:spcPts val="0"/>
              </a:spcAft>
              <a:buClr>
                <a:srgbClr val="111111"/>
              </a:buClr>
              <a:buSzPts val="1400"/>
              <a:buFont typeface="Plus Jakarta Sans"/>
              <a:buChar char="-"/>
            </a:pPr>
            <a:r>
              <a:rPr lang="en">
                <a:solidFill>
                  <a:srgbClr val="111111"/>
                </a:solidFill>
                <a:latin typeface="Plus Jakarta Sans"/>
                <a:ea typeface="Plus Jakarta Sans"/>
                <a:cs typeface="Plus Jakarta Sans"/>
                <a:sym typeface="Plus Jakarta Sans"/>
              </a:rPr>
              <a:t>Trip metadata (e.g., route, direction, start time, vehicle, schedule changes, etc.)</a:t>
            </a:r>
            <a:endParaRPr>
              <a:solidFill>
                <a:srgbClr val="111111"/>
              </a:solidFill>
              <a:latin typeface="Plus Jakarta Sans"/>
              <a:ea typeface="Plus Jakarta Sans"/>
              <a:cs typeface="Plus Jakarta Sans"/>
              <a:sym typeface="Plus Jakarta Sans"/>
            </a:endParaRPr>
          </a:p>
          <a:p>
            <a:pPr indent="-317500" lvl="0" marL="457200" rtl="0" algn="l">
              <a:lnSpc>
                <a:spcPct val="115000"/>
              </a:lnSpc>
              <a:spcBef>
                <a:spcPts val="0"/>
              </a:spcBef>
              <a:spcAft>
                <a:spcPts val="0"/>
              </a:spcAft>
              <a:buClr>
                <a:srgbClr val="111111"/>
              </a:buClr>
              <a:buSzPts val="1400"/>
              <a:buFont typeface="Plus Jakarta Sans"/>
              <a:buChar char="-"/>
            </a:pPr>
            <a:r>
              <a:rPr lang="en">
                <a:solidFill>
                  <a:srgbClr val="111111"/>
                </a:solidFill>
                <a:latin typeface="Plus Jakarta Sans"/>
                <a:ea typeface="Plus Jakarta Sans"/>
                <a:cs typeface="Plus Jakarta Sans"/>
                <a:sym typeface="Plus Jakarta Sans"/>
              </a:rPr>
              <a:t>Stop-level details (e.g., track assignments, arrivals, departures, etc.)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35"/>
          <p:cNvSpPr txBox="1"/>
          <p:nvPr>
            <p:ph type="title"/>
          </p:nvPr>
        </p:nvSpPr>
        <p:spPr>
          <a:xfrm>
            <a:off x="720000" y="401850"/>
            <a:ext cx="36768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Cleaning </a:t>
            </a:r>
            <a:endParaRPr/>
          </a:p>
        </p:txBody>
      </p:sp>
      <p:sp>
        <p:nvSpPr>
          <p:cNvPr id="1509" name="Google Shape;1509;p35"/>
          <p:cNvSpPr txBox="1"/>
          <p:nvPr>
            <p:ph idx="2" type="subTitle"/>
          </p:nvPr>
        </p:nvSpPr>
        <p:spPr>
          <a:xfrm>
            <a:off x="1531025" y="1350600"/>
            <a:ext cx="7344300" cy="379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000000"/>
                </a:solidFill>
              </a:rPr>
              <a:t>T</a:t>
            </a:r>
            <a:r>
              <a:rPr b="1" lang="en" sz="1200">
                <a:solidFill>
                  <a:srgbClr val="000000"/>
                </a:solidFill>
              </a:rPr>
              <a:t>emporal alignment:</a:t>
            </a:r>
            <a:r>
              <a:rPr lang="en" sz="1200">
                <a:solidFill>
                  <a:srgbClr val="000000"/>
                </a:solidFill>
              </a:rPr>
              <a:t> Join subway and traffic datasets on 10-minute intervals </a:t>
            </a:r>
            <a:endParaRPr sz="1200">
              <a:solidFill>
                <a:srgbClr val="000000"/>
              </a:solidFill>
            </a:endParaRPr>
          </a:p>
          <a:p>
            <a:pPr indent="0" lvl="0" marL="0" rtl="0" algn="l">
              <a:lnSpc>
                <a:spcPct val="115000"/>
              </a:lnSpc>
              <a:spcBef>
                <a:spcPts val="0"/>
              </a:spcBef>
              <a:spcAft>
                <a:spcPts val="0"/>
              </a:spcAft>
              <a:buNone/>
            </a:pPr>
            <a:r>
              <a:t/>
            </a:r>
            <a:endParaRPr sz="1200">
              <a:solidFill>
                <a:srgbClr val="000000"/>
              </a:solidFill>
            </a:endParaRPr>
          </a:p>
          <a:p>
            <a:pPr indent="0" lvl="0" marL="0" rtl="0" algn="l">
              <a:lnSpc>
                <a:spcPct val="115000"/>
              </a:lnSpc>
              <a:spcBef>
                <a:spcPts val="0"/>
              </a:spcBef>
              <a:spcAft>
                <a:spcPts val="0"/>
              </a:spcAft>
              <a:buNone/>
            </a:pPr>
            <a:r>
              <a:rPr b="1" lang="en" sz="1200">
                <a:solidFill>
                  <a:srgbClr val="000000"/>
                </a:solidFill>
              </a:rPr>
              <a:t>Missing data: </a:t>
            </a:r>
            <a:r>
              <a:rPr lang="en" sz="1200">
                <a:solidFill>
                  <a:srgbClr val="000000"/>
                </a:solidFill>
              </a:rPr>
              <a:t>Drop subway trips containing nulls in any column (&lt;2%)</a:t>
            </a:r>
            <a:endParaRPr sz="1200">
              <a:solidFill>
                <a:srgbClr val="000000"/>
              </a:solidFill>
            </a:endParaRPr>
          </a:p>
          <a:p>
            <a:pPr indent="0" lvl="0" marL="0" rtl="0" algn="l">
              <a:lnSpc>
                <a:spcPct val="115000"/>
              </a:lnSpc>
              <a:spcBef>
                <a:spcPts val="0"/>
              </a:spcBef>
              <a:spcAft>
                <a:spcPts val="0"/>
              </a:spcAft>
              <a:buNone/>
            </a:pPr>
            <a:r>
              <a:t/>
            </a:r>
            <a:endParaRPr b="1" sz="1200">
              <a:solidFill>
                <a:srgbClr val="000000"/>
              </a:solidFill>
            </a:endParaRPr>
          </a:p>
          <a:p>
            <a:pPr indent="0" lvl="0" marL="0" rtl="0" algn="l">
              <a:lnSpc>
                <a:spcPct val="115000"/>
              </a:lnSpc>
              <a:spcBef>
                <a:spcPts val="0"/>
              </a:spcBef>
              <a:spcAft>
                <a:spcPts val="0"/>
              </a:spcAft>
              <a:buNone/>
            </a:pPr>
            <a:r>
              <a:rPr b="1" lang="en" sz="1200">
                <a:solidFill>
                  <a:srgbClr val="000000"/>
                </a:solidFill>
              </a:rPr>
              <a:t>Day of the week: </a:t>
            </a:r>
            <a:r>
              <a:rPr lang="en" sz="1200">
                <a:solidFill>
                  <a:srgbClr val="000000"/>
                </a:solidFill>
              </a:rPr>
              <a:t>7 encoded values</a:t>
            </a:r>
            <a:endParaRPr sz="1200">
              <a:solidFill>
                <a:srgbClr val="000000"/>
              </a:solidFill>
            </a:endParaRPr>
          </a:p>
          <a:p>
            <a:pPr indent="0" lvl="0" marL="0" rtl="0" algn="l">
              <a:lnSpc>
                <a:spcPct val="115000"/>
              </a:lnSpc>
              <a:spcBef>
                <a:spcPts val="0"/>
              </a:spcBef>
              <a:spcAft>
                <a:spcPts val="0"/>
              </a:spcAft>
              <a:buNone/>
            </a:pPr>
            <a:r>
              <a:t/>
            </a:r>
            <a:endParaRPr sz="100">
              <a:solidFill>
                <a:srgbClr val="000000"/>
              </a:solidFill>
            </a:endParaRPr>
          </a:p>
          <a:p>
            <a:pPr indent="0" lvl="0" marL="0" rtl="0" algn="l">
              <a:lnSpc>
                <a:spcPct val="115000"/>
              </a:lnSpc>
              <a:spcBef>
                <a:spcPts val="0"/>
              </a:spcBef>
              <a:spcAft>
                <a:spcPts val="0"/>
              </a:spcAft>
              <a:buNone/>
            </a:pPr>
            <a:r>
              <a:rPr b="1" lang="en" sz="1200">
                <a:solidFill>
                  <a:srgbClr val="000000"/>
                </a:solidFill>
              </a:rPr>
              <a:t>Tolling period: </a:t>
            </a:r>
            <a:r>
              <a:rPr lang="en" sz="1200">
                <a:solidFill>
                  <a:srgbClr val="000000"/>
                </a:solidFill>
              </a:rPr>
              <a:t>2 encoded values (overnight or peak); determines the tolling rate</a:t>
            </a:r>
            <a:endParaRPr sz="1200">
              <a:solidFill>
                <a:srgbClr val="000000"/>
              </a:solidFill>
            </a:endParaRPr>
          </a:p>
          <a:p>
            <a:pPr indent="0" lvl="0" marL="0" rtl="0" algn="l">
              <a:lnSpc>
                <a:spcPct val="115000"/>
              </a:lnSpc>
              <a:spcBef>
                <a:spcPts val="0"/>
              </a:spcBef>
              <a:spcAft>
                <a:spcPts val="0"/>
              </a:spcAft>
              <a:buNone/>
            </a:pPr>
            <a:r>
              <a:t/>
            </a:r>
            <a:endParaRPr sz="100">
              <a:solidFill>
                <a:srgbClr val="000000"/>
              </a:solidFill>
            </a:endParaRPr>
          </a:p>
          <a:p>
            <a:pPr indent="0" lvl="0" marL="0" rtl="0" algn="l">
              <a:lnSpc>
                <a:spcPct val="115000"/>
              </a:lnSpc>
              <a:spcBef>
                <a:spcPts val="0"/>
              </a:spcBef>
              <a:spcAft>
                <a:spcPts val="0"/>
              </a:spcAft>
              <a:buNone/>
            </a:pPr>
            <a:r>
              <a:rPr b="1" lang="en" sz="1200">
                <a:solidFill>
                  <a:srgbClr val="000000"/>
                </a:solidFill>
              </a:rPr>
              <a:t>Vehicle class:</a:t>
            </a:r>
            <a:r>
              <a:rPr lang="en" sz="1200">
                <a:solidFill>
                  <a:srgbClr val="000000"/>
                </a:solidFill>
              </a:rPr>
              <a:t> 6 encoded values (car, single unit truck, multi-unit truck, bus, taxi, etc.)</a:t>
            </a:r>
            <a:endParaRPr sz="1200">
              <a:solidFill>
                <a:srgbClr val="000000"/>
              </a:solidFill>
            </a:endParaRPr>
          </a:p>
          <a:p>
            <a:pPr indent="0" lvl="0" marL="0" rtl="0" algn="l">
              <a:lnSpc>
                <a:spcPct val="115000"/>
              </a:lnSpc>
              <a:spcBef>
                <a:spcPts val="0"/>
              </a:spcBef>
              <a:spcAft>
                <a:spcPts val="0"/>
              </a:spcAft>
              <a:buNone/>
            </a:pPr>
            <a:r>
              <a:t/>
            </a:r>
            <a:endParaRPr sz="100">
              <a:solidFill>
                <a:srgbClr val="000000"/>
              </a:solidFill>
            </a:endParaRPr>
          </a:p>
          <a:p>
            <a:pPr indent="0" lvl="0" marL="0" rtl="0" algn="l">
              <a:lnSpc>
                <a:spcPct val="115000"/>
              </a:lnSpc>
              <a:spcBef>
                <a:spcPts val="0"/>
              </a:spcBef>
              <a:spcAft>
                <a:spcPts val="0"/>
              </a:spcAft>
              <a:buNone/>
            </a:pPr>
            <a:r>
              <a:rPr b="1" lang="en" sz="1200">
                <a:solidFill>
                  <a:srgbClr val="000000"/>
                </a:solidFill>
              </a:rPr>
              <a:t>Detection region: </a:t>
            </a:r>
            <a:r>
              <a:rPr lang="en" sz="1200">
                <a:solidFill>
                  <a:srgbClr val="000000"/>
                </a:solidFill>
              </a:rPr>
              <a:t>7 encoded values corresponding to CRZ detection regions</a:t>
            </a:r>
            <a:endParaRPr sz="1200">
              <a:solidFill>
                <a:srgbClr val="000000"/>
              </a:solidFill>
            </a:endParaRPr>
          </a:p>
          <a:p>
            <a:pPr indent="0" lvl="0" marL="0" rtl="0" algn="l">
              <a:lnSpc>
                <a:spcPct val="115000"/>
              </a:lnSpc>
              <a:spcBef>
                <a:spcPts val="0"/>
              </a:spcBef>
              <a:spcAft>
                <a:spcPts val="0"/>
              </a:spcAft>
              <a:buNone/>
            </a:pPr>
            <a:r>
              <a:t/>
            </a:r>
            <a:endParaRPr sz="100">
              <a:solidFill>
                <a:srgbClr val="000000"/>
              </a:solidFill>
            </a:endParaRPr>
          </a:p>
          <a:p>
            <a:pPr indent="0" lvl="0" marL="0" rtl="0" algn="l">
              <a:lnSpc>
                <a:spcPct val="115000"/>
              </a:lnSpc>
              <a:spcBef>
                <a:spcPts val="0"/>
              </a:spcBef>
              <a:spcAft>
                <a:spcPts val="0"/>
              </a:spcAft>
              <a:buNone/>
            </a:pPr>
            <a:r>
              <a:rPr b="1" lang="en" sz="1200">
                <a:solidFill>
                  <a:srgbClr val="000000"/>
                </a:solidFill>
              </a:rPr>
              <a:t>Rolling means:</a:t>
            </a:r>
            <a:r>
              <a:rPr lang="en" sz="1200">
                <a:solidFill>
                  <a:srgbClr val="000000"/>
                </a:solidFill>
              </a:rPr>
              <a:t> Avg # entries of same vehicle class at same region over last 30m </a:t>
            </a:r>
            <a:r>
              <a:rPr i="1" lang="en" sz="1200">
                <a:solidFill>
                  <a:srgbClr val="000000"/>
                </a:solidFill>
              </a:rPr>
              <a:t>[*supervised only]</a:t>
            </a:r>
            <a:endParaRPr b="1" i="1" sz="1200">
              <a:solidFill>
                <a:srgbClr val="000000"/>
              </a:solidFill>
            </a:endParaRPr>
          </a:p>
          <a:p>
            <a:pPr indent="0" lvl="0" marL="0" rtl="0" algn="l">
              <a:lnSpc>
                <a:spcPct val="115000"/>
              </a:lnSpc>
              <a:spcBef>
                <a:spcPts val="0"/>
              </a:spcBef>
              <a:spcAft>
                <a:spcPts val="0"/>
              </a:spcAft>
              <a:buNone/>
            </a:pPr>
            <a:r>
              <a:t/>
            </a:r>
            <a:endParaRPr b="1" sz="1200">
              <a:solidFill>
                <a:srgbClr val="000000"/>
              </a:solidFill>
            </a:endParaRPr>
          </a:p>
          <a:p>
            <a:pPr indent="0" lvl="0" marL="0" rtl="0" algn="l">
              <a:lnSpc>
                <a:spcPct val="115000"/>
              </a:lnSpc>
              <a:spcBef>
                <a:spcPts val="0"/>
              </a:spcBef>
              <a:spcAft>
                <a:spcPts val="0"/>
              </a:spcAft>
              <a:buNone/>
            </a:pPr>
            <a:r>
              <a:rPr b="1" lang="en" sz="1200">
                <a:solidFill>
                  <a:srgbClr val="000000"/>
                </a:solidFill>
              </a:rPr>
              <a:t>Subway trips: </a:t>
            </a:r>
            <a:r>
              <a:rPr lang="en" sz="1200">
                <a:solidFill>
                  <a:srgbClr val="000000"/>
                </a:solidFill>
              </a:rPr>
              <a:t>Count of operating trips in the current interval </a:t>
            </a:r>
            <a:endParaRPr sz="1200">
              <a:solidFill>
                <a:srgbClr val="000000"/>
              </a:solidFill>
            </a:endParaRPr>
          </a:p>
          <a:p>
            <a:pPr indent="0" lvl="0" marL="0" rtl="0" algn="l">
              <a:lnSpc>
                <a:spcPct val="115000"/>
              </a:lnSpc>
              <a:spcBef>
                <a:spcPts val="0"/>
              </a:spcBef>
              <a:spcAft>
                <a:spcPts val="0"/>
              </a:spcAft>
              <a:buNone/>
            </a:pPr>
            <a:r>
              <a:t/>
            </a:r>
            <a:endParaRPr sz="100">
              <a:solidFill>
                <a:srgbClr val="000000"/>
              </a:solidFill>
            </a:endParaRPr>
          </a:p>
          <a:p>
            <a:pPr indent="0" lvl="0" marL="0" rtl="0" algn="l">
              <a:lnSpc>
                <a:spcPct val="115000"/>
              </a:lnSpc>
              <a:spcBef>
                <a:spcPts val="0"/>
              </a:spcBef>
              <a:spcAft>
                <a:spcPts val="0"/>
              </a:spcAft>
              <a:buNone/>
            </a:pPr>
            <a:r>
              <a:rPr b="1" lang="en" sz="1200">
                <a:solidFill>
                  <a:srgbClr val="000000"/>
                </a:solidFill>
              </a:rPr>
              <a:t>Subway routes: </a:t>
            </a:r>
            <a:r>
              <a:rPr lang="en" sz="1200">
                <a:solidFill>
                  <a:srgbClr val="000000"/>
                </a:solidFill>
              </a:rPr>
              <a:t>Encode {route, direction} pairs (e.g., ‘route_H_1’) into 60 binary features </a:t>
            </a:r>
            <a:endParaRPr sz="1200">
              <a:solidFill>
                <a:srgbClr val="000000"/>
              </a:solidFill>
            </a:endParaRPr>
          </a:p>
          <a:p>
            <a:pPr indent="0" lvl="0" marL="0" rtl="0" algn="l">
              <a:lnSpc>
                <a:spcPct val="115000"/>
              </a:lnSpc>
              <a:spcBef>
                <a:spcPts val="0"/>
              </a:spcBef>
              <a:spcAft>
                <a:spcPts val="0"/>
              </a:spcAft>
              <a:buNone/>
            </a:pPr>
            <a:r>
              <a:t/>
            </a:r>
            <a:endParaRPr sz="100">
              <a:solidFill>
                <a:srgbClr val="000000"/>
              </a:solidFill>
            </a:endParaRPr>
          </a:p>
          <a:p>
            <a:pPr indent="0" lvl="0" marL="0" rtl="0" algn="l">
              <a:lnSpc>
                <a:spcPct val="115000"/>
              </a:lnSpc>
              <a:spcBef>
                <a:spcPts val="0"/>
              </a:spcBef>
              <a:spcAft>
                <a:spcPts val="0"/>
              </a:spcAft>
              <a:buNone/>
            </a:pPr>
            <a:r>
              <a:rPr b="1" lang="en" sz="1200">
                <a:solidFill>
                  <a:srgbClr val="000000"/>
                </a:solidFill>
              </a:rPr>
              <a:t>Subway delays: </a:t>
            </a:r>
            <a:r>
              <a:rPr lang="en" sz="1200">
                <a:solidFill>
                  <a:srgbClr val="000000"/>
                </a:solidFill>
              </a:rPr>
              <a:t>Average deviation from expected last-seen time for a specific, route, direction, and time of day (e.g., all northbound 7-line trips starting between 8-8:10AM)</a:t>
            </a:r>
            <a:endParaRPr sz="1200">
              <a:solidFill>
                <a:srgbClr val="000000"/>
              </a:solidFill>
              <a:latin typeface="Arial"/>
              <a:ea typeface="Arial"/>
              <a:cs typeface="Arial"/>
              <a:sym typeface="Arial"/>
            </a:endParaRPr>
          </a:p>
        </p:txBody>
      </p:sp>
      <p:grpSp>
        <p:nvGrpSpPr>
          <p:cNvPr id="1510" name="Google Shape;1510;p35"/>
          <p:cNvGrpSpPr/>
          <p:nvPr/>
        </p:nvGrpSpPr>
        <p:grpSpPr>
          <a:xfrm rot="204526">
            <a:off x="8102686" y="1992056"/>
            <a:ext cx="1358227" cy="6377825"/>
            <a:chOff x="4851025" y="424250"/>
            <a:chExt cx="654450" cy="3073100"/>
          </a:xfrm>
        </p:grpSpPr>
        <p:sp>
          <p:nvSpPr>
            <p:cNvPr id="1511" name="Google Shape;1511;p35"/>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5"/>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5"/>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5"/>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5"/>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5"/>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5"/>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5"/>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5"/>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5"/>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5"/>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5"/>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5"/>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5"/>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5"/>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5"/>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5"/>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8" name="Google Shape;1528;p35"/>
          <p:cNvSpPr txBox="1"/>
          <p:nvPr>
            <p:ph idx="2" type="subTitle"/>
          </p:nvPr>
        </p:nvSpPr>
        <p:spPr>
          <a:xfrm>
            <a:off x="4732675" y="276950"/>
            <a:ext cx="3642600" cy="7710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000000"/>
                </a:solidFill>
              </a:rPr>
              <a:t>~393k rows, 88 features </a:t>
            </a:r>
            <a:endParaRPr b="1" sz="1000">
              <a:solidFill>
                <a:srgbClr val="000000"/>
              </a:solidFill>
            </a:endParaRPr>
          </a:p>
          <a:p>
            <a:pPr indent="0" lvl="0" marL="0" rtl="0" algn="l">
              <a:lnSpc>
                <a:spcPct val="115000"/>
              </a:lnSpc>
              <a:spcBef>
                <a:spcPts val="0"/>
              </a:spcBef>
              <a:spcAft>
                <a:spcPts val="0"/>
              </a:spcAft>
              <a:buNone/>
            </a:pPr>
            <a:r>
              <a:rPr lang="en" sz="1000">
                <a:solidFill>
                  <a:srgbClr val="000000"/>
                </a:solidFill>
              </a:rPr>
              <a:t>1</a:t>
            </a:r>
            <a:r>
              <a:rPr lang="en" sz="1000">
                <a:solidFill>
                  <a:srgbClr val="000000"/>
                </a:solidFill>
              </a:rPr>
              <a:t> row = 1 vehicle type at 1 detection region during 1 interval</a:t>
            </a:r>
            <a:endParaRPr sz="1200">
              <a:solidFill>
                <a:srgbClr val="000000"/>
              </a:solidFill>
              <a:latin typeface="Arial"/>
              <a:ea typeface="Arial"/>
              <a:cs typeface="Arial"/>
              <a:sym typeface="Arial"/>
            </a:endParaRPr>
          </a:p>
        </p:txBody>
      </p:sp>
      <p:pic>
        <p:nvPicPr>
          <p:cNvPr id="1529" name="Google Shape;1529;p35" title="Screenshot 2025-11-29 at 6.27.18 PM.png"/>
          <p:cNvPicPr preferRelativeResize="0"/>
          <p:nvPr/>
        </p:nvPicPr>
        <p:blipFill>
          <a:blip r:embed="rId3">
            <a:alphaModFix/>
          </a:blip>
          <a:stretch>
            <a:fillRect/>
          </a:stretch>
        </p:blipFill>
        <p:spPr>
          <a:xfrm>
            <a:off x="5229737" y="764825"/>
            <a:ext cx="2729924" cy="178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36"/>
          <p:cNvSpPr txBox="1"/>
          <p:nvPr>
            <p:ph type="title"/>
          </p:nvPr>
        </p:nvSpPr>
        <p:spPr>
          <a:xfrm flipH="1">
            <a:off x="3972150" y="3027550"/>
            <a:ext cx="5079900" cy="138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Clustering</a:t>
            </a:r>
            <a:endParaRPr sz="4000"/>
          </a:p>
        </p:txBody>
      </p:sp>
      <p:sp>
        <p:nvSpPr>
          <p:cNvPr id="1535" name="Google Shape;1535;p36"/>
          <p:cNvSpPr txBox="1"/>
          <p:nvPr>
            <p:ph idx="2" type="title"/>
          </p:nvPr>
        </p:nvSpPr>
        <p:spPr>
          <a:xfrm>
            <a:off x="3925725" y="2246225"/>
            <a:ext cx="1508400" cy="86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grpSp>
        <p:nvGrpSpPr>
          <p:cNvPr id="1536" name="Google Shape;1536;p36"/>
          <p:cNvGrpSpPr/>
          <p:nvPr/>
        </p:nvGrpSpPr>
        <p:grpSpPr>
          <a:xfrm flipH="1" rot="10800000">
            <a:off x="2438542" y="3027557"/>
            <a:ext cx="4482760" cy="4754793"/>
            <a:chOff x="4204225" y="2144350"/>
            <a:chExt cx="2159950" cy="2291025"/>
          </a:xfrm>
        </p:grpSpPr>
        <p:sp>
          <p:nvSpPr>
            <p:cNvPr id="1537" name="Google Shape;1537;p36"/>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6"/>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6"/>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6"/>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6"/>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6"/>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6"/>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6"/>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6"/>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6"/>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6"/>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6"/>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6"/>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6"/>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6"/>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6"/>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6"/>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6"/>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5" name="Google Shape;1555;p36"/>
          <p:cNvGrpSpPr/>
          <p:nvPr/>
        </p:nvGrpSpPr>
        <p:grpSpPr>
          <a:xfrm rot="5604526">
            <a:off x="-73105" y="-1205015"/>
            <a:ext cx="1358227" cy="6377825"/>
            <a:chOff x="4851025" y="424250"/>
            <a:chExt cx="654450" cy="3073100"/>
          </a:xfrm>
        </p:grpSpPr>
        <p:sp>
          <p:nvSpPr>
            <p:cNvPr id="1556" name="Google Shape;1556;p36"/>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6"/>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6"/>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6"/>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6"/>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6"/>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6"/>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6"/>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6"/>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6"/>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6"/>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6"/>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6"/>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6"/>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6"/>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6"/>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6"/>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3" name="Google Shape;1573;p36"/>
          <p:cNvGrpSpPr/>
          <p:nvPr/>
        </p:nvGrpSpPr>
        <p:grpSpPr>
          <a:xfrm flipH="1" rot="-5400000">
            <a:off x="6940748" y="-1917686"/>
            <a:ext cx="3848803" cy="5689424"/>
            <a:chOff x="939875" y="457213"/>
            <a:chExt cx="1854488" cy="2741363"/>
          </a:xfrm>
        </p:grpSpPr>
        <p:sp>
          <p:nvSpPr>
            <p:cNvPr id="1574" name="Google Shape;1574;p36"/>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6"/>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6"/>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6"/>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6"/>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6"/>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6"/>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6"/>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6"/>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6"/>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6"/>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6"/>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6"/>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6"/>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6"/>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6"/>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6"/>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6"/>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6"/>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6"/>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6"/>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6"/>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6"/>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6"/>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6"/>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6"/>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0" name="Google Shape;1600;p36"/>
          <p:cNvGrpSpPr/>
          <p:nvPr/>
        </p:nvGrpSpPr>
        <p:grpSpPr>
          <a:xfrm>
            <a:off x="-385454" y="628634"/>
            <a:ext cx="2186019" cy="4663683"/>
            <a:chOff x="3061750" y="2798625"/>
            <a:chExt cx="1053300" cy="2247125"/>
          </a:xfrm>
        </p:grpSpPr>
        <p:grpSp>
          <p:nvGrpSpPr>
            <p:cNvPr id="1601" name="Google Shape;1601;p36"/>
            <p:cNvGrpSpPr/>
            <p:nvPr/>
          </p:nvGrpSpPr>
          <p:grpSpPr>
            <a:xfrm>
              <a:off x="3061750" y="2798625"/>
              <a:ext cx="1053300" cy="2247125"/>
              <a:chOff x="3682050" y="2775150"/>
              <a:chExt cx="1053300" cy="2247125"/>
            </a:xfrm>
          </p:grpSpPr>
          <p:sp>
            <p:nvSpPr>
              <p:cNvPr id="1602" name="Google Shape;1602;p36"/>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6"/>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6"/>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6"/>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6"/>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6"/>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6"/>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6"/>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6"/>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6"/>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6"/>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6"/>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6"/>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6"/>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6"/>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7" name="Google Shape;1617;p36"/>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6"/>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6"/>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0" name="Google Shape;1620;p36"/>
          <p:cNvGrpSpPr/>
          <p:nvPr/>
        </p:nvGrpSpPr>
        <p:grpSpPr>
          <a:xfrm>
            <a:off x="-1884987" y="992376"/>
            <a:ext cx="4755675" cy="2338198"/>
            <a:chOff x="5910900" y="252875"/>
            <a:chExt cx="2291450" cy="1126625"/>
          </a:xfrm>
        </p:grpSpPr>
        <p:sp>
          <p:nvSpPr>
            <p:cNvPr id="1621" name="Google Shape;1621;p36"/>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6"/>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6"/>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6"/>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6"/>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6"/>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6"/>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6"/>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6"/>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6"/>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6"/>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6"/>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6"/>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4" name="Google Shape;1634;p36"/>
          <p:cNvGrpSpPr/>
          <p:nvPr/>
        </p:nvGrpSpPr>
        <p:grpSpPr>
          <a:xfrm>
            <a:off x="-522031" y="95655"/>
            <a:ext cx="4030101" cy="1211247"/>
            <a:chOff x="430469" y="4172355"/>
            <a:chExt cx="4030101" cy="1211247"/>
          </a:xfrm>
        </p:grpSpPr>
        <p:grpSp>
          <p:nvGrpSpPr>
            <p:cNvPr id="1635" name="Google Shape;1635;p36"/>
            <p:cNvGrpSpPr/>
            <p:nvPr/>
          </p:nvGrpSpPr>
          <p:grpSpPr>
            <a:xfrm flipH="1" rot="5538019">
              <a:off x="1919568" y="2782430"/>
              <a:ext cx="1051902" cy="3991097"/>
              <a:chOff x="5485075" y="3521900"/>
              <a:chExt cx="506850" cy="1923075"/>
            </a:xfrm>
          </p:grpSpPr>
          <p:sp>
            <p:nvSpPr>
              <p:cNvPr id="1636" name="Google Shape;1636;p36"/>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6"/>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6"/>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6"/>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6"/>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6"/>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6"/>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6"/>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6"/>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6"/>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6" name="Google Shape;1646;p36"/>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37"/>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 </a:t>
            </a:r>
            <a:endParaRPr/>
          </a:p>
        </p:txBody>
      </p:sp>
      <p:sp>
        <p:nvSpPr>
          <p:cNvPr id="1652" name="Google Shape;1652;p37"/>
          <p:cNvSpPr txBox="1"/>
          <p:nvPr>
            <p:ph idx="2" type="subTitle"/>
          </p:nvPr>
        </p:nvSpPr>
        <p:spPr>
          <a:xfrm>
            <a:off x="782175" y="1168175"/>
            <a:ext cx="7344300" cy="379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000000"/>
                </a:solidFill>
              </a:rPr>
              <a:t>Factor Analysis of Mixed Data (prince.FAMD): </a:t>
            </a:r>
            <a:endParaRPr sz="1200">
              <a:solidFill>
                <a:srgbClr val="000000"/>
              </a:solidFill>
            </a:endParaRPr>
          </a:p>
          <a:p>
            <a:pPr indent="0" lvl="0" marL="0" rtl="0" algn="l">
              <a:lnSpc>
                <a:spcPct val="115000"/>
              </a:lnSpc>
              <a:spcBef>
                <a:spcPts val="0"/>
              </a:spcBef>
              <a:spcAft>
                <a:spcPts val="0"/>
              </a:spcAft>
              <a:buNone/>
            </a:pPr>
            <a:r>
              <a:rPr lang="en">
                <a:solidFill>
                  <a:srgbClr val="000000"/>
                </a:solidFill>
              </a:rPr>
              <a:t>PCA for continuous variables combined with MCA for categorical variables</a:t>
            </a:r>
            <a:endParaRPr>
              <a:solidFill>
                <a:srgbClr val="000000"/>
              </a:solidFill>
            </a:endParaRPr>
          </a:p>
          <a:p>
            <a:pPr indent="0" lvl="0" marL="0" rtl="0" algn="l">
              <a:lnSpc>
                <a:spcPct val="115000"/>
              </a:lnSpc>
              <a:spcBef>
                <a:spcPts val="0"/>
              </a:spcBef>
              <a:spcAft>
                <a:spcPts val="0"/>
              </a:spcAft>
              <a:buNone/>
            </a:pPr>
            <a:r>
              <a:t/>
            </a:r>
            <a:endParaRPr b="1">
              <a:solidFill>
                <a:srgbClr val="000000"/>
              </a:solidFill>
            </a:endParaRPr>
          </a:p>
          <a:p>
            <a:pPr indent="0" lvl="0" marL="0" rtl="0" algn="l">
              <a:lnSpc>
                <a:spcPct val="115000"/>
              </a:lnSpc>
              <a:spcBef>
                <a:spcPts val="0"/>
              </a:spcBef>
              <a:spcAft>
                <a:spcPts val="0"/>
              </a:spcAft>
              <a:buNone/>
            </a:pPr>
            <a:r>
              <a:rPr b="1" lang="en">
                <a:solidFill>
                  <a:srgbClr val="000000"/>
                </a:solidFill>
              </a:rPr>
              <a:t>HDBSCAN (hdbscan.HDBSCAN)</a:t>
            </a:r>
            <a:r>
              <a:rPr b="1" lang="en">
                <a:solidFill>
                  <a:srgbClr val="000000"/>
                </a:solidFill>
              </a:rPr>
              <a:t>: </a:t>
            </a:r>
            <a:endParaRPr sz="1200">
              <a:solidFill>
                <a:srgbClr val="000000"/>
              </a:solidFill>
            </a:endParaRPr>
          </a:p>
          <a:p>
            <a:pPr indent="0" lvl="0" marL="0" rtl="0" algn="l">
              <a:lnSpc>
                <a:spcPct val="115000"/>
              </a:lnSpc>
              <a:spcBef>
                <a:spcPts val="0"/>
              </a:spcBef>
              <a:spcAft>
                <a:spcPts val="0"/>
              </a:spcAft>
              <a:buNone/>
            </a:pPr>
            <a:r>
              <a:rPr lang="en">
                <a:solidFill>
                  <a:srgbClr val="111111"/>
                </a:solidFill>
              </a:rPr>
              <a:t>Identifies clusters of varying density by building a hierarchy of potential clusters and selecting the most stable ones, rather than requiring a single global density threshold</a:t>
            </a:r>
            <a:endParaRPr sz="1200">
              <a:solidFill>
                <a:srgbClr val="000000"/>
              </a:solidFill>
            </a:endParaRPr>
          </a:p>
          <a:p>
            <a:pPr indent="0" lvl="0" marL="0" rtl="0" algn="l">
              <a:lnSpc>
                <a:spcPct val="115000"/>
              </a:lnSpc>
              <a:spcBef>
                <a:spcPts val="1100"/>
              </a:spcBef>
              <a:spcAft>
                <a:spcPts val="0"/>
              </a:spcAft>
              <a:buNone/>
            </a:pPr>
            <a:r>
              <a:rPr b="1" lang="en" sz="1200">
                <a:solidFill>
                  <a:srgbClr val="000000"/>
                </a:solidFill>
              </a:rPr>
              <a:t>Data Preparation: </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Chronologically s</a:t>
            </a:r>
            <a:r>
              <a:rPr lang="en" sz="1200">
                <a:solidFill>
                  <a:srgbClr val="000000"/>
                </a:solidFill>
              </a:rPr>
              <a:t>plit data into training (30%), val (15%), test (15%) before reduction</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Fit FAMD to training set, then separately transform validation and test sets</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Fit HDBSCAN model on reduced training set  (then predict on val/test)</a:t>
            </a:r>
            <a:endParaRPr sz="1200">
              <a:solidFill>
                <a:srgbClr val="000000"/>
              </a:solidFill>
            </a:endParaRPr>
          </a:p>
          <a:p>
            <a:pPr indent="0" lvl="0" marL="0" rtl="0" algn="l">
              <a:lnSpc>
                <a:spcPct val="115000"/>
              </a:lnSpc>
              <a:spcBef>
                <a:spcPts val="0"/>
              </a:spcBef>
              <a:spcAft>
                <a:spcPts val="0"/>
              </a:spcAft>
              <a:buNone/>
            </a:pPr>
            <a:r>
              <a:t/>
            </a:r>
            <a:endParaRPr sz="1200">
              <a:solidFill>
                <a:srgbClr val="000000"/>
              </a:solidFill>
            </a:endParaRPr>
          </a:p>
          <a:p>
            <a:pPr indent="0" lvl="0" marL="0" rtl="0" algn="l">
              <a:lnSpc>
                <a:spcPct val="115000"/>
              </a:lnSpc>
              <a:spcBef>
                <a:spcPts val="0"/>
              </a:spcBef>
              <a:spcAft>
                <a:spcPts val="0"/>
              </a:spcAft>
              <a:buNone/>
            </a:pPr>
            <a:r>
              <a:rPr lang="en" sz="1200">
                <a:solidFill>
                  <a:srgbClr val="000000"/>
                </a:solidFill>
              </a:rPr>
              <a:t>*Unsupervised only; RF and XGB do not require normalization or feature reduction</a:t>
            </a:r>
            <a:endParaRPr sz="1100">
              <a:solidFill>
                <a:srgbClr val="111111"/>
              </a:solidFill>
              <a:latin typeface="Arial"/>
              <a:ea typeface="Arial"/>
              <a:cs typeface="Arial"/>
              <a:sym typeface="Arial"/>
            </a:endParaRPr>
          </a:p>
          <a:p>
            <a:pPr indent="0" lvl="0" marL="0" rtl="0" algn="l">
              <a:lnSpc>
                <a:spcPct val="115000"/>
              </a:lnSpc>
              <a:spcBef>
                <a:spcPts val="0"/>
              </a:spcBef>
              <a:spcAft>
                <a:spcPts val="0"/>
              </a:spcAft>
              <a:buNone/>
            </a:pPr>
            <a:r>
              <a:t/>
            </a:r>
            <a:endParaRPr b="1" sz="1200">
              <a:solidFill>
                <a:srgbClr val="000000"/>
              </a:solidFill>
            </a:endParaRPr>
          </a:p>
        </p:txBody>
      </p:sp>
      <p:grpSp>
        <p:nvGrpSpPr>
          <p:cNvPr id="1653" name="Google Shape;1653;p37"/>
          <p:cNvGrpSpPr/>
          <p:nvPr/>
        </p:nvGrpSpPr>
        <p:grpSpPr>
          <a:xfrm rot="204526">
            <a:off x="8102686" y="1992056"/>
            <a:ext cx="1358227" cy="6377825"/>
            <a:chOff x="4851025" y="424250"/>
            <a:chExt cx="654450" cy="3073100"/>
          </a:xfrm>
        </p:grpSpPr>
        <p:sp>
          <p:nvSpPr>
            <p:cNvPr id="1654" name="Google Shape;1654;p37"/>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7"/>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7"/>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7"/>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7"/>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7"/>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7"/>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7"/>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7"/>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7"/>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7"/>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7"/>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7"/>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7"/>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7"/>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7"/>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7"/>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4" name="Shape 1674"/>
        <p:cNvGrpSpPr/>
        <p:nvPr/>
      </p:nvGrpSpPr>
      <p:grpSpPr>
        <a:xfrm>
          <a:off x="0" y="0"/>
          <a:ext cx="0" cy="0"/>
          <a:chOff x="0" y="0"/>
          <a:chExt cx="0" cy="0"/>
        </a:xfrm>
      </p:grpSpPr>
      <p:grpSp>
        <p:nvGrpSpPr>
          <p:cNvPr id="1675" name="Google Shape;1675;p38"/>
          <p:cNvGrpSpPr/>
          <p:nvPr/>
        </p:nvGrpSpPr>
        <p:grpSpPr>
          <a:xfrm rot="204546">
            <a:off x="8467639" y="2507294"/>
            <a:ext cx="1254641" cy="5891417"/>
            <a:chOff x="4851025" y="424250"/>
            <a:chExt cx="654450" cy="3073100"/>
          </a:xfrm>
        </p:grpSpPr>
        <p:sp>
          <p:nvSpPr>
            <p:cNvPr id="1676" name="Google Shape;1676;p38"/>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77" name="Google Shape;1677;p38"/>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78" name="Google Shape;1678;p38"/>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79" name="Google Shape;1679;p38"/>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0" name="Google Shape;1680;p38"/>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1" name="Google Shape;1681;p38"/>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2" name="Google Shape;1682;p38"/>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3" name="Google Shape;1683;p38"/>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4" name="Google Shape;1684;p38"/>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5" name="Google Shape;1685;p38"/>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6" name="Google Shape;1686;p38"/>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7" name="Google Shape;1687;p38"/>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8" name="Google Shape;1688;p38"/>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89" name="Google Shape;1689;p38"/>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90" name="Google Shape;1690;p38"/>
            <p:cNvSpPr/>
            <p:nvPr/>
          </p:nvSpPr>
          <p:spPr>
            <a:xfrm>
              <a:off x="5245975" y="442475"/>
              <a:ext cx="73200" cy="73200"/>
            </a:xfrm>
            <a:prstGeom prst="ellipse">
              <a:avLst/>
            </a:prstGeom>
            <a:solidFill>
              <a:schemeClr val="lt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91" name="Google Shape;1691;p38"/>
            <p:cNvSpPr/>
            <p:nvPr/>
          </p:nvSpPr>
          <p:spPr>
            <a:xfrm>
              <a:off x="5414063" y="3405938"/>
              <a:ext cx="73200" cy="73200"/>
            </a:xfrm>
            <a:prstGeom prst="ellipse">
              <a:avLst/>
            </a:prstGeom>
            <a:solidFill>
              <a:schemeClr val="lt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sp>
          <p:nvSpPr>
            <p:cNvPr id="1692" name="Google Shape;1692;p38"/>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84450" lIns="84450" spcFirstLastPara="1" rIns="84450" wrap="square" tIns="84450">
              <a:noAutofit/>
            </a:bodyPr>
            <a:lstStyle/>
            <a:p>
              <a:pPr indent="0" lvl="0" marL="0" rtl="0" algn="l">
                <a:spcBef>
                  <a:spcPts val="0"/>
                </a:spcBef>
                <a:spcAft>
                  <a:spcPts val="0"/>
                </a:spcAft>
                <a:buNone/>
              </a:pPr>
              <a:r>
                <a:t/>
              </a:r>
              <a:endParaRPr/>
            </a:p>
          </p:txBody>
        </p:sp>
      </p:grpSp>
      <p:sp>
        <p:nvSpPr>
          <p:cNvPr id="1693" name="Google Shape;1693;p38"/>
          <p:cNvSpPr txBox="1"/>
          <p:nvPr>
            <p:ph type="title"/>
          </p:nvPr>
        </p:nvSpPr>
        <p:spPr>
          <a:xfrm>
            <a:off x="628800" y="401850"/>
            <a:ext cx="20730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Tuning </a:t>
            </a:r>
            <a:endParaRPr/>
          </a:p>
        </p:txBody>
      </p:sp>
      <p:sp>
        <p:nvSpPr>
          <p:cNvPr id="1694" name="Google Shape;1694;p38"/>
          <p:cNvSpPr txBox="1"/>
          <p:nvPr>
            <p:ph idx="2" type="subTitle"/>
          </p:nvPr>
        </p:nvSpPr>
        <p:spPr>
          <a:xfrm>
            <a:off x="628800" y="1165450"/>
            <a:ext cx="3705900" cy="379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000000"/>
                </a:solidFill>
              </a:rPr>
              <a:t>Grid search</a:t>
            </a:r>
            <a:r>
              <a:rPr lang="en" sz="1200">
                <a:solidFill>
                  <a:srgbClr val="000000"/>
                </a:solidFill>
              </a:rPr>
              <a:t> on silhouette score, DBI, and noise: </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n_components (FAMD) = 8 </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min_cluster_size (HDBSCAN) = 30 </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Smallest group to be considered a cluster</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min_samples (HDBSCAN) = 20</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Neighbors needed to be in a cluster</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distance metric (HDBSCAN) = ‘euclidean’ </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c</a:t>
            </a:r>
            <a:r>
              <a:rPr i="1" lang="en" sz="1200">
                <a:solidFill>
                  <a:srgbClr val="000000"/>
                </a:solidFill>
              </a:rPr>
              <a:t>luster selection (HDBSCAN) = ‘eom’</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Choose final cluster set from hierarchy by prioritizing stable, well-separated clusters</a:t>
            </a:r>
            <a:endParaRPr b="1" sz="1200">
              <a:solidFill>
                <a:srgbClr val="000000"/>
              </a:solidFill>
            </a:endParaRPr>
          </a:p>
        </p:txBody>
      </p:sp>
      <p:pic>
        <p:nvPicPr>
          <p:cNvPr id="1695" name="Google Shape;1695;p38"/>
          <p:cNvPicPr preferRelativeResize="0"/>
          <p:nvPr/>
        </p:nvPicPr>
        <p:blipFill>
          <a:blip r:embed="rId3">
            <a:alphaModFix/>
          </a:blip>
          <a:stretch>
            <a:fillRect/>
          </a:stretch>
        </p:blipFill>
        <p:spPr>
          <a:xfrm>
            <a:off x="5096386" y="886213"/>
            <a:ext cx="2744574" cy="1174339"/>
          </a:xfrm>
          <a:prstGeom prst="rect">
            <a:avLst/>
          </a:prstGeom>
          <a:noFill/>
          <a:ln>
            <a:noFill/>
          </a:ln>
        </p:spPr>
      </p:pic>
      <p:pic>
        <p:nvPicPr>
          <p:cNvPr id="1696" name="Google Shape;1696;p38" title="no_noise_distributions.png"/>
          <p:cNvPicPr preferRelativeResize="0"/>
          <p:nvPr/>
        </p:nvPicPr>
        <p:blipFill>
          <a:blip r:embed="rId4">
            <a:alphaModFix/>
          </a:blip>
          <a:stretch>
            <a:fillRect/>
          </a:stretch>
        </p:blipFill>
        <p:spPr>
          <a:xfrm>
            <a:off x="4429122" y="2394484"/>
            <a:ext cx="4079080" cy="1067680"/>
          </a:xfrm>
          <a:prstGeom prst="rect">
            <a:avLst/>
          </a:prstGeom>
          <a:noFill/>
          <a:ln>
            <a:noFill/>
          </a:ln>
        </p:spPr>
      </p:pic>
      <p:sp>
        <p:nvSpPr>
          <p:cNvPr id="1697" name="Google Shape;1697;p38"/>
          <p:cNvSpPr txBox="1"/>
          <p:nvPr/>
        </p:nvSpPr>
        <p:spPr>
          <a:xfrm>
            <a:off x="5340837" y="3594295"/>
            <a:ext cx="2255700" cy="663000"/>
          </a:xfrm>
          <a:prstGeom prst="rect">
            <a:avLst/>
          </a:prstGeom>
          <a:noFill/>
          <a:ln cap="flat" cmpd="sng" w="9525">
            <a:solidFill>
              <a:schemeClr val="dk1"/>
            </a:solidFill>
            <a:prstDash val="solid"/>
            <a:round/>
            <a:headEnd len="sm" w="sm" type="none"/>
            <a:tailEnd len="sm" w="sm" type="none"/>
          </a:ln>
        </p:spPr>
        <p:txBody>
          <a:bodyPr anchorCtr="0" anchor="t" bIns="87500" lIns="87500" spcFirstLastPara="1" rIns="87500" wrap="square" tIns="87500">
            <a:spAutoFit/>
          </a:bodyPr>
          <a:lstStyle/>
          <a:p>
            <a:pPr indent="0" lvl="0" marL="0" rtl="0" algn="ctr">
              <a:lnSpc>
                <a:spcPct val="115000"/>
              </a:lnSpc>
              <a:spcBef>
                <a:spcPts val="0"/>
              </a:spcBef>
              <a:spcAft>
                <a:spcPts val="0"/>
              </a:spcAft>
              <a:buNone/>
            </a:pPr>
            <a:r>
              <a:rPr lang="en" sz="957">
                <a:latin typeface="Plus Jakarta Sans"/>
                <a:ea typeface="Plus Jakarta Sans"/>
                <a:cs typeface="Plus Jakarta Sans"/>
                <a:sym typeface="Plus Jakarta Sans"/>
              </a:rPr>
              <a:t>Intentionally selected lower silhouette and higher DBI but </a:t>
            </a:r>
            <a:r>
              <a:rPr b="1" lang="en" sz="957">
                <a:latin typeface="Plus Jakarta Sans"/>
                <a:ea typeface="Plus Jakarta Sans"/>
                <a:cs typeface="Plus Jakarta Sans"/>
                <a:sym typeface="Plus Jakarta Sans"/>
              </a:rPr>
              <a:t>more even and granular distribution</a:t>
            </a:r>
            <a:endParaRPr b="1" sz="1244"/>
          </a:p>
        </p:txBody>
      </p:sp>
      <p:cxnSp>
        <p:nvCxnSpPr>
          <p:cNvPr id="1698" name="Google Shape;1698;p38"/>
          <p:cNvCxnSpPr>
            <a:stCxn id="1695" idx="2"/>
            <a:endCxn id="1696" idx="0"/>
          </p:cNvCxnSpPr>
          <p:nvPr/>
        </p:nvCxnSpPr>
        <p:spPr>
          <a:xfrm>
            <a:off x="6468673" y="2060552"/>
            <a:ext cx="0" cy="333900"/>
          </a:xfrm>
          <a:prstGeom prst="straightConnector1">
            <a:avLst/>
          </a:prstGeom>
          <a:noFill/>
          <a:ln cap="flat" cmpd="sng" w="19050">
            <a:solidFill>
              <a:schemeClr val="dk1"/>
            </a:solidFill>
            <a:prstDash val="solid"/>
            <a:round/>
            <a:headEnd len="med" w="med" type="none"/>
            <a:tailEnd len="med" w="med" type="stealth"/>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sp>
        <p:nvSpPr>
          <p:cNvPr id="1703" name="Google Shape;1703;p39"/>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grpSp>
        <p:nvGrpSpPr>
          <p:cNvPr id="1704" name="Google Shape;1704;p39"/>
          <p:cNvGrpSpPr/>
          <p:nvPr/>
        </p:nvGrpSpPr>
        <p:grpSpPr>
          <a:xfrm rot="204526">
            <a:off x="8102686" y="1992056"/>
            <a:ext cx="1358227" cy="6377825"/>
            <a:chOff x="4851025" y="424250"/>
            <a:chExt cx="654450" cy="3073100"/>
          </a:xfrm>
        </p:grpSpPr>
        <p:sp>
          <p:nvSpPr>
            <p:cNvPr id="1705" name="Google Shape;1705;p39"/>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9"/>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9"/>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9"/>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9"/>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9"/>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9"/>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9"/>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9"/>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9"/>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9"/>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9"/>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9"/>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9"/>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9"/>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9"/>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9"/>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22" name="Google Shape;1722;p39" title="no_noise_train_clustering.png"/>
          <p:cNvPicPr preferRelativeResize="0"/>
          <p:nvPr/>
        </p:nvPicPr>
        <p:blipFill>
          <a:blip r:embed="rId3">
            <a:alphaModFix/>
          </a:blip>
          <a:stretch>
            <a:fillRect/>
          </a:stretch>
        </p:blipFill>
        <p:spPr>
          <a:xfrm>
            <a:off x="2114388" y="1211275"/>
            <a:ext cx="4915224" cy="3620650"/>
          </a:xfrm>
          <a:prstGeom prst="rect">
            <a:avLst/>
          </a:prstGeom>
          <a:noFill/>
          <a:ln>
            <a:noFill/>
          </a:ln>
        </p:spPr>
      </p:pic>
      <p:sp>
        <p:nvSpPr>
          <p:cNvPr id="1723" name="Google Shape;1723;p39"/>
          <p:cNvSpPr txBox="1"/>
          <p:nvPr/>
        </p:nvSpPr>
        <p:spPr>
          <a:xfrm>
            <a:off x="3914925" y="823350"/>
            <a:ext cx="31644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Plus Jakarta Sans"/>
                <a:ea typeface="Plus Jakarta Sans"/>
                <a:cs typeface="Plus Jakarta Sans"/>
                <a:sym typeface="Plus Jakarta Sans"/>
              </a:rPr>
              <a:t>n</a:t>
            </a:r>
            <a:r>
              <a:rPr lang="en" sz="1300">
                <a:solidFill>
                  <a:schemeClr val="dk1"/>
                </a:solidFill>
                <a:latin typeface="Plus Jakarta Sans"/>
                <a:ea typeface="Plus Jakarta Sans"/>
                <a:cs typeface="Plus Jakarta Sans"/>
                <a:sym typeface="Plus Jakarta Sans"/>
              </a:rPr>
              <a:t> = 3138, silhouette = 0.349, DBI = 0.91</a:t>
            </a:r>
            <a:endParaRPr sz="1300">
              <a:solidFill>
                <a:schemeClr val="dk1"/>
              </a:solidFill>
              <a:latin typeface="Plus Jakarta Sans"/>
              <a:ea typeface="Plus Jakarta Sans"/>
              <a:cs typeface="Plus Jakarta Sans"/>
              <a:sym typeface="Plus Jakart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40"/>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grpSp>
        <p:nvGrpSpPr>
          <p:cNvPr id="1729" name="Google Shape;1729;p40"/>
          <p:cNvGrpSpPr/>
          <p:nvPr/>
        </p:nvGrpSpPr>
        <p:grpSpPr>
          <a:xfrm rot="204526">
            <a:off x="8102686" y="1992056"/>
            <a:ext cx="1358227" cy="6377825"/>
            <a:chOff x="4851025" y="424250"/>
            <a:chExt cx="654450" cy="3073100"/>
          </a:xfrm>
        </p:grpSpPr>
        <p:sp>
          <p:nvSpPr>
            <p:cNvPr id="1730" name="Google Shape;1730;p40"/>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40"/>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0"/>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40"/>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40"/>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40"/>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40"/>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40"/>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40"/>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40"/>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40"/>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40"/>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0"/>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0"/>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0"/>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0"/>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40"/>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47" name="Google Shape;1747;p40" title="noise_pie_charts.png"/>
          <p:cNvPicPr preferRelativeResize="0"/>
          <p:nvPr/>
        </p:nvPicPr>
        <p:blipFill>
          <a:blip r:embed="rId3">
            <a:alphaModFix/>
          </a:blip>
          <a:stretch>
            <a:fillRect/>
          </a:stretch>
        </p:blipFill>
        <p:spPr>
          <a:xfrm>
            <a:off x="1792050" y="2689475"/>
            <a:ext cx="5653200" cy="1928021"/>
          </a:xfrm>
          <a:prstGeom prst="rect">
            <a:avLst/>
          </a:prstGeom>
          <a:noFill/>
          <a:ln>
            <a:noFill/>
          </a:ln>
        </p:spPr>
      </p:pic>
      <p:pic>
        <p:nvPicPr>
          <p:cNvPr id="1748" name="Google Shape;1748;p40" title="no_noise_distributions.png"/>
          <p:cNvPicPr preferRelativeResize="0"/>
          <p:nvPr/>
        </p:nvPicPr>
        <p:blipFill>
          <a:blip r:embed="rId4">
            <a:alphaModFix/>
          </a:blip>
          <a:stretch>
            <a:fillRect/>
          </a:stretch>
        </p:blipFill>
        <p:spPr>
          <a:xfrm>
            <a:off x="1792049" y="1209775"/>
            <a:ext cx="5653202" cy="1479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41"/>
          <p:cNvSpPr txBox="1"/>
          <p:nvPr>
            <p:ph type="title"/>
          </p:nvPr>
        </p:nvSpPr>
        <p:spPr>
          <a:xfrm flipH="1">
            <a:off x="3972150" y="3027550"/>
            <a:ext cx="5079900" cy="138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Random Forest Regression</a:t>
            </a:r>
            <a:endParaRPr sz="4000"/>
          </a:p>
        </p:txBody>
      </p:sp>
      <p:sp>
        <p:nvSpPr>
          <p:cNvPr id="1754" name="Google Shape;1754;p41"/>
          <p:cNvSpPr txBox="1"/>
          <p:nvPr>
            <p:ph idx="2" type="title"/>
          </p:nvPr>
        </p:nvSpPr>
        <p:spPr>
          <a:xfrm>
            <a:off x="3925725" y="2246225"/>
            <a:ext cx="1508400" cy="86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grpSp>
        <p:nvGrpSpPr>
          <p:cNvPr id="1755" name="Google Shape;1755;p41"/>
          <p:cNvGrpSpPr/>
          <p:nvPr/>
        </p:nvGrpSpPr>
        <p:grpSpPr>
          <a:xfrm flipH="1" rot="10800000">
            <a:off x="2438542" y="3027557"/>
            <a:ext cx="4482760" cy="4754793"/>
            <a:chOff x="4204225" y="2144350"/>
            <a:chExt cx="2159950" cy="2291025"/>
          </a:xfrm>
        </p:grpSpPr>
        <p:sp>
          <p:nvSpPr>
            <p:cNvPr id="1756" name="Google Shape;1756;p41"/>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41"/>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1"/>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1"/>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1"/>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1"/>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1"/>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1"/>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1"/>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41"/>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1"/>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1"/>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1"/>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41"/>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41"/>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1"/>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1"/>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1"/>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4" name="Google Shape;1774;p41"/>
          <p:cNvGrpSpPr/>
          <p:nvPr/>
        </p:nvGrpSpPr>
        <p:grpSpPr>
          <a:xfrm rot="5604526">
            <a:off x="-73105" y="-1205015"/>
            <a:ext cx="1358227" cy="6377825"/>
            <a:chOff x="4851025" y="424250"/>
            <a:chExt cx="654450" cy="3073100"/>
          </a:xfrm>
        </p:grpSpPr>
        <p:sp>
          <p:nvSpPr>
            <p:cNvPr id="1775" name="Google Shape;1775;p41"/>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1"/>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1"/>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1"/>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1"/>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1"/>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1"/>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1"/>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1"/>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1"/>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1"/>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1"/>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1"/>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1"/>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1"/>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1"/>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1"/>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2" name="Google Shape;1792;p41"/>
          <p:cNvGrpSpPr/>
          <p:nvPr/>
        </p:nvGrpSpPr>
        <p:grpSpPr>
          <a:xfrm flipH="1" rot="-5400000">
            <a:off x="6940748" y="-1917686"/>
            <a:ext cx="3848803" cy="5689424"/>
            <a:chOff x="939875" y="457213"/>
            <a:chExt cx="1854488" cy="2741363"/>
          </a:xfrm>
        </p:grpSpPr>
        <p:sp>
          <p:nvSpPr>
            <p:cNvPr id="1793" name="Google Shape;1793;p41"/>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1"/>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1"/>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41"/>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41"/>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1"/>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1"/>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1"/>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1"/>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1"/>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1"/>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1"/>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1"/>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1"/>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1"/>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1"/>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1"/>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1"/>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1"/>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1"/>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1"/>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1"/>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1"/>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1"/>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1"/>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1"/>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9" name="Google Shape;1819;p41"/>
          <p:cNvGrpSpPr/>
          <p:nvPr/>
        </p:nvGrpSpPr>
        <p:grpSpPr>
          <a:xfrm>
            <a:off x="-385454" y="628634"/>
            <a:ext cx="2186019" cy="4663683"/>
            <a:chOff x="3061750" y="2798625"/>
            <a:chExt cx="1053300" cy="2247125"/>
          </a:xfrm>
        </p:grpSpPr>
        <p:grpSp>
          <p:nvGrpSpPr>
            <p:cNvPr id="1820" name="Google Shape;1820;p41"/>
            <p:cNvGrpSpPr/>
            <p:nvPr/>
          </p:nvGrpSpPr>
          <p:grpSpPr>
            <a:xfrm>
              <a:off x="3061750" y="2798625"/>
              <a:ext cx="1053300" cy="2247125"/>
              <a:chOff x="3682050" y="2775150"/>
              <a:chExt cx="1053300" cy="2247125"/>
            </a:xfrm>
          </p:grpSpPr>
          <p:sp>
            <p:nvSpPr>
              <p:cNvPr id="1821" name="Google Shape;1821;p41"/>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1"/>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1"/>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1"/>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1"/>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1"/>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1"/>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1"/>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1"/>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1"/>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1"/>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1"/>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41"/>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1"/>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1"/>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6" name="Google Shape;1836;p41"/>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1"/>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1"/>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9" name="Google Shape;1839;p41"/>
          <p:cNvGrpSpPr/>
          <p:nvPr/>
        </p:nvGrpSpPr>
        <p:grpSpPr>
          <a:xfrm>
            <a:off x="-1884987" y="992376"/>
            <a:ext cx="4755675" cy="2338198"/>
            <a:chOff x="5910900" y="252875"/>
            <a:chExt cx="2291450" cy="1126625"/>
          </a:xfrm>
        </p:grpSpPr>
        <p:sp>
          <p:nvSpPr>
            <p:cNvPr id="1840" name="Google Shape;1840;p41"/>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1"/>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1"/>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1"/>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1"/>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1"/>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1"/>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1"/>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1"/>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1"/>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1"/>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41"/>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41"/>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3" name="Google Shape;1853;p41"/>
          <p:cNvGrpSpPr/>
          <p:nvPr/>
        </p:nvGrpSpPr>
        <p:grpSpPr>
          <a:xfrm>
            <a:off x="-522031" y="95655"/>
            <a:ext cx="4030101" cy="1211247"/>
            <a:chOff x="430469" y="4172355"/>
            <a:chExt cx="4030101" cy="1211247"/>
          </a:xfrm>
        </p:grpSpPr>
        <p:grpSp>
          <p:nvGrpSpPr>
            <p:cNvPr id="1854" name="Google Shape;1854;p41"/>
            <p:cNvGrpSpPr/>
            <p:nvPr/>
          </p:nvGrpSpPr>
          <p:grpSpPr>
            <a:xfrm flipH="1" rot="5538019">
              <a:off x="1919568" y="2782430"/>
              <a:ext cx="1051902" cy="3991097"/>
              <a:chOff x="5485075" y="3521900"/>
              <a:chExt cx="506850" cy="1923075"/>
            </a:xfrm>
          </p:grpSpPr>
          <p:sp>
            <p:nvSpPr>
              <p:cNvPr id="1855" name="Google Shape;1855;p41"/>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41"/>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1"/>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41"/>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41"/>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41"/>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1"/>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1"/>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1"/>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41"/>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5" name="Google Shape;1865;p41"/>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42"/>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1871" name="Google Shape;1871;p42"/>
          <p:cNvSpPr txBox="1"/>
          <p:nvPr>
            <p:ph idx="2" type="subTitle"/>
          </p:nvPr>
        </p:nvSpPr>
        <p:spPr>
          <a:xfrm>
            <a:off x="782175" y="1168175"/>
            <a:ext cx="7344300" cy="379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000000"/>
                </a:solidFill>
              </a:rPr>
              <a:t>Random Forest Regressor</a:t>
            </a:r>
            <a:r>
              <a:rPr b="1" lang="en">
                <a:solidFill>
                  <a:srgbClr val="000000"/>
                </a:solidFill>
              </a:rPr>
              <a:t> (sklearn.ensemble.RandomForestRegressor): </a:t>
            </a:r>
            <a:endParaRPr sz="1200">
              <a:solidFill>
                <a:srgbClr val="000000"/>
              </a:solidFill>
            </a:endParaRPr>
          </a:p>
          <a:p>
            <a:pPr indent="0" lvl="0" marL="0" rtl="0" algn="l">
              <a:lnSpc>
                <a:spcPct val="115000"/>
              </a:lnSpc>
              <a:spcBef>
                <a:spcPts val="0"/>
              </a:spcBef>
              <a:spcAft>
                <a:spcPts val="0"/>
              </a:spcAft>
              <a:buNone/>
            </a:pPr>
            <a:r>
              <a:rPr lang="en">
                <a:solidFill>
                  <a:srgbClr val="000000"/>
                </a:solidFill>
              </a:rPr>
              <a:t>Combine predictions across many randomly constructed decision trees</a:t>
            </a:r>
            <a:endParaRPr>
              <a:solidFill>
                <a:srgbClr val="000000"/>
              </a:solidFill>
            </a:endParaRPr>
          </a:p>
          <a:p>
            <a:pPr indent="0" lvl="0" marL="0" rtl="0" algn="l">
              <a:lnSpc>
                <a:spcPct val="115000"/>
              </a:lnSpc>
              <a:spcBef>
                <a:spcPts val="0"/>
              </a:spcBef>
              <a:spcAft>
                <a:spcPts val="0"/>
              </a:spcAft>
              <a:buNone/>
            </a:pPr>
            <a:r>
              <a:t/>
            </a:r>
            <a:endParaRPr b="1">
              <a:solidFill>
                <a:srgbClr val="000000"/>
              </a:solidFill>
            </a:endParaRPr>
          </a:p>
          <a:p>
            <a:pPr indent="0" lvl="0" marL="0" rtl="0" algn="l">
              <a:lnSpc>
                <a:spcPct val="115000"/>
              </a:lnSpc>
              <a:spcBef>
                <a:spcPts val="0"/>
              </a:spcBef>
              <a:spcAft>
                <a:spcPts val="0"/>
              </a:spcAft>
              <a:buNone/>
            </a:pPr>
            <a:r>
              <a:rPr b="1" lang="en">
                <a:solidFill>
                  <a:srgbClr val="000000"/>
                </a:solidFill>
              </a:rPr>
              <a:t>Multi Output Regressor (sklearn.multioutput.MultiOutputRegressor): </a:t>
            </a:r>
            <a:endParaRPr sz="1200">
              <a:solidFill>
                <a:srgbClr val="000000"/>
              </a:solidFill>
            </a:endParaRPr>
          </a:p>
          <a:p>
            <a:pPr indent="0" lvl="0" marL="0" rtl="0" algn="l">
              <a:lnSpc>
                <a:spcPct val="115000"/>
              </a:lnSpc>
              <a:spcBef>
                <a:spcPts val="0"/>
              </a:spcBef>
              <a:spcAft>
                <a:spcPts val="0"/>
              </a:spcAft>
              <a:buNone/>
            </a:pPr>
            <a:r>
              <a:rPr lang="en">
                <a:solidFill>
                  <a:srgbClr val="111111"/>
                </a:solidFill>
              </a:rPr>
              <a:t>Handles weights and predictions for two target variables</a:t>
            </a:r>
            <a:endParaRPr sz="1200">
              <a:solidFill>
                <a:srgbClr val="000000"/>
              </a:solidFill>
            </a:endParaRPr>
          </a:p>
          <a:p>
            <a:pPr indent="0" lvl="0" marL="0" rtl="0" algn="l">
              <a:lnSpc>
                <a:spcPct val="115000"/>
              </a:lnSpc>
              <a:spcBef>
                <a:spcPts val="1100"/>
              </a:spcBef>
              <a:spcAft>
                <a:spcPts val="0"/>
              </a:spcAft>
              <a:buNone/>
            </a:pPr>
            <a:r>
              <a:rPr b="1" lang="en" sz="1200">
                <a:solidFill>
                  <a:srgbClr val="000000"/>
                </a:solidFill>
              </a:rPr>
              <a:t>Data Preparation: </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Does not require normalization or feature reduction</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Add computed rolling mean features back into the dataset</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Add a feature for generated cluster labels  (casted as category)</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Train, validation, and test splits prior to FAMD carried over</a:t>
            </a:r>
            <a:endParaRPr>
              <a:solidFill>
                <a:srgbClr val="000000"/>
              </a:solidFill>
              <a:latin typeface="Arial"/>
              <a:ea typeface="Arial"/>
              <a:cs typeface="Arial"/>
              <a:sym typeface="Arial"/>
            </a:endParaRPr>
          </a:p>
        </p:txBody>
      </p:sp>
      <p:grpSp>
        <p:nvGrpSpPr>
          <p:cNvPr id="1872" name="Google Shape;1872;p42"/>
          <p:cNvGrpSpPr/>
          <p:nvPr/>
        </p:nvGrpSpPr>
        <p:grpSpPr>
          <a:xfrm rot="204526">
            <a:off x="8102686" y="1992056"/>
            <a:ext cx="1358227" cy="6377825"/>
            <a:chOff x="4851025" y="424250"/>
            <a:chExt cx="654450" cy="3073100"/>
          </a:xfrm>
        </p:grpSpPr>
        <p:sp>
          <p:nvSpPr>
            <p:cNvPr id="1873" name="Google Shape;1873;p42"/>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2"/>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2"/>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42"/>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2"/>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2"/>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42"/>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2"/>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42"/>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42"/>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42"/>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2"/>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2"/>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42"/>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42"/>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42"/>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2"/>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43"/>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Tuning</a:t>
            </a:r>
            <a:endParaRPr/>
          </a:p>
        </p:txBody>
      </p:sp>
      <p:sp>
        <p:nvSpPr>
          <p:cNvPr id="1895" name="Google Shape;1895;p43"/>
          <p:cNvSpPr txBox="1"/>
          <p:nvPr>
            <p:ph idx="2" type="subTitle"/>
          </p:nvPr>
        </p:nvSpPr>
        <p:spPr>
          <a:xfrm>
            <a:off x="782175" y="1168175"/>
            <a:ext cx="7344300" cy="379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000000"/>
                </a:solidFill>
              </a:rPr>
              <a:t>Randomized grid search (sklearn.model_selection.RandomizedSearchCV) </a:t>
            </a:r>
            <a:r>
              <a:rPr lang="en" sz="1200">
                <a:solidFill>
                  <a:srgbClr val="000000"/>
                </a:solidFill>
              </a:rPr>
              <a:t>on R^2:</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n_estimators = 200</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Number of trees in forest</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max_depth = 20 </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Maximum depth of each individual tree</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min_samples_split = 10</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Number of samples needed to split node</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min_samples_leaf = 1</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Minimum samples required in leaf node</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max_features = 0.3</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No. of features considered when choosing each split</a:t>
            </a:r>
            <a:endParaRPr b="1" sz="1200">
              <a:solidFill>
                <a:srgbClr val="000000"/>
              </a:solidFill>
            </a:endParaRPr>
          </a:p>
          <a:p>
            <a:pPr indent="0" lvl="0" marL="0" rtl="0" algn="l">
              <a:lnSpc>
                <a:spcPct val="115000"/>
              </a:lnSpc>
              <a:spcBef>
                <a:spcPts val="0"/>
              </a:spcBef>
              <a:spcAft>
                <a:spcPts val="0"/>
              </a:spcAft>
              <a:buNone/>
            </a:pPr>
            <a:r>
              <a:t/>
            </a:r>
            <a:endParaRPr sz="1200">
              <a:solidFill>
                <a:srgbClr val="000000"/>
              </a:solidFill>
            </a:endParaRPr>
          </a:p>
          <a:p>
            <a:pPr indent="0" lvl="0" marL="0" rtl="0" algn="l">
              <a:lnSpc>
                <a:spcPct val="115000"/>
              </a:lnSpc>
              <a:spcBef>
                <a:spcPts val="1100"/>
              </a:spcBef>
              <a:spcAft>
                <a:spcPts val="0"/>
              </a:spcAft>
              <a:buNone/>
            </a:pPr>
            <a:r>
              <a:t/>
            </a:r>
            <a:endParaRPr sz="1200">
              <a:solidFill>
                <a:srgbClr val="000000"/>
              </a:solidFill>
            </a:endParaRPr>
          </a:p>
        </p:txBody>
      </p:sp>
      <p:grpSp>
        <p:nvGrpSpPr>
          <p:cNvPr id="1896" name="Google Shape;1896;p43"/>
          <p:cNvGrpSpPr/>
          <p:nvPr/>
        </p:nvGrpSpPr>
        <p:grpSpPr>
          <a:xfrm rot="204526">
            <a:off x="8102686" y="1992056"/>
            <a:ext cx="1358227" cy="6377825"/>
            <a:chOff x="4851025" y="424250"/>
            <a:chExt cx="654450" cy="3073100"/>
          </a:xfrm>
        </p:grpSpPr>
        <p:sp>
          <p:nvSpPr>
            <p:cNvPr id="1897" name="Google Shape;1897;p43"/>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3"/>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3"/>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43"/>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3"/>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3"/>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3"/>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3"/>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3"/>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3"/>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3"/>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43"/>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43"/>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43"/>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3"/>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3"/>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3"/>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4" name="Google Shape;1914;p43"/>
          <p:cNvSpPr txBox="1"/>
          <p:nvPr/>
        </p:nvSpPr>
        <p:spPr>
          <a:xfrm>
            <a:off x="4810875" y="1775850"/>
            <a:ext cx="3414600" cy="742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100"/>
              </a:spcAft>
              <a:buNone/>
            </a:pPr>
            <a:r>
              <a:rPr lang="en" sz="1100">
                <a:solidFill>
                  <a:srgbClr val="111111"/>
                </a:solidFill>
                <a:latin typeface="Plus Jakarta Sans"/>
                <a:ea typeface="Plus Jakarta Sans"/>
                <a:cs typeface="Plus Jakarta Sans"/>
                <a:sym typeface="Plus Jakarta Sans"/>
              </a:rPr>
              <a:t>U</a:t>
            </a:r>
            <a:r>
              <a:rPr lang="en" sz="1100">
                <a:solidFill>
                  <a:srgbClr val="111111"/>
                </a:solidFill>
                <a:latin typeface="Plus Jakarta Sans"/>
                <a:ea typeface="Plus Jakarta Sans"/>
                <a:cs typeface="Plus Jakarta Sans"/>
                <a:sym typeface="Plus Jakarta Sans"/>
              </a:rPr>
              <a:t>sed sklearn.model_selection.TimeSeriesSplit with n_splits = 3 to create the cross validation splits without data leakage</a:t>
            </a:r>
            <a:endParaRPr sz="1100">
              <a:solidFill>
                <a:schemeClr val="dk1"/>
              </a:solidFill>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p44"/>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grpSp>
        <p:nvGrpSpPr>
          <p:cNvPr id="1920" name="Google Shape;1920;p44"/>
          <p:cNvGrpSpPr/>
          <p:nvPr/>
        </p:nvGrpSpPr>
        <p:grpSpPr>
          <a:xfrm rot="204526">
            <a:off x="8102686" y="1992056"/>
            <a:ext cx="1358227" cy="6377825"/>
            <a:chOff x="4851025" y="424250"/>
            <a:chExt cx="654450" cy="3073100"/>
          </a:xfrm>
        </p:grpSpPr>
        <p:sp>
          <p:nvSpPr>
            <p:cNvPr id="1921" name="Google Shape;1921;p44"/>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4"/>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44"/>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4"/>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4"/>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4"/>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4"/>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44"/>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44"/>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44"/>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44"/>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44"/>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44"/>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44"/>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44"/>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44"/>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44"/>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38" name="Google Shape;1938;p44"/>
          <p:cNvPicPr preferRelativeResize="0"/>
          <p:nvPr/>
        </p:nvPicPr>
        <p:blipFill>
          <a:blip r:embed="rId3">
            <a:alphaModFix/>
          </a:blip>
          <a:stretch>
            <a:fillRect/>
          </a:stretch>
        </p:blipFill>
        <p:spPr>
          <a:xfrm>
            <a:off x="4144900" y="401850"/>
            <a:ext cx="4260500" cy="2130250"/>
          </a:xfrm>
          <a:prstGeom prst="rect">
            <a:avLst/>
          </a:prstGeom>
          <a:noFill/>
          <a:ln>
            <a:noFill/>
          </a:ln>
        </p:spPr>
      </p:pic>
      <p:pic>
        <p:nvPicPr>
          <p:cNvPr id="1939" name="Google Shape;1939;p44"/>
          <p:cNvPicPr preferRelativeResize="0"/>
          <p:nvPr/>
        </p:nvPicPr>
        <p:blipFill>
          <a:blip r:embed="rId4">
            <a:alphaModFix/>
          </a:blip>
          <a:stretch>
            <a:fillRect/>
          </a:stretch>
        </p:blipFill>
        <p:spPr>
          <a:xfrm>
            <a:off x="4144912" y="2653999"/>
            <a:ext cx="4260475" cy="2259976"/>
          </a:xfrm>
          <a:prstGeom prst="rect">
            <a:avLst/>
          </a:prstGeom>
          <a:noFill/>
          <a:ln>
            <a:noFill/>
          </a:ln>
        </p:spPr>
      </p:pic>
      <p:graphicFrame>
        <p:nvGraphicFramePr>
          <p:cNvPr id="1940" name="Google Shape;1940;p44"/>
          <p:cNvGraphicFramePr/>
          <p:nvPr/>
        </p:nvGraphicFramePr>
        <p:xfrm>
          <a:off x="891475" y="2827300"/>
          <a:ext cx="3000000" cy="3000000"/>
        </p:xfrm>
        <a:graphic>
          <a:graphicData uri="http://schemas.openxmlformats.org/drawingml/2006/table">
            <a:tbl>
              <a:tblPr>
                <a:noFill/>
                <a:tableStyleId>{C7D58F65-B41B-4245-B594-94999854B196}</a:tableStyleId>
              </a:tblPr>
              <a:tblGrid>
                <a:gridCol w="838200"/>
                <a:gridCol w="838200"/>
                <a:gridCol w="1423425"/>
              </a:tblGrid>
              <a:tr h="266700">
                <a:tc>
                  <a:txBody>
                    <a:bodyPr/>
                    <a:lstStyle/>
                    <a:p>
                      <a:pPr indent="0" lvl="0" marL="0" rtl="0" algn="l">
                        <a:spcBef>
                          <a:spcPts val="0"/>
                        </a:spcBef>
                        <a:spcAft>
                          <a:spcPts val="0"/>
                        </a:spcAft>
                        <a:buNone/>
                      </a:pPr>
                      <a:r>
                        <a:t/>
                      </a:r>
                      <a:endParaRPr b="1" sz="900">
                        <a:solidFill>
                          <a:srgbClr val="111111"/>
                        </a:solidFill>
                        <a:latin typeface="Plus Jakarta Sans"/>
                        <a:ea typeface="Plus Jakarta Sans"/>
                        <a:cs typeface="Plus Jakarta Sans"/>
                        <a:sym typeface="Plus Jakarta Sans"/>
                      </a:endParaRPr>
                    </a:p>
                  </a:txBody>
                  <a:tcPr marT="63500" marB="63500" marR="63500" marL="63500"/>
                </a:tc>
                <a:tc gridSpan="2">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R^2 (Old Clustering Labels)</a:t>
                      </a:r>
                      <a:endParaRPr b="1" sz="900">
                        <a:solidFill>
                          <a:srgbClr val="111111"/>
                        </a:solidFill>
                        <a:latin typeface="Plus Jakarta Sans"/>
                        <a:ea typeface="Plus Jakarta Sans"/>
                        <a:cs typeface="Plus Jakarta Sans"/>
                        <a:sym typeface="Plus Jakarta Sans"/>
                      </a:endParaRPr>
                    </a:p>
                  </a:txBody>
                  <a:tcPr marT="63500" marB="63500" marR="63500" marL="63500"/>
                </a:tc>
                <a:tc hMerge="1"/>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Set</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Entries</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Excluded Roadway Entries</a:t>
                      </a:r>
                      <a:endParaRPr b="1" sz="900">
                        <a:solidFill>
                          <a:srgbClr val="111111"/>
                        </a:solidFill>
                        <a:latin typeface="Plus Jakarta Sans"/>
                        <a:ea typeface="Plus Jakarta Sans"/>
                        <a:cs typeface="Plus Jakarta Sans"/>
                        <a:sym typeface="Plus Jakarta Sans"/>
                      </a:endParaRPr>
                    </a:p>
                  </a:txBody>
                  <a:tcPr marT="63500" marB="63500" marR="63500" marL="63500"/>
                </a:tc>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Train</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solidFill>
                            <a:srgbClr val="111111"/>
                          </a:solidFill>
                          <a:latin typeface="Plus Jakarta Sans"/>
                          <a:ea typeface="Plus Jakarta Sans"/>
                          <a:cs typeface="Plus Jakarta Sans"/>
                          <a:sym typeface="Plus Jakarta Sans"/>
                        </a:rPr>
                        <a:t>0.9961</a:t>
                      </a:r>
                      <a:endParaRPr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solidFill>
                            <a:srgbClr val="111111"/>
                          </a:solidFill>
                          <a:latin typeface="Plus Jakarta Sans"/>
                          <a:ea typeface="Plus Jakarta Sans"/>
                          <a:cs typeface="Plus Jakarta Sans"/>
                          <a:sym typeface="Plus Jakarta Sans"/>
                        </a:rPr>
                        <a:t>0.9952</a:t>
                      </a:r>
                      <a:endParaRPr sz="900">
                        <a:solidFill>
                          <a:srgbClr val="111111"/>
                        </a:solidFill>
                        <a:latin typeface="Plus Jakarta Sans"/>
                        <a:ea typeface="Plus Jakarta Sans"/>
                        <a:cs typeface="Plus Jakarta Sans"/>
                        <a:sym typeface="Plus Jakarta Sans"/>
                      </a:endParaRPr>
                    </a:p>
                  </a:txBody>
                  <a:tcPr marT="63500" marB="63500" marR="63500" marL="63500"/>
                </a:tc>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Validation</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solidFill>
                            <a:srgbClr val="111111"/>
                          </a:solidFill>
                          <a:latin typeface="Plus Jakarta Sans"/>
                          <a:ea typeface="Plus Jakarta Sans"/>
                          <a:cs typeface="Plus Jakarta Sans"/>
                          <a:sym typeface="Plus Jakarta Sans"/>
                        </a:rPr>
                        <a:t>0.9893</a:t>
                      </a:r>
                      <a:endParaRPr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solidFill>
                            <a:srgbClr val="111111"/>
                          </a:solidFill>
                          <a:latin typeface="Plus Jakarta Sans"/>
                          <a:ea typeface="Plus Jakarta Sans"/>
                          <a:cs typeface="Plus Jakarta Sans"/>
                          <a:sym typeface="Plus Jakarta Sans"/>
                        </a:rPr>
                        <a:t>0.9850</a:t>
                      </a:r>
                      <a:endParaRPr sz="900">
                        <a:solidFill>
                          <a:srgbClr val="111111"/>
                        </a:solidFill>
                        <a:latin typeface="Plus Jakarta Sans"/>
                        <a:ea typeface="Plus Jakarta Sans"/>
                        <a:cs typeface="Plus Jakarta Sans"/>
                        <a:sym typeface="Plus Jakarta Sans"/>
                      </a:endParaRPr>
                    </a:p>
                  </a:txBody>
                  <a:tcPr marT="63500" marB="63500" marR="63500" marL="63500"/>
                </a:tc>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Test</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solidFill>
                            <a:srgbClr val="111111"/>
                          </a:solidFill>
                          <a:latin typeface="Plus Jakarta Sans"/>
                          <a:ea typeface="Plus Jakarta Sans"/>
                          <a:cs typeface="Plus Jakarta Sans"/>
                          <a:sym typeface="Plus Jakarta Sans"/>
                        </a:rPr>
                        <a:t>0.9896</a:t>
                      </a:r>
                      <a:endParaRPr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solidFill>
                            <a:srgbClr val="111111"/>
                          </a:solidFill>
                          <a:latin typeface="Plus Jakarta Sans"/>
                          <a:ea typeface="Plus Jakarta Sans"/>
                          <a:cs typeface="Plus Jakarta Sans"/>
                          <a:sym typeface="Plus Jakarta Sans"/>
                        </a:rPr>
                        <a:t>0.9858</a:t>
                      </a:r>
                      <a:endParaRPr sz="900">
                        <a:solidFill>
                          <a:srgbClr val="111111"/>
                        </a:solidFill>
                        <a:latin typeface="Plus Jakarta Sans"/>
                        <a:ea typeface="Plus Jakarta Sans"/>
                        <a:cs typeface="Plus Jakarta Sans"/>
                        <a:sym typeface="Plus Jakarta Sans"/>
                      </a:endParaRPr>
                    </a:p>
                  </a:txBody>
                  <a:tcPr marT="63500" marB="63500" marR="63500" marL="63500"/>
                </a:tc>
              </a:tr>
            </a:tbl>
          </a:graphicData>
        </a:graphic>
      </p:graphicFrame>
      <p:graphicFrame>
        <p:nvGraphicFramePr>
          <p:cNvPr id="1941" name="Google Shape;1941;p44"/>
          <p:cNvGraphicFramePr/>
          <p:nvPr/>
        </p:nvGraphicFramePr>
        <p:xfrm>
          <a:off x="891475" y="1198500"/>
          <a:ext cx="3000000" cy="3000000"/>
        </p:xfrm>
        <a:graphic>
          <a:graphicData uri="http://schemas.openxmlformats.org/drawingml/2006/table">
            <a:tbl>
              <a:tblPr>
                <a:noFill/>
                <a:tableStyleId>{C7D58F65-B41B-4245-B594-94999854B196}</a:tableStyleId>
              </a:tblPr>
              <a:tblGrid>
                <a:gridCol w="838200"/>
                <a:gridCol w="838200"/>
                <a:gridCol w="1423425"/>
              </a:tblGrid>
              <a:tr h="266700">
                <a:tc>
                  <a:txBody>
                    <a:bodyPr/>
                    <a:lstStyle/>
                    <a:p>
                      <a:pPr indent="0" lvl="0" marL="0" rtl="0" algn="l">
                        <a:spcBef>
                          <a:spcPts val="0"/>
                        </a:spcBef>
                        <a:spcAft>
                          <a:spcPts val="0"/>
                        </a:spcAft>
                        <a:buNone/>
                      </a:pPr>
                      <a:r>
                        <a:t/>
                      </a:r>
                      <a:endParaRPr b="1" sz="900">
                        <a:solidFill>
                          <a:srgbClr val="111111"/>
                        </a:solidFill>
                        <a:latin typeface="Plus Jakarta Sans"/>
                        <a:ea typeface="Plus Jakarta Sans"/>
                        <a:cs typeface="Plus Jakarta Sans"/>
                        <a:sym typeface="Plus Jakarta Sans"/>
                      </a:endParaRPr>
                    </a:p>
                  </a:txBody>
                  <a:tcPr marT="63500" marB="63500" marR="63500" marL="63500"/>
                </a:tc>
                <a:tc gridSpan="2">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R^2 (New Clustering Labels)</a:t>
                      </a:r>
                      <a:endParaRPr b="1" sz="900">
                        <a:solidFill>
                          <a:srgbClr val="111111"/>
                        </a:solidFill>
                        <a:latin typeface="Plus Jakarta Sans"/>
                        <a:ea typeface="Plus Jakarta Sans"/>
                        <a:cs typeface="Plus Jakarta Sans"/>
                        <a:sym typeface="Plus Jakarta Sans"/>
                      </a:endParaRPr>
                    </a:p>
                  </a:txBody>
                  <a:tcPr marT="63500" marB="63500" marR="63500" marL="63500"/>
                </a:tc>
                <a:tc hMerge="1"/>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Set</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Entries</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Excluded Roadway Entries</a:t>
                      </a:r>
                      <a:endParaRPr b="1" sz="900">
                        <a:solidFill>
                          <a:srgbClr val="111111"/>
                        </a:solidFill>
                        <a:latin typeface="Plus Jakarta Sans"/>
                        <a:ea typeface="Plus Jakarta Sans"/>
                        <a:cs typeface="Plus Jakarta Sans"/>
                        <a:sym typeface="Plus Jakarta Sans"/>
                      </a:endParaRPr>
                    </a:p>
                  </a:txBody>
                  <a:tcPr marT="63500" marB="63500" marR="63500" marL="63500"/>
                </a:tc>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Train</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0.9961</a:t>
                      </a:r>
                      <a:endParaRPr sz="900">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0.9953</a:t>
                      </a:r>
                      <a:endParaRPr sz="900">
                        <a:latin typeface="Plus Jakarta Sans"/>
                        <a:ea typeface="Plus Jakarta Sans"/>
                        <a:cs typeface="Plus Jakarta Sans"/>
                        <a:sym typeface="Plus Jakarta Sans"/>
                      </a:endParaRPr>
                    </a:p>
                  </a:txBody>
                  <a:tcPr marT="63500" marB="63500" marR="63500" marL="63500"/>
                </a:tc>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Validation</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0.9893</a:t>
                      </a:r>
                      <a:endParaRPr sz="900">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0.9848</a:t>
                      </a:r>
                      <a:endParaRPr sz="900">
                        <a:latin typeface="Plus Jakarta Sans"/>
                        <a:ea typeface="Plus Jakarta Sans"/>
                        <a:cs typeface="Plus Jakarta Sans"/>
                        <a:sym typeface="Plus Jakarta Sans"/>
                      </a:endParaRPr>
                    </a:p>
                  </a:txBody>
                  <a:tcPr marT="63500" marB="63500" marR="63500" marL="63500"/>
                </a:tc>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Test</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0.9895</a:t>
                      </a:r>
                      <a:endParaRPr sz="900">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0.9857</a:t>
                      </a:r>
                      <a:endParaRPr sz="900">
                        <a:latin typeface="Plus Jakarta Sans"/>
                        <a:ea typeface="Plus Jakarta Sans"/>
                        <a:cs typeface="Plus Jakarta Sans"/>
                        <a:sym typeface="Plus Jakarta Sans"/>
                      </a:endParaRPr>
                    </a:p>
                  </a:txBody>
                  <a:tcPr marT="63500" marB="63500" marR="63500" marL="6350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5" name="Shape 1945"/>
        <p:cNvGrpSpPr/>
        <p:nvPr/>
      </p:nvGrpSpPr>
      <p:grpSpPr>
        <a:xfrm>
          <a:off x="0" y="0"/>
          <a:ext cx="0" cy="0"/>
          <a:chOff x="0" y="0"/>
          <a:chExt cx="0" cy="0"/>
        </a:xfrm>
      </p:grpSpPr>
      <p:sp>
        <p:nvSpPr>
          <p:cNvPr id="1946" name="Google Shape;1946;p45"/>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grpSp>
        <p:nvGrpSpPr>
          <p:cNvPr id="1947" name="Google Shape;1947;p45"/>
          <p:cNvGrpSpPr/>
          <p:nvPr/>
        </p:nvGrpSpPr>
        <p:grpSpPr>
          <a:xfrm rot="204526">
            <a:off x="8102686" y="1992056"/>
            <a:ext cx="1358227" cy="6377825"/>
            <a:chOff x="4851025" y="424250"/>
            <a:chExt cx="654450" cy="3073100"/>
          </a:xfrm>
        </p:grpSpPr>
        <p:sp>
          <p:nvSpPr>
            <p:cNvPr id="1948" name="Google Shape;1948;p45"/>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45"/>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45"/>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45"/>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5"/>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45"/>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45"/>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45"/>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45"/>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45"/>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45"/>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45"/>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45"/>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45"/>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45"/>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45"/>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45"/>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65" name="Google Shape;1965;p45"/>
          <p:cNvPicPr preferRelativeResize="0"/>
          <p:nvPr/>
        </p:nvPicPr>
        <p:blipFill>
          <a:blip r:embed="rId3">
            <a:alphaModFix/>
          </a:blip>
          <a:stretch>
            <a:fillRect/>
          </a:stretch>
        </p:blipFill>
        <p:spPr>
          <a:xfrm>
            <a:off x="275150" y="1552450"/>
            <a:ext cx="4286676" cy="2383775"/>
          </a:xfrm>
          <a:prstGeom prst="rect">
            <a:avLst/>
          </a:prstGeom>
          <a:noFill/>
          <a:ln>
            <a:noFill/>
          </a:ln>
        </p:spPr>
      </p:pic>
      <p:pic>
        <p:nvPicPr>
          <p:cNvPr id="1966" name="Google Shape;1966;p45"/>
          <p:cNvPicPr preferRelativeResize="0"/>
          <p:nvPr/>
        </p:nvPicPr>
        <p:blipFill>
          <a:blip r:embed="rId4">
            <a:alphaModFix/>
          </a:blip>
          <a:stretch>
            <a:fillRect/>
          </a:stretch>
        </p:blipFill>
        <p:spPr>
          <a:xfrm>
            <a:off x="4681525" y="1552450"/>
            <a:ext cx="4286676" cy="238378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0" name="Shape 1970"/>
        <p:cNvGrpSpPr/>
        <p:nvPr/>
      </p:nvGrpSpPr>
      <p:grpSpPr>
        <a:xfrm>
          <a:off x="0" y="0"/>
          <a:ext cx="0" cy="0"/>
          <a:chOff x="0" y="0"/>
          <a:chExt cx="0" cy="0"/>
        </a:xfrm>
      </p:grpSpPr>
      <p:sp>
        <p:nvSpPr>
          <p:cNvPr id="1971" name="Google Shape;1971;p46"/>
          <p:cNvSpPr txBox="1"/>
          <p:nvPr>
            <p:ph type="title"/>
          </p:nvPr>
        </p:nvSpPr>
        <p:spPr>
          <a:xfrm flipH="1">
            <a:off x="3972150" y="3027550"/>
            <a:ext cx="5079900" cy="138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XGBoost </a:t>
            </a:r>
            <a:r>
              <a:rPr lang="en" sz="4000"/>
              <a:t>Regression</a:t>
            </a:r>
            <a:endParaRPr sz="4000"/>
          </a:p>
        </p:txBody>
      </p:sp>
      <p:sp>
        <p:nvSpPr>
          <p:cNvPr id="1972" name="Google Shape;1972;p46"/>
          <p:cNvSpPr txBox="1"/>
          <p:nvPr>
            <p:ph idx="2" type="title"/>
          </p:nvPr>
        </p:nvSpPr>
        <p:spPr>
          <a:xfrm>
            <a:off x="3925725" y="2246225"/>
            <a:ext cx="1508400" cy="86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05</a:t>
            </a:r>
            <a:endParaRPr/>
          </a:p>
        </p:txBody>
      </p:sp>
      <p:grpSp>
        <p:nvGrpSpPr>
          <p:cNvPr id="1973" name="Google Shape;1973;p46"/>
          <p:cNvGrpSpPr/>
          <p:nvPr/>
        </p:nvGrpSpPr>
        <p:grpSpPr>
          <a:xfrm flipH="1" rot="10800000">
            <a:off x="2438542" y="3027557"/>
            <a:ext cx="4482760" cy="4754793"/>
            <a:chOff x="4204225" y="2144350"/>
            <a:chExt cx="2159950" cy="2291025"/>
          </a:xfrm>
        </p:grpSpPr>
        <p:sp>
          <p:nvSpPr>
            <p:cNvPr id="1974" name="Google Shape;1974;p46"/>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46"/>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46"/>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46"/>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46"/>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6"/>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6"/>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6"/>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46"/>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46"/>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46"/>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46"/>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46"/>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46"/>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46"/>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46"/>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46"/>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46"/>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2" name="Google Shape;1992;p46"/>
          <p:cNvGrpSpPr/>
          <p:nvPr/>
        </p:nvGrpSpPr>
        <p:grpSpPr>
          <a:xfrm rot="5604526">
            <a:off x="-73105" y="-1205015"/>
            <a:ext cx="1358227" cy="6377825"/>
            <a:chOff x="4851025" y="424250"/>
            <a:chExt cx="654450" cy="3073100"/>
          </a:xfrm>
        </p:grpSpPr>
        <p:sp>
          <p:nvSpPr>
            <p:cNvPr id="1993" name="Google Shape;1993;p46"/>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6"/>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6"/>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46"/>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6"/>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6"/>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6"/>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6"/>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46"/>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6"/>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6"/>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46"/>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46"/>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46"/>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6"/>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46"/>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6"/>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0" name="Google Shape;2010;p46"/>
          <p:cNvGrpSpPr/>
          <p:nvPr/>
        </p:nvGrpSpPr>
        <p:grpSpPr>
          <a:xfrm flipH="1" rot="-5400000">
            <a:off x="6940748" y="-1917686"/>
            <a:ext cx="3848803" cy="5689424"/>
            <a:chOff x="939875" y="457213"/>
            <a:chExt cx="1854488" cy="2741363"/>
          </a:xfrm>
        </p:grpSpPr>
        <p:sp>
          <p:nvSpPr>
            <p:cNvPr id="2011" name="Google Shape;2011;p46"/>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6"/>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6"/>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6"/>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46"/>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46"/>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46"/>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46"/>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46"/>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6"/>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46"/>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46"/>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6"/>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46"/>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46"/>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6"/>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46"/>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6"/>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6"/>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46"/>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6"/>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6"/>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6"/>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6"/>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6"/>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6"/>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7" name="Google Shape;2037;p46"/>
          <p:cNvGrpSpPr/>
          <p:nvPr/>
        </p:nvGrpSpPr>
        <p:grpSpPr>
          <a:xfrm>
            <a:off x="-385454" y="628634"/>
            <a:ext cx="2186019" cy="4663683"/>
            <a:chOff x="3061750" y="2798625"/>
            <a:chExt cx="1053300" cy="2247125"/>
          </a:xfrm>
        </p:grpSpPr>
        <p:grpSp>
          <p:nvGrpSpPr>
            <p:cNvPr id="2038" name="Google Shape;2038;p46"/>
            <p:cNvGrpSpPr/>
            <p:nvPr/>
          </p:nvGrpSpPr>
          <p:grpSpPr>
            <a:xfrm>
              <a:off x="3061750" y="2798625"/>
              <a:ext cx="1053300" cy="2247125"/>
              <a:chOff x="3682050" y="2775150"/>
              <a:chExt cx="1053300" cy="2247125"/>
            </a:xfrm>
          </p:grpSpPr>
          <p:sp>
            <p:nvSpPr>
              <p:cNvPr id="2039" name="Google Shape;2039;p46"/>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6"/>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6"/>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6"/>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46"/>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6"/>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6"/>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6"/>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6"/>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6"/>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6"/>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6"/>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6"/>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6"/>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6"/>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4" name="Google Shape;2054;p46"/>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6"/>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6"/>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7" name="Google Shape;2057;p46"/>
          <p:cNvGrpSpPr/>
          <p:nvPr/>
        </p:nvGrpSpPr>
        <p:grpSpPr>
          <a:xfrm>
            <a:off x="-1884987" y="992376"/>
            <a:ext cx="4755675" cy="2338198"/>
            <a:chOff x="5910900" y="252875"/>
            <a:chExt cx="2291450" cy="1126625"/>
          </a:xfrm>
        </p:grpSpPr>
        <p:sp>
          <p:nvSpPr>
            <p:cNvPr id="2058" name="Google Shape;2058;p46"/>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6"/>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6"/>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6"/>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6"/>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6"/>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6"/>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6"/>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6"/>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6"/>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6"/>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6"/>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6"/>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1" name="Google Shape;2071;p46"/>
          <p:cNvGrpSpPr/>
          <p:nvPr/>
        </p:nvGrpSpPr>
        <p:grpSpPr>
          <a:xfrm>
            <a:off x="-522031" y="95655"/>
            <a:ext cx="4030101" cy="1211247"/>
            <a:chOff x="430469" y="4172355"/>
            <a:chExt cx="4030101" cy="1211247"/>
          </a:xfrm>
        </p:grpSpPr>
        <p:grpSp>
          <p:nvGrpSpPr>
            <p:cNvPr id="2072" name="Google Shape;2072;p46"/>
            <p:cNvGrpSpPr/>
            <p:nvPr/>
          </p:nvGrpSpPr>
          <p:grpSpPr>
            <a:xfrm flipH="1" rot="5538019">
              <a:off x="1919568" y="2782430"/>
              <a:ext cx="1051902" cy="3991097"/>
              <a:chOff x="5485075" y="3521900"/>
              <a:chExt cx="506850" cy="1923075"/>
            </a:xfrm>
          </p:grpSpPr>
          <p:sp>
            <p:nvSpPr>
              <p:cNvPr id="2073" name="Google Shape;2073;p46"/>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6"/>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6"/>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46"/>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6"/>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6"/>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6"/>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6"/>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6"/>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6"/>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3" name="Google Shape;2083;p46"/>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7" name="Shape 2087"/>
        <p:cNvGrpSpPr/>
        <p:nvPr/>
      </p:nvGrpSpPr>
      <p:grpSpPr>
        <a:xfrm>
          <a:off x="0" y="0"/>
          <a:ext cx="0" cy="0"/>
          <a:chOff x="0" y="0"/>
          <a:chExt cx="0" cy="0"/>
        </a:xfrm>
      </p:grpSpPr>
      <p:sp>
        <p:nvSpPr>
          <p:cNvPr id="2088" name="Google Shape;2088;p47"/>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 </a:t>
            </a:r>
            <a:endParaRPr/>
          </a:p>
        </p:txBody>
      </p:sp>
      <p:sp>
        <p:nvSpPr>
          <p:cNvPr id="2089" name="Google Shape;2089;p47"/>
          <p:cNvSpPr txBox="1"/>
          <p:nvPr>
            <p:ph idx="2" type="subTitle"/>
          </p:nvPr>
        </p:nvSpPr>
        <p:spPr>
          <a:xfrm>
            <a:off x="782175" y="1168175"/>
            <a:ext cx="7344300" cy="379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000000"/>
                </a:solidFill>
              </a:rPr>
              <a:t>XGBoost (xgb.Regressor): </a:t>
            </a:r>
            <a:endParaRPr sz="1200">
              <a:solidFill>
                <a:srgbClr val="000000"/>
              </a:solidFill>
            </a:endParaRPr>
          </a:p>
          <a:p>
            <a:pPr indent="0" lvl="0" marL="0" rtl="0" algn="l">
              <a:lnSpc>
                <a:spcPct val="115000"/>
              </a:lnSpc>
              <a:spcBef>
                <a:spcPts val="0"/>
              </a:spcBef>
              <a:spcAft>
                <a:spcPts val="0"/>
              </a:spcAft>
              <a:buNone/>
            </a:pPr>
            <a:r>
              <a:rPr lang="en">
                <a:solidFill>
                  <a:srgbClr val="000000"/>
                </a:solidFill>
              </a:rPr>
              <a:t>Gradient-boosted decision-tree model that constructs many trees in sequence that reduce the errors of earlier trees, then sums their outputs into a final prediction </a:t>
            </a:r>
            <a:endParaRPr>
              <a:solidFill>
                <a:srgbClr val="000000"/>
              </a:solidFill>
            </a:endParaRPr>
          </a:p>
          <a:p>
            <a:pPr indent="0" lvl="0" marL="0" rtl="0" algn="l">
              <a:lnSpc>
                <a:spcPct val="115000"/>
              </a:lnSpc>
              <a:spcBef>
                <a:spcPts val="0"/>
              </a:spcBef>
              <a:spcAft>
                <a:spcPts val="0"/>
              </a:spcAft>
              <a:buNone/>
            </a:pPr>
            <a:r>
              <a:t/>
            </a:r>
            <a:endParaRPr>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a:solidFill>
                  <a:srgbClr val="000000"/>
                </a:solidFill>
              </a:rPr>
              <a:t>Multi Output Regressor (sklearn.multioutput.MultiOutputRegressor): </a:t>
            </a:r>
            <a:endParaRPr sz="1200">
              <a:solidFill>
                <a:srgbClr val="000000"/>
              </a:solidFill>
            </a:endParaRPr>
          </a:p>
          <a:p>
            <a:pPr indent="0" lvl="0" marL="0" rtl="0" algn="l">
              <a:lnSpc>
                <a:spcPct val="115000"/>
              </a:lnSpc>
              <a:spcBef>
                <a:spcPts val="0"/>
              </a:spcBef>
              <a:spcAft>
                <a:spcPts val="0"/>
              </a:spcAft>
              <a:buNone/>
            </a:pPr>
            <a:r>
              <a:rPr lang="en">
                <a:solidFill>
                  <a:srgbClr val="111111"/>
                </a:solidFill>
              </a:rPr>
              <a:t>Handles weights and predictions for two target variables</a:t>
            </a:r>
            <a:endParaRPr>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b="1" lang="en" sz="1200">
                <a:solidFill>
                  <a:srgbClr val="000000"/>
                </a:solidFill>
              </a:rPr>
              <a:t>Data Preparation: </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Does not require normalization or feature reduction</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Add computed rolling mean features back into the dataset</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Add a feature for generated cluster labels (casted as category)</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rPr>
              <a:t>Train, validation, and test splits prior to FAMD carried over</a:t>
            </a:r>
            <a:endParaRPr sz="1100">
              <a:solidFill>
                <a:srgbClr val="111111"/>
              </a:solidFill>
              <a:latin typeface="Arial"/>
              <a:ea typeface="Arial"/>
              <a:cs typeface="Arial"/>
              <a:sym typeface="Arial"/>
            </a:endParaRPr>
          </a:p>
          <a:p>
            <a:pPr indent="0" lvl="0" marL="457200" rtl="0" algn="l">
              <a:lnSpc>
                <a:spcPct val="115000"/>
              </a:lnSpc>
              <a:spcBef>
                <a:spcPts val="0"/>
              </a:spcBef>
              <a:spcAft>
                <a:spcPts val="0"/>
              </a:spcAft>
              <a:buNone/>
            </a:pPr>
            <a:r>
              <a:t/>
            </a:r>
            <a:endParaRPr sz="1200">
              <a:solidFill>
                <a:srgbClr val="000000"/>
              </a:solidFill>
            </a:endParaRPr>
          </a:p>
          <a:p>
            <a:pPr indent="0" lvl="0" marL="0" rtl="0" algn="l">
              <a:lnSpc>
                <a:spcPct val="115000"/>
              </a:lnSpc>
              <a:spcBef>
                <a:spcPts val="0"/>
              </a:spcBef>
              <a:spcAft>
                <a:spcPts val="0"/>
              </a:spcAft>
              <a:buNone/>
            </a:pPr>
            <a:r>
              <a:t/>
            </a:r>
            <a:endParaRPr sz="1200">
              <a:solidFill>
                <a:srgbClr val="000000"/>
              </a:solidFill>
            </a:endParaRPr>
          </a:p>
          <a:p>
            <a:pPr indent="0" lvl="0" marL="0" rtl="0" algn="l">
              <a:lnSpc>
                <a:spcPct val="115000"/>
              </a:lnSpc>
              <a:spcBef>
                <a:spcPts val="0"/>
              </a:spcBef>
              <a:spcAft>
                <a:spcPts val="0"/>
              </a:spcAft>
              <a:buNone/>
            </a:pPr>
            <a:r>
              <a:t/>
            </a:r>
            <a:endParaRPr b="1" sz="1200">
              <a:solidFill>
                <a:srgbClr val="000000"/>
              </a:solidFill>
            </a:endParaRPr>
          </a:p>
        </p:txBody>
      </p:sp>
      <p:grpSp>
        <p:nvGrpSpPr>
          <p:cNvPr id="2090" name="Google Shape;2090;p47"/>
          <p:cNvGrpSpPr/>
          <p:nvPr/>
        </p:nvGrpSpPr>
        <p:grpSpPr>
          <a:xfrm rot="204526">
            <a:off x="8102686" y="1992056"/>
            <a:ext cx="1358227" cy="6377825"/>
            <a:chOff x="4851025" y="424250"/>
            <a:chExt cx="654450" cy="3073100"/>
          </a:xfrm>
        </p:grpSpPr>
        <p:sp>
          <p:nvSpPr>
            <p:cNvPr id="2091" name="Google Shape;2091;p47"/>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7"/>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7"/>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7"/>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7"/>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7"/>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7"/>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7"/>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7"/>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7"/>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7"/>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7"/>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7"/>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7"/>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7"/>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7"/>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7"/>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1" name="Shape 2111"/>
        <p:cNvGrpSpPr/>
        <p:nvPr/>
      </p:nvGrpSpPr>
      <p:grpSpPr>
        <a:xfrm>
          <a:off x="0" y="0"/>
          <a:ext cx="0" cy="0"/>
          <a:chOff x="0" y="0"/>
          <a:chExt cx="0" cy="0"/>
        </a:xfrm>
      </p:grpSpPr>
      <p:sp>
        <p:nvSpPr>
          <p:cNvPr id="2112" name="Google Shape;2112;p48"/>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Tuning </a:t>
            </a:r>
            <a:endParaRPr/>
          </a:p>
        </p:txBody>
      </p:sp>
      <p:sp>
        <p:nvSpPr>
          <p:cNvPr id="2113" name="Google Shape;2113;p48"/>
          <p:cNvSpPr txBox="1"/>
          <p:nvPr>
            <p:ph idx="2" type="subTitle"/>
          </p:nvPr>
        </p:nvSpPr>
        <p:spPr>
          <a:xfrm>
            <a:off x="782175" y="1168175"/>
            <a:ext cx="7344300" cy="379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000000"/>
                </a:solidFill>
              </a:rPr>
              <a:t>Randomized grid search (sklearn.model_selection.RandomizedSearchCV) </a:t>
            </a:r>
            <a:r>
              <a:rPr lang="en" sz="1200">
                <a:solidFill>
                  <a:srgbClr val="000000"/>
                </a:solidFill>
              </a:rPr>
              <a:t>on R^2:</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n_estimators = 600</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Number of trees / boosting rounds</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max_depth = 4 </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Maximum depth of each individual tree</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learning_rate = 0.1</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Step size controlling how much each tree contributes to the prediction</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col_sample_bytree = 1</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Fraction of features sampled for each tree</a:t>
            </a:r>
            <a:endParaRPr sz="1200">
              <a:solidFill>
                <a:srgbClr val="000000"/>
              </a:solidFill>
            </a:endParaRPr>
          </a:p>
          <a:p>
            <a:pPr indent="-304800" lvl="0" marL="457200" rtl="0" algn="l">
              <a:lnSpc>
                <a:spcPct val="115000"/>
              </a:lnSpc>
              <a:spcBef>
                <a:spcPts val="1000"/>
              </a:spcBef>
              <a:spcAft>
                <a:spcPts val="0"/>
              </a:spcAft>
              <a:buClr>
                <a:srgbClr val="000000"/>
              </a:buClr>
              <a:buSzPts val="1200"/>
              <a:buChar char="●"/>
            </a:pPr>
            <a:r>
              <a:rPr i="1" lang="en" sz="1200">
                <a:solidFill>
                  <a:srgbClr val="000000"/>
                </a:solidFill>
              </a:rPr>
              <a:t>reg_lambda  = 1.0</a:t>
            </a:r>
            <a:endParaRPr i="1" sz="1200">
              <a:solidFill>
                <a:srgbClr val="000000"/>
              </a:solidFill>
            </a:endParaRPr>
          </a:p>
          <a:p>
            <a:pPr indent="0" lvl="0" marL="457200" rtl="0" algn="l">
              <a:lnSpc>
                <a:spcPct val="115000"/>
              </a:lnSpc>
              <a:spcBef>
                <a:spcPts val="0"/>
              </a:spcBef>
              <a:spcAft>
                <a:spcPts val="0"/>
              </a:spcAft>
              <a:buNone/>
            </a:pPr>
            <a:r>
              <a:rPr lang="en" sz="1200">
                <a:solidFill>
                  <a:srgbClr val="000000"/>
                </a:solidFill>
              </a:rPr>
              <a:t>L2 regularization term on leaf weights </a:t>
            </a:r>
            <a:endParaRPr b="1" sz="1000">
              <a:solidFill>
                <a:srgbClr val="000000"/>
              </a:solidFill>
            </a:endParaRPr>
          </a:p>
          <a:p>
            <a:pPr indent="0" lvl="0" marL="457200" rtl="0" algn="l">
              <a:lnSpc>
                <a:spcPct val="115000"/>
              </a:lnSpc>
              <a:spcBef>
                <a:spcPts val="0"/>
              </a:spcBef>
              <a:spcAft>
                <a:spcPts val="0"/>
              </a:spcAft>
              <a:buNone/>
            </a:pPr>
            <a:r>
              <a:t/>
            </a:r>
            <a:endParaRPr sz="1200">
              <a:solidFill>
                <a:srgbClr val="000000"/>
              </a:solidFill>
            </a:endParaRPr>
          </a:p>
        </p:txBody>
      </p:sp>
      <p:grpSp>
        <p:nvGrpSpPr>
          <p:cNvPr id="2114" name="Google Shape;2114;p48"/>
          <p:cNvGrpSpPr/>
          <p:nvPr/>
        </p:nvGrpSpPr>
        <p:grpSpPr>
          <a:xfrm rot="204526">
            <a:off x="8102686" y="1992056"/>
            <a:ext cx="1358227" cy="6377825"/>
            <a:chOff x="4851025" y="424250"/>
            <a:chExt cx="654450" cy="3073100"/>
          </a:xfrm>
        </p:grpSpPr>
        <p:sp>
          <p:nvSpPr>
            <p:cNvPr id="2115" name="Google Shape;2115;p48"/>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8"/>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8"/>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8"/>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8"/>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8"/>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8"/>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8"/>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8"/>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8"/>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8"/>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8"/>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8"/>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8"/>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8"/>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8"/>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8"/>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2" name="Google Shape;2132;p48"/>
          <p:cNvSpPr txBox="1"/>
          <p:nvPr/>
        </p:nvSpPr>
        <p:spPr>
          <a:xfrm>
            <a:off x="6244150" y="305742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133" name="Google Shape;2133;p48"/>
          <p:cNvSpPr txBox="1"/>
          <p:nvPr/>
        </p:nvSpPr>
        <p:spPr>
          <a:xfrm>
            <a:off x="4810875" y="1775850"/>
            <a:ext cx="3414600" cy="742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100"/>
              </a:spcAft>
              <a:buNone/>
            </a:pPr>
            <a:r>
              <a:rPr lang="en" sz="1100">
                <a:solidFill>
                  <a:srgbClr val="111111"/>
                </a:solidFill>
                <a:latin typeface="Plus Jakarta Sans"/>
                <a:ea typeface="Plus Jakarta Sans"/>
                <a:cs typeface="Plus Jakarta Sans"/>
                <a:sym typeface="Plus Jakarta Sans"/>
              </a:rPr>
              <a:t>Used sklearn.model_selection.TimeSeriesSplit with n_splits = 3 to create the cross validation splits without data leakage</a:t>
            </a:r>
            <a:endParaRPr sz="1100">
              <a:solidFill>
                <a:schemeClr val="dk1"/>
              </a:solidFill>
              <a:latin typeface="Plus Jakarta Sans"/>
              <a:ea typeface="Plus Jakarta Sans"/>
              <a:cs typeface="Plus Jakarta Sans"/>
              <a:sym typeface="Plus Jakart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7" name="Shape 2137"/>
        <p:cNvGrpSpPr/>
        <p:nvPr/>
      </p:nvGrpSpPr>
      <p:grpSpPr>
        <a:xfrm>
          <a:off x="0" y="0"/>
          <a:ext cx="0" cy="0"/>
          <a:chOff x="0" y="0"/>
          <a:chExt cx="0" cy="0"/>
        </a:xfrm>
      </p:grpSpPr>
      <p:sp>
        <p:nvSpPr>
          <p:cNvPr id="2138" name="Google Shape;2138;p49"/>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grpSp>
        <p:nvGrpSpPr>
          <p:cNvPr id="2139" name="Google Shape;2139;p49"/>
          <p:cNvGrpSpPr/>
          <p:nvPr/>
        </p:nvGrpSpPr>
        <p:grpSpPr>
          <a:xfrm rot="204526">
            <a:off x="8102686" y="1992056"/>
            <a:ext cx="1358227" cy="6377825"/>
            <a:chOff x="4851025" y="424250"/>
            <a:chExt cx="654450" cy="3073100"/>
          </a:xfrm>
        </p:grpSpPr>
        <p:sp>
          <p:nvSpPr>
            <p:cNvPr id="2140" name="Google Shape;2140;p49"/>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9"/>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9"/>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9"/>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9"/>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9"/>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9"/>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9"/>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9"/>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9"/>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9"/>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9"/>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9"/>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9"/>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9"/>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9"/>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9"/>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57" name="Google Shape;2157;p49" title="xgb_performance_across_sets.png"/>
          <p:cNvPicPr preferRelativeResize="0"/>
          <p:nvPr/>
        </p:nvPicPr>
        <p:blipFill rotWithShape="1">
          <a:blip r:embed="rId3">
            <a:alphaModFix/>
          </a:blip>
          <a:srcRect b="0" l="0" r="0" t="0"/>
          <a:stretch/>
        </p:blipFill>
        <p:spPr>
          <a:xfrm>
            <a:off x="4144900" y="401850"/>
            <a:ext cx="4260500" cy="2130250"/>
          </a:xfrm>
          <a:prstGeom prst="rect">
            <a:avLst/>
          </a:prstGeom>
          <a:noFill/>
          <a:ln>
            <a:noFill/>
          </a:ln>
        </p:spPr>
      </p:pic>
      <p:pic>
        <p:nvPicPr>
          <p:cNvPr id="2158" name="Google Shape;2158;p49" title="xgb_correlations_test.png"/>
          <p:cNvPicPr preferRelativeResize="0"/>
          <p:nvPr/>
        </p:nvPicPr>
        <p:blipFill rotWithShape="1">
          <a:blip r:embed="rId4">
            <a:alphaModFix/>
          </a:blip>
          <a:srcRect b="9" l="0" r="0" t="19"/>
          <a:stretch/>
        </p:blipFill>
        <p:spPr>
          <a:xfrm>
            <a:off x="4144912" y="2653999"/>
            <a:ext cx="4260476" cy="2259976"/>
          </a:xfrm>
          <a:prstGeom prst="rect">
            <a:avLst/>
          </a:prstGeom>
          <a:noFill/>
          <a:ln>
            <a:noFill/>
          </a:ln>
        </p:spPr>
      </p:pic>
      <p:graphicFrame>
        <p:nvGraphicFramePr>
          <p:cNvPr id="2159" name="Google Shape;2159;p49"/>
          <p:cNvGraphicFramePr/>
          <p:nvPr/>
        </p:nvGraphicFramePr>
        <p:xfrm>
          <a:off x="789425" y="1851025"/>
          <a:ext cx="3000000" cy="3000000"/>
        </p:xfrm>
        <a:graphic>
          <a:graphicData uri="http://schemas.openxmlformats.org/drawingml/2006/table">
            <a:tbl>
              <a:tblPr>
                <a:noFill/>
                <a:tableStyleId>{C7D58F65-B41B-4245-B594-94999854B196}</a:tableStyleId>
              </a:tblPr>
              <a:tblGrid>
                <a:gridCol w="896875"/>
                <a:gridCol w="875225"/>
                <a:gridCol w="1275425"/>
              </a:tblGrid>
              <a:tr h="266700">
                <a:tc>
                  <a:txBody>
                    <a:bodyPr/>
                    <a:lstStyle/>
                    <a:p>
                      <a:pPr indent="0" lvl="0" marL="0" rtl="0" algn="l">
                        <a:spcBef>
                          <a:spcPts val="0"/>
                        </a:spcBef>
                        <a:spcAft>
                          <a:spcPts val="0"/>
                        </a:spcAft>
                        <a:buNone/>
                      </a:pPr>
                      <a:r>
                        <a:t/>
                      </a:r>
                      <a:endParaRPr b="1" sz="900">
                        <a:solidFill>
                          <a:srgbClr val="111111"/>
                        </a:solidFill>
                        <a:latin typeface="Plus Jakarta Sans"/>
                        <a:ea typeface="Plus Jakarta Sans"/>
                        <a:cs typeface="Plus Jakarta Sans"/>
                        <a:sym typeface="Plus Jakarta Sans"/>
                      </a:endParaRPr>
                    </a:p>
                  </a:txBody>
                  <a:tcPr marT="63500" marB="63500" marR="63500" marL="63500"/>
                </a:tc>
                <a:tc gridSpan="2">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R^2</a:t>
                      </a:r>
                      <a:endParaRPr b="1" sz="900">
                        <a:solidFill>
                          <a:srgbClr val="111111"/>
                        </a:solidFill>
                        <a:latin typeface="Plus Jakarta Sans"/>
                        <a:ea typeface="Plus Jakarta Sans"/>
                        <a:cs typeface="Plus Jakarta Sans"/>
                        <a:sym typeface="Plus Jakarta Sans"/>
                      </a:endParaRPr>
                    </a:p>
                  </a:txBody>
                  <a:tcPr marT="63500" marB="63500" marR="63500" marL="63500"/>
                </a:tc>
                <a:tc hMerge="1"/>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Set</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Entries</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Excluded Roadway Entries</a:t>
                      </a:r>
                      <a:endParaRPr b="1" sz="900">
                        <a:solidFill>
                          <a:srgbClr val="111111"/>
                        </a:solidFill>
                        <a:latin typeface="Plus Jakarta Sans"/>
                        <a:ea typeface="Plus Jakarta Sans"/>
                        <a:cs typeface="Plus Jakarta Sans"/>
                        <a:sym typeface="Plus Jakarta Sans"/>
                      </a:endParaRPr>
                    </a:p>
                  </a:txBody>
                  <a:tcPr marT="63500" marB="63500" marR="63500" marL="63500"/>
                </a:tc>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Train</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0.9959</a:t>
                      </a:r>
                      <a:endParaRPr sz="900">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0.9969</a:t>
                      </a:r>
                      <a:endParaRPr sz="900">
                        <a:latin typeface="Plus Jakarta Sans"/>
                        <a:ea typeface="Plus Jakarta Sans"/>
                        <a:cs typeface="Plus Jakarta Sans"/>
                        <a:sym typeface="Plus Jakarta Sans"/>
                      </a:endParaRPr>
                    </a:p>
                  </a:txBody>
                  <a:tcPr marT="63500" marB="63500" marR="63500" marL="63500"/>
                </a:tc>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Validation</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0.9932</a:t>
                      </a:r>
                      <a:endParaRPr sz="900">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0.9896</a:t>
                      </a:r>
                      <a:endParaRPr sz="900">
                        <a:latin typeface="Plus Jakarta Sans"/>
                        <a:ea typeface="Plus Jakarta Sans"/>
                        <a:cs typeface="Plus Jakarta Sans"/>
                        <a:sym typeface="Plus Jakarta Sans"/>
                      </a:endParaRPr>
                    </a:p>
                  </a:txBody>
                  <a:tcPr marT="63500" marB="63500" marR="63500" marL="63500"/>
                </a:tc>
              </a:tr>
              <a:tr h="12700">
                <a:tc>
                  <a:txBody>
                    <a:bodyPr/>
                    <a:lstStyle/>
                    <a:p>
                      <a:pPr indent="0" lvl="0" marL="0" rtl="0" algn="l">
                        <a:spcBef>
                          <a:spcPts val="0"/>
                        </a:spcBef>
                        <a:spcAft>
                          <a:spcPts val="0"/>
                        </a:spcAft>
                        <a:buNone/>
                      </a:pPr>
                      <a:r>
                        <a:rPr b="1" lang="en" sz="900">
                          <a:solidFill>
                            <a:srgbClr val="111111"/>
                          </a:solidFill>
                          <a:latin typeface="Plus Jakarta Sans"/>
                          <a:ea typeface="Plus Jakarta Sans"/>
                          <a:cs typeface="Plus Jakarta Sans"/>
                          <a:sym typeface="Plus Jakarta Sans"/>
                        </a:rPr>
                        <a:t>Test</a:t>
                      </a:r>
                      <a:endParaRPr b="1" sz="900">
                        <a:solidFill>
                          <a:srgbClr val="111111"/>
                        </a:solidFill>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0.9934</a:t>
                      </a:r>
                      <a:endParaRPr sz="900">
                        <a:latin typeface="Plus Jakarta Sans"/>
                        <a:ea typeface="Plus Jakarta Sans"/>
                        <a:cs typeface="Plus Jakarta Sans"/>
                        <a:sym typeface="Plus Jakarta Sans"/>
                      </a:endParaRPr>
                    </a:p>
                  </a:txBody>
                  <a:tcPr marT="63500" marB="63500" marR="63500" marL="63500"/>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0.9901</a:t>
                      </a:r>
                      <a:endParaRPr sz="900">
                        <a:latin typeface="Plus Jakarta Sans"/>
                        <a:ea typeface="Plus Jakarta Sans"/>
                        <a:cs typeface="Plus Jakarta Sans"/>
                        <a:sym typeface="Plus Jakarta Sans"/>
                      </a:endParaRPr>
                    </a:p>
                  </a:txBody>
                  <a:tcPr marT="63500" marB="63500" marR="63500" marL="6350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3" name="Shape 2163"/>
        <p:cNvGrpSpPr/>
        <p:nvPr/>
      </p:nvGrpSpPr>
      <p:grpSpPr>
        <a:xfrm>
          <a:off x="0" y="0"/>
          <a:ext cx="0" cy="0"/>
          <a:chOff x="0" y="0"/>
          <a:chExt cx="0" cy="0"/>
        </a:xfrm>
      </p:grpSpPr>
      <p:sp>
        <p:nvSpPr>
          <p:cNvPr id="2164" name="Google Shape;2164;p50"/>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XGB vs. RF</a:t>
            </a:r>
            <a:endParaRPr/>
          </a:p>
        </p:txBody>
      </p:sp>
      <p:grpSp>
        <p:nvGrpSpPr>
          <p:cNvPr id="2165" name="Google Shape;2165;p50"/>
          <p:cNvGrpSpPr/>
          <p:nvPr/>
        </p:nvGrpSpPr>
        <p:grpSpPr>
          <a:xfrm rot="204526">
            <a:off x="8102686" y="1992056"/>
            <a:ext cx="1358227" cy="6377825"/>
            <a:chOff x="4851025" y="424250"/>
            <a:chExt cx="654450" cy="3073100"/>
          </a:xfrm>
        </p:grpSpPr>
        <p:sp>
          <p:nvSpPr>
            <p:cNvPr id="2166" name="Google Shape;2166;p50"/>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50"/>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50"/>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50"/>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50"/>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50"/>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50"/>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50"/>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50"/>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50"/>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50"/>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50"/>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50"/>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50"/>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50"/>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50"/>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50"/>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83" name="Google Shape;2183;p50" title="xgb_performance_across_sets.png"/>
          <p:cNvPicPr preferRelativeResize="0"/>
          <p:nvPr/>
        </p:nvPicPr>
        <p:blipFill rotWithShape="1">
          <a:blip r:embed="rId3">
            <a:alphaModFix/>
          </a:blip>
          <a:srcRect b="0" l="0" r="0" t="0"/>
          <a:stretch/>
        </p:blipFill>
        <p:spPr>
          <a:xfrm>
            <a:off x="4711850" y="1660500"/>
            <a:ext cx="4260500" cy="2130250"/>
          </a:xfrm>
          <a:prstGeom prst="rect">
            <a:avLst/>
          </a:prstGeom>
          <a:noFill/>
          <a:ln>
            <a:noFill/>
          </a:ln>
        </p:spPr>
      </p:pic>
      <p:pic>
        <p:nvPicPr>
          <p:cNvPr id="2184" name="Google Shape;2184;p50"/>
          <p:cNvPicPr preferRelativeResize="0"/>
          <p:nvPr/>
        </p:nvPicPr>
        <p:blipFill>
          <a:blip r:embed="rId4">
            <a:alphaModFix/>
          </a:blip>
          <a:stretch>
            <a:fillRect/>
          </a:stretch>
        </p:blipFill>
        <p:spPr>
          <a:xfrm>
            <a:off x="292600" y="1660500"/>
            <a:ext cx="4260500" cy="2130250"/>
          </a:xfrm>
          <a:prstGeom prst="rect">
            <a:avLst/>
          </a:prstGeom>
          <a:noFill/>
          <a:ln>
            <a:noFill/>
          </a:ln>
        </p:spPr>
      </p:pic>
      <p:graphicFrame>
        <p:nvGraphicFramePr>
          <p:cNvPr id="2185" name="Google Shape;2185;p50"/>
          <p:cNvGraphicFramePr/>
          <p:nvPr/>
        </p:nvGraphicFramePr>
        <p:xfrm>
          <a:off x="1461300" y="3631625"/>
          <a:ext cx="3000000" cy="3000000"/>
        </p:xfrm>
        <a:graphic>
          <a:graphicData uri="http://schemas.openxmlformats.org/drawingml/2006/table">
            <a:tbl>
              <a:tblPr>
                <a:noFill/>
                <a:tableStyleId>{C7D58F65-B41B-4245-B594-94999854B196}</a:tableStyleId>
              </a:tblPr>
              <a:tblGrid>
                <a:gridCol w="875225"/>
                <a:gridCol w="1275425"/>
              </a:tblGrid>
              <a:tr h="228800">
                <a:tc gridSpan="2">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RF Test </a:t>
                      </a:r>
                      <a:r>
                        <a:rPr b="1" lang="en" sz="900">
                          <a:solidFill>
                            <a:srgbClr val="111111"/>
                          </a:solidFill>
                          <a:latin typeface="Plus Jakarta Sans"/>
                          <a:ea typeface="Plus Jakarta Sans"/>
                          <a:cs typeface="Plus Jakarta Sans"/>
                          <a:sym typeface="Plus Jakarta Sans"/>
                        </a:rPr>
                        <a:t>R^2</a:t>
                      </a:r>
                      <a:endParaRPr b="1" sz="900">
                        <a:solidFill>
                          <a:srgbClr val="111111"/>
                        </a:solidFill>
                        <a:latin typeface="Plus Jakarta Sans"/>
                        <a:ea typeface="Plus Jakarta Sans"/>
                        <a:cs typeface="Plus Jakarta Sans"/>
                        <a:sym typeface="Plus Jakarta Sans"/>
                      </a:endParaRPr>
                    </a:p>
                  </a:txBody>
                  <a:tcPr marT="63500" marB="63500" marR="63500" marL="63500">
                    <a:solidFill>
                      <a:schemeClr val="accent5"/>
                    </a:solidFill>
                  </a:tcPr>
                </a:tc>
                <a:tc hMerge="1"/>
              </a:tr>
              <a:tr h="225050">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Entries</a:t>
                      </a:r>
                      <a:endParaRPr b="1" sz="900">
                        <a:solidFill>
                          <a:srgbClr val="111111"/>
                        </a:solidFill>
                        <a:latin typeface="Plus Jakarta Sans"/>
                        <a:ea typeface="Plus Jakarta Sans"/>
                        <a:cs typeface="Plus Jakarta Sans"/>
                        <a:sym typeface="Plus Jakarta Sans"/>
                      </a:endParaRPr>
                    </a:p>
                  </a:txBody>
                  <a:tcPr marT="63500" marB="63500" marR="63500" marL="63500">
                    <a:lnB cap="flat" cmpd="sng" w="12700">
                      <a:solidFill>
                        <a:srgbClr val="000000"/>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Excluded Entries</a:t>
                      </a:r>
                      <a:endParaRPr b="1" sz="900">
                        <a:solidFill>
                          <a:srgbClr val="111111"/>
                        </a:solidFill>
                        <a:latin typeface="Plus Jakarta Sans"/>
                        <a:ea typeface="Plus Jakarta Sans"/>
                        <a:cs typeface="Plus Jakarta Sans"/>
                        <a:sym typeface="Plus Jakarta Sans"/>
                      </a:endParaRPr>
                    </a:p>
                  </a:txBody>
                  <a:tcPr marT="63500" marB="63500" marR="63500" marL="63500">
                    <a:lnB cap="flat" cmpd="sng" w="12700">
                      <a:solidFill>
                        <a:srgbClr val="000000"/>
                      </a:solidFill>
                      <a:prstDash val="solid"/>
                      <a:round/>
                      <a:headEnd len="sm" w="sm" type="none"/>
                      <a:tailEnd len="sm" w="sm" type="none"/>
                    </a:lnB>
                    <a:solidFill>
                      <a:schemeClr val="accent6"/>
                    </a:solidFill>
                  </a:tcPr>
                </a:tc>
              </a:tr>
              <a:tr h="228800">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0.9895</a:t>
                      </a:r>
                      <a:endParaRPr sz="900">
                        <a:latin typeface="Plus Jakarta Sans"/>
                        <a:ea typeface="Plus Jakarta Sans"/>
                        <a:cs typeface="Plus Jakarta Sans"/>
                        <a:sym typeface="Plus Jakarta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accent6"/>
                    </a:solidFill>
                  </a:tcPr>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0.9857</a:t>
                      </a:r>
                      <a:endParaRPr sz="900">
                        <a:latin typeface="Plus Jakarta Sans"/>
                        <a:ea typeface="Plus Jakarta Sans"/>
                        <a:cs typeface="Plus Jakarta Sans"/>
                        <a:sym typeface="Plus Jakarta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accent6"/>
                    </a:solidFill>
                  </a:tcPr>
                </a:tc>
              </a:tr>
            </a:tbl>
          </a:graphicData>
        </a:graphic>
      </p:graphicFrame>
      <p:graphicFrame>
        <p:nvGraphicFramePr>
          <p:cNvPr id="2186" name="Google Shape;2186;p50"/>
          <p:cNvGraphicFramePr/>
          <p:nvPr/>
        </p:nvGraphicFramePr>
        <p:xfrm>
          <a:off x="5766775" y="3631625"/>
          <a:ext cx="3000000" cy="3000000"/>
        </p:xfrm>
        <a:graphic>
          <a:graphicData uri="http://schemas.openxmlformats.org/drawingml/2006/table">
            <a:tbl>
              <a:tblPr>
                <a:noFill/>
                <a:tableStyleId>{C7D58F65-B41B-4245-B594-94999854B196}</a:tableStyleId>
              </a:tblPr>
              <a:tblGrid>
                <a:gridCol w="875225"/>
                <a:gridCol w="1275425"/>
              </a:tblGrid>
              <a:tr h="100000">
                <a:tc gridSpan="2">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XGB </a:t>
                      </a:r>
                      <a:r>
                        <a:rPr b="1" lang="en" sz="900">
                          <a:solidFill>
                            <a:srgbClr val="111111"/>
                          </a:solidFill>
                          <a:latin typeface="Plus Jakarta Sans"/>
                          <a:ea typeface="Plus Jakarta Sans"/>
                          <a:cs typeface="Plus Jakarta Sans"/>
                          <a:sym typeface="Plus Jakarta Sans"/>
                        </a:rPr>
                        <a:t>Test R^2</a:t>
                      </a:r>
                      <a:endParaRPr b="1" sz="900">
                        <a:solidFill>
                          <a:srgbClr val="111111"/>
                        </a:solidFill>
                        <a:latin typeface="Plus Jakarta Sans"/>
                        <a:ea typeface="Plus Jakarta Sans"/>
                        <a:cs typeface="Plus Jakarta Sans"/>
                        <a:sym typeface="Plus Jakarta Sans"/>
                      </a:endParaRPr>
                    </a:p>
                  </a:txBody>
                  <a:tcPr marT="63500" marB="63500" marR="63500" marL="63500">
                    <a:solidFill>
                      <a:schemeClr val="accent6"/>
                    </a:solidFill>
                  </a:tcPr>
                </a:tc>
                <a:tc hMerge="1"/>
              </a:tr>
              <a:tr h="12700">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Entries</a:t>
                      </a:r>
                      <a:endParaRPr b="1" sz="900">
                        <a:solidFill>
                          <a:srgbClr val="111111"/>
                        </a:solidFill>
                        <a:latin typeface="Plus Jakarta Sans"/>
                        <a:ea typeface="Plus Jakarta Sans"/>
                        <a:cs typeface="Plus Jakarta Sans"/>
                        <a:sym typeface="Plus Jakarta Sans"/>
                      </a:endParaRPr>
                    </a:p>
                  </a:txBody>
                  <a:tcPr marT="63500" marB="63500" marR="63500" marL="63500">
                    <a:lnB cap="flat" cmpd="sng" w="12700">
                      <a:solidFill>
                        <a:srgbClr val="000000"/>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en" sz="900">
                          <a:solidFill>
                            <a:srgbClr val="111111"/>
                          </a:solidFill>
                          <a:latin typeface="Plus Jakarta Sans"/>
                          <a:ea typeface="Plus Jakarta Sans"/>
                          <a:cs typeface="Plus Jakarta Sans"/>
                          <a:sym typeface="Plus Jakarta Sans"/>
                        </a:rPr>
                        <a:t>Excluded Entries</a:t>
                      </a:r>
                      <a:endParaRPr b="1" sz="900">
                        <a:solidFill>
                          <a:srgbClr val="111111"/>
                        </a:solidFill>
                        <a:latin typeface="Plus Jakarta Sans"/>
                        <a:ea typeface="Plus Jakarta Sans"/>
                        <a:cs typeface="Plus Jakarta Sans"/>
                        <a:sym typeface="Plus Jakarta Sans"/>
                      </a:endParaRPr>
                    </a:p>
                  </a:txBody>
                  <a:tcPr marT="63500" marB="63500" marR="63500" marL="63500">
                    <a:lnB cap="flat" cmpd="sng" w="12700">
                      <a:solidFill>
                        <a:srgbClr val="000000"/>
                      </a:solidFill>
                      <a:prstDash val="solid"/>
                      <a:round/>
                      <a:headEnd len="sm" w="sm" type="none"/>
                      <a:tailEnd len="sm" w="sm" type="none"/>
                    </a:lnB>
                    <a:solidFill>
                      <a:schemeClr val="accent6"/>
                    </a:solidFill>
                  </a:tcPr>
                </a:tc>
              </a:tr>
              <a:tr h="12700">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0.9934</a:t>
                      </a:r>
                      <a:endParaRPr sz="900">
                        <a:latin typeface="Plus Jakarta Sans"/>
                        <a:ea typeface="Plus Jakarta Sans"/>
                        <a:cs typeface="Plus Jakarta Sans"/>
                        <a:sym typeface="Plus Jakarta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accent6"/>
                    </a:solidFill>
                  </a:tcPr>
                </a:tc>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0.9901</a:t>
                      </a:r>
                      <a:endParaRPr sz="900">
                        <a:latin typeface="Plus Jakarta Sans"/>
                        <a:ea typeface="Plus Jakarta Sans"/>
                        <a:cs typeface="Plus Jakarta Sans"/>
                        <a:sym typeface="Plus Jakarta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accent6"/>
                    </a:solidFill>
                  </a:tcPr>
                </a:tc>
              </a:tr>
            </a:tbl>
          </a:graphicData>
        </a:graphic>
      </p:graphicFrame>
      <p:sp>
        <p:nvSpPr>
          <p:cNvPr id="2187" name="Google Shape;2187;p50"/>
          <p:cNvSpPr txBox="1"/>
          <p:nvPr/>
        </p:nvSpPr>
        <p:spPr>
          <a:xfrm>
            <a:off x="5165450" y="871125"/>
            <a:ext cx="3209100" cy="701100"/>
          </a:xfrm>
          <a:prstGeom prst="rect">
            <a:avLst/>
          </a:prstGeom>
          <a:noFill/>
          <a:ln cap="flat" cmpd="sng" w="1905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38761D"/>
                </a:solidFill>
                <a:latin typeface="Plus Jakarta Sans"/>
                <a:ea typeface="Plus Jakarta Sans"/>
                <a:cs typeface="Plus Jakarta Sans"/>
                <a:sym typeface="Plus Jakarta Sans"/>
              </a:rPr>
              <a:t>Entries: -3 RMSE, -1.5 MAE</a:t>
            </a:r>
            <a:endParaRPr b="1" sz="1200">
              <a:solidFill>
                <a:srgbClr val="38761D"/>
              </a:solidFill>
              <a:latin typeface="Plus Jakarta Sans"/>
              <a:ea typeface="Plus Jakarta Sans"/>
              <a:cs typeface="Plus Jakarta Sans"/>
              <a:sym typeface="Plus Jakarta Sans"/>
            </a:endParaRPr>
          </a:p>
          <a:p>
            <a:pPr indent="0" lvl="0" marL="0" rtl="0" algn="l">
              <a:spcBef>
                <a:spcPts val="0"/>
              </a:spcBef>
              <a:spcAft>
                <a:spcPts val="0"/>
              </a:spcAft>
              <a:buNone/>
            </a:pPr>
            <a:r>
              <a:rPr b="1" lang="en" sz="1200">
                <a:solidFill>
                  <a:srgbClr val="38761D"/>
                </a:solidFill>
                <a:latin typeface="Plus Jakarta Sans"/>
                <a:ea typeface="Plus Jakarta Sans"/>
                <a:cs typeface="Plus Jakarta Sans"/>
                <a:sym typeface="Plus Jakarta Sans"/>
              </a:rPr>
              <a:t>Excluded entries: -0.8 RMSE, -0.15 MAE</a:t>
            </a:r>
            <a:endParaRPr b="1" sz="1200">
              <a:solidFill>
                <a:srgbClr val="38761D"/>
              </a:solidFill>
              <a:latin typeface="Plus Jakarta Sans"/>
              <a:ea typeface="Plus Jakarta Sans"/>
              <a:cs typeface="Plus Jakarta Sans"/>
              <a:sym typeface="Plus Jakarta Sans"/>
            </a:endParaRPr>
          </a:p>
          <a:p>
            <a:pPr indent="0" lvl="0" marL="0" rtl="0" algn="l">
              <a:spcBef>
                <a:spcPts val="0"/>
              </a:spcBef>
              <a:spcAft>
                <a:spcPts val="0"/>
              </a:spcAft>
              <a:buNone/>
            </a:pPr>
            <a:r>
              <a:rPr b="1" lang="en" sz="1200">
                <a:solidFill>
                  <a:srgbClr val="38761D"/>
                </a:solidFill>
                <a:latin typeface="Plus Jakarta Sans"/>
                <a:ea typeface="Plus Jakarta Sans"/>
                <a:cs typeface="Plus Jakarta Sans"/>
                <a:sym typeface="Plus Jakarta Sans"/>
              </a:rPr>
              <a:t>R^2: +0.004</a:t>
            </a:r>
            <a:endParaRPr b="1" sz="1200">
              <a:solidFill>
                <a:srgbClr val="38761D"/>
              </a:solidFill>
              <a:latin typeface="Plus Jakarta Sans"/>
              <a:ea typeface="Plus Jakarta Sans"/>
              <a:cs typeface="Plus Jakarta Sans"/>
              <a:sym typeface="Plus Jakart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1" name="Shape 2191"/>
        <p:cNvGrpSpPr/>
        <p:nvPr/>
      </p:nvGrpSpPr>
      <p:grpSpPr>
        <a:xfrm>
          <a:off x="0" y="0"/>
          <a:ext cx="0" cy="0"/>
          <a:chOff x="0" y="0"/>
          <a:chExt cx="0" cy="0"/>
        </a:xfrm>
      </p:grpSpPr>
      <p:sp>
        <p:nvSpPr>
          <p:cNvPr id="2192" name="Google Shape;2192;p51"/>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XGB vs. RF</a:t>
            </a:r>
            <a:endParaRPr/>
          </a:p>
        </p:txBody>
      </p:sp>
      <p:grpSp>
        <p:nvGrpSpPr>
          <p:cNvPr id="2193" name="Google Shape;2193;p51"/>
          <p:cNvGrpSpPr/>
          <p:nvPr/>
        </p:nvGrpSpPr>
        <p:grpSpPr>
          <a:xfrm rot="204526">
            <a:off x="8102686" y="1992056"/>
            <a:ext cx="1358227" cy="6377825"/>
            <a:chOff x="4851025" y="424250"/>
            <a:chExt cx="654450" cy="3073100"/>
          </a:xfrm>
        </p:grpSpPr>
        <p:sp>
          <p:nvSpPr>
            <p:cNvPr id="2194" name="Google Shape;2194;p51"/>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51"/>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51"/>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51"/>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51"/>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51"/>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51"/>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51"/>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51"/>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51"/>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51"/>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51"/>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51"/>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51"/>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51"/>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51"/>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51"/>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11" name="Google Shape;2211;p51" title="xgb_entries_time_test.png"/>
          <p:cNvPicPr preferRelativeResize="0"/>
          <p:nvPr/>
        </p:nvPicPr>
        <p:blipFill rotWithShape="1">
          <a:blip r:embed="rId3">
            <a:alphaModFix/>
          </a:blip>
          <a:srcRect b="0" l="49" r="49" t="0"/>
          <a:stretch/>
        </p:blipFill>
        <p:spPr>
          <a:xfrm>
            <a:off x="275150" y="1552450"/>
            <a:ext cx="4286675" cy="2383775"/>
          </a:xfrm>
          <a:prstGeom prst="rect">
            <a:avLst/>
          </a:prstGeom>
          <a:noFill/>
          <a:ln>
            <a:noFill/>
          </a:ln>
        </p:spPr>
      </p:pic>
      <p:pic>
        <p:nvPicPr>
          <p:cNvPr id="2212" name="Google Shape;2212;p51" title="xgb_excluded_time_test.png"/>
          <p:cNvPicPr preferRelativeResize="0"/>
          <p:nvPr/>
        </p:nvPicPr>
        <p:blipFill rotWithShape="1">
          <a:blip r:embed="rId4">
            <a:alphaModFix/>
          </a:blip>
          <a:srcRect b="0" l="49" r="49" t="0"/>
          <a:stretch/>
        </p:blipFill>
        <p:spPr>
          <a:xfrm>
            <a:off x="4681525" y="1552450"/>
            <a:ext cx="4286675" cy="238378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6" name="Shape 2216"/>
        <p:cNvGrpSpPr/>
        <p:nvPr/>
      </p:nvGrpSpPr>
      <p:grpSpPr>
        <a:xfrm>
          <a:off x="0" y="0"/>
          <a:ext cx="0" cy="0"/>
          <a:chOff x="0" y="0"/>
          <a:chExt cx="0" cy="0"/>
        </a:xfrm>
      </p:grpSpPr>
      <p:sp>
        <p:nvSpPr>
          <p:cNvPr id="2217" name="Google Shape;2217;p52"/>
          <p:cNvSpPr txBox="1"/>
          <p:nvPr>
            <p:ph type="title"/>
          </p:nvPr>
        </p:nvSpPr>
        <p:spPr>
          <a:xfrm flipH="1">
            <a:off x="3972150" y="3027550"/>
            <a:ext cx="5079900" cy="138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Next Steps</a:t>
            </a:r>
            <a:endParaRPr sz="4000"/>
          </a:p>
        </p:txBody>
      </p:sp>
      <p:sp>
        <p:nvSpPr>
          <p:cNvPr id="2218" name="Google Shape;2218;p52"/>
          <p:cNvSpPr txBox="1"/>
          <p:nvPr>
            <p:ph idx="2" type="title"/>
          </p:nvPr>
        </p:nvSpPr>
        <p:spPr>
          <a:xfrm>
            <a:off x="3925725" y="2246225"/>
            <a:ext cx="1508400" cy="86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06</a:t>
            </a:r>
            <a:endParaRPr/>
          </a:p>
        </p:txBody>
      </p:sp>
      <p:grpSp>
        <p:nvGrpSpPr>
          <p:cNvPr id="2219" name="Google Shape;2219;p52"/>
          <p:cNvGrpSpPr/>
          <p:nvPr/>
        </p:nvGrpSpPr>
        <p:grpSpPr>
          <a:xfrm flipH="1" rot="10800000">
            <a:off x="2438542" y="3027557"/>
            <a:ext cx="4482760" cy="4754793"/>
            <a:chOff x="4204225" y="2144350"/>
            <a:chExt cx="2159950" cy="2291025"/>
          </a:xfrm>
        </p:grpSpPr>
        <p:sp>
          <p:nvSpPr>
            <p:cNvPr id="2220" name="Google Shape;2220;p52"/>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52"/>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52"/>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2"/>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52"/>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52"/>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52"/>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52"/>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2"/>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2"/>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52"/>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52"/>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52"/>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52"/>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52"/>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52"/>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52"/>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52"/>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8" name="Google Shape;2238;p52"/>
          <p:cNvGrpSpPr/>
          <p:nvPr/>
        </p:nvGrpSpPr>
        <p:grpSpPr>
          <a:xfrm rot="5604526">
            <a:off x="-73105" y="-1205015"/>
            <a:ext cx="1358227" cy="6377825"/>
            <a:chOff x="4851025" y="424250"/>
            <a:chExt cx="654450" cy="3073100"/>
          </a:xfrm>
        </p:grpSpPr>
        <p:sp>
          <p:nvSpPr>
            <p:cNvPr id="2239" name="Google Shape;2239;p52"/>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52"/>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52"/>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2"/>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2"/>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52"/>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52"/>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52"/>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52"/>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52"/>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52"/>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52"/>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52"/>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52"/>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52"/>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52"/>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2"/>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6" name="Google Shape;2256;p52"/>
          <p:cNvGrpSpPr/>
          <p:nvPr/>
        </p:nvGrpSpPr>
        <p:grpSpPr>
          <a:xfrm flipH="1" rot="-5400000">
            <a:off x="6940748" y="-1917686"/>
            <a:ext cx="3848803" cy="5689424"/>
            <a:chOff x="939875" y="457213"/>
            <a:chExt cx="1854488" cy="2741363"/>
          </a:xfrm>
        </p:grpSpPr>
        <p:sp>
          <p:nvSpPr>
            <p:cNvPr id="2257" name="Google Shape;2257;p52"/>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52"/>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52"/>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52"/>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52"/>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52"/>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52"/>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52"/>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52"/>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52"/>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52"/>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2"/>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52"/>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52"/>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52"/>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2"/>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52"/>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2"/>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2"/>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52"/>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52"/>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2"/>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2"/>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2"/>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52"/>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52"/>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3" name="Google Shape;2283;p52"/>
          <p:cNvGrpSpPr/>
          <p:nvPr/>
        </p:nvGrpSpPr>
        <p:grpSpPr>
          <a:xfrm>
            <a:off x="-385454" y="628634"/>
            <a:ext cx="2186019" cy="4663683"/>
            <a:chOff x="3061750" y="2798625"/>
            <a:chExt cx="1053300" cy="2247125"/>
          </a:xfrm>
        </p:grpSpPr>
        <p:grpSp>
          <p:nvGrpSpPr>
            <p:cNvPr id="2284" name="Google Shape;2284;p52"/>
            <p:cNvGrpSpPr/>
            <p:nvPr/>
          </p:nvGrpSpPr>
          <p:grpSpPr>
            <a:xfrm>
              <a:off x="3061750" y="2798625"/>
              <a:ext cx="1053300" cy="2247125"/>
              <a:chOff x="3682050" y="2775150"/>
              <a:chExt cx="1053300" cy="2247125"/>
            </a:xfrm>
          </p:grpSpPr>
          <p:sp>
            <p:nvSpPr>
              <p:cNvPr id="2285" name="Google Shape;2285;p52"/>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2"/>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52"/>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52"/>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2"/>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52"/>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52"/>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2"/>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2"/>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52"/>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2"/>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2"/>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2"/>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52"/>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2"/>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0" name="Google Shape;2300;p52"/>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2"/>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52"/>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3" name="Google Shape;2303;p52"/>
          <p:cNvGrpSpPr/>
          <p:nvPr/>
        </p:nvGrpSpPr>
        <p:grpSpPr>
          <a:xfrm>
            <a:off x="-1884987" y="992376"/>
            <a:ext cx="4755675" cy="2338198"/>
            <a:chOff x="5910900" y="252875"/>
            <a:chExt cx="2291450" cy="1126625"/>
          </a:xfrm>
        </p:grpSpPr>
        <p:sp>
          <p:nvSpPr>
            <p:cNvPr id="2304" name="Google Shape;2304;p52"/>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52"/>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52"/>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52"/>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52"/>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52"/>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52"/>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52"/>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52"/>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52"/>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52"/>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2"/>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52"/>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7" name="Google Shape;2317;p52"/>
          <p:cNvGrpSpPr/>
          <p:nvPr/>
        </p:nvGrpSpPr>
        <p:grpSpPr>
          <a:xfrm>
            <a:off x="-522031" y="95655"/>
            <a:ext cx="4030101" cy="1211247"/>
            <a:chOff x="430469" y="4172355"/>
            <a:chExt cx="4030101" cy="1211247"/>
          </a:xfrm>
        </p:grpSpPr>
        <p:grpSp>
          <p:nvGrpSpPr>
            <p:cNvPr id="2318" name="Google Shape;2318;p52"/>
            <p:cNvGrpSpPr/>
            <p:nvPr/>
          </p:nvGrpSpPr>
          <p:grpSpPr>
            <a:xfrm flipH="1" rot="5538019">
              <a:off x="1919568" y="2782430"/>
              <a:ext cx="1051902" cy="3991097"/>
              <a:chOff x="5485075" y="3521900"/>
              <a:chExt cx="506850" cy="1923075"/>
            </a:xfrm>
          </p:grpSpPr>
          <p:sp>
            <p:nvSpPr>
              <p:cNvPr id="2319" name="Google Shape;2319;p52"/>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52"/>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52"/>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52"/>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52"/>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52"/>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52"/>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52"/>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52"/>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52"/>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9" name="Google Shape;2329;p52"/>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3" name="Shape 2333"/>
        <p:cNvGrpSpPr/>
        <p:nvPr/>
      </p:nvGrpSpPr>
      <p:grpSpPr>
        <a:xfrm>
          <a:off x="0" y="0"/>
          <a:ext cx="0" cy="0"/>
          <a:chOff x="0" y="0"/>
          <a:chExt cx="0" cy="0"/>
        </a:xfrm>
      </p:grpSpPr>
      <p:sp>
        <p:nvSpPr>
          <p:cNvPr id="2334" name="Google Shape;2334;p53"/>
          <p:cNvSpPr txBox="1"/>
          <p:nvPr>
            <p:ph type="title"/>
          </p:nvPr>
        </p:nvSpPr>
        <p:spPr>
          <a:xfrm>
            <a:off x="720000" y="401850"/>
            <a:ext cx="7797300" cy="7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Ideas</a:t>
            </a:r>
            <a:endParaRPr/>
          </a:p>
        </p:txBody>
      </p:sp>
      <p:grpSp>
        <p:nvGrpSpPr>
          <p:cNvPr id="2335" name="Google Shape;2335;p53"/>
          <p:cNvGrpSpPr/>
          <p:nvPr/>
        </p:nvGrpSpPr>
        <p:grpSpPr>
          <a:xfrm rot="204526">
            <a:off x="8102686" y="1992056"/>
            <a:ext cx="1358227" cy="6377825"/>
            <a:chOff x="4851025" y="424250"/>
            <a:chExt cx="654450" cy="3073100"/>
          </a:xfrm>
        </p:grpSpPr>
        <p:sp>
          <p:nvSpPr>
            <p:cNvPr id="2336" name="Google Shape;2336;p53"/>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53"/>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53"/>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53"/>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53"/>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53"/>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53"/>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53"/>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53"/>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53"/>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53"/>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53"/>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53"/>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53"/>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53"/>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53"/>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53"/>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53" name="Google Shape;2353;p53"/>
          <p:cNvSpPr txBox="1"/>
          <p:nvPr/>
        </p:nvSpPr>
        <p:spPr>
          <a:xfrm>
            <a:off x="714300" y="844975"/>
            <a:ext cx="7715400" cy="358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300">
              <a:solidFill>
                <a:srgbClr val="111111"/>
              </a:solidFill>
              <a:latin typeface="Plus Jakarta Sans"/>
              <a:ea typeface="Plus Jakarta Sans"/>
              <a:cs typeface="Plus Jakarta Sans"/>
              <a:sym typeface="Plus Jakarta Sans"/>
            </a:endParaRPr>
          </a:p>
          <a:p>
            <a:pPr indent="0" lvl="0" marL="0" rtl="0" algn="l">
              <a:lnSpc>
                <a:spcPct val="115000"/>
              </a:lnSpc>
              <a:spcBef>
                <a:spcPts val="1000"/>
              </a:spcBef>
              <a:spcAft>
                <a:spcPts val="0"/>
              </a:spcAft>
              <a:buNone/>
            </a:pPr>
            <a:r>
              <a:rPr lang="en" sz="1300">
                <a:solidFill>
                  <a:srgbClr val="111111"/>
                </a:solidFill>
                <a:latin typeface="Plus Jakarta Sans"/>
                <a:ea typeface="Plus Jakarta Sans"/>
                <a:cs typeface="Plus Jakarta Sans"/>
                <a:sym typeface="Plus Jakarta Sans"/>
              </a:rPr>
              <a:t>To address cluster generalizability: </a:t>
            </a:r>
            <a:endParaRPr sz="1300">
              <a:solidFill>
                <a:srgbClr val="111111"/>
              </a:solidFill>
              <a:latin typeface="Plus Jakarta Sans"/>
              <a:ea typeface="Plus Jakarta Sans"/>
              <a:cs typeface="Plus Jakarta Sans"/>
              <a:sym typeface="Plus Jakarta Sans"/>
            </a:endParaRPr>
          </a:p>
          <a:p>
            <a:pPr indent="-311150" lvl="0" marL="457200" rtl="0" algn="l">
              <a:lnSpc>
                <a:spcPct val="115000"/>
              </a:lnSpc>
              <a:spcBef>
                <a:spcPts val="1000"/>
              </a:spcBef>
              <a:spcAft>
                <a:spcPts val="0"/>
              </a:spcAft>
              <a:buClr>
                <a:srgbClr val="111111"/>
              </a:buClr>
              <a:buSzPts val="1300"/>
              <a:buFont typeface="Plus Jakarta Sans"/>
              <a:buAutoNum type="alphaUcPeriod"/>
            </a:pPr>
            <a:r>
              <a:rPr lang="en" sz="1300">
                <a:solidFill>
                  <a:srgbClr val="111111"/>
                </a:solidFill>
                <a:latin typeface="Plus Jakarta Sans"/>
                <a:ea typeface="Plus Jakarta Sans"/>
                <a:cs typeface="Plus Jakarta Sans"/>
                <a:sym typeface="Plus Jakarta Sans"/>
              </a:rPr>
              <a:t>A hyperparameter combination for more stable, medium-sized clusters</a:t>
            </a:r>
            <a:endParaRPr sz="1300">
              <a:solidFill>
                <a:srgbClr val="111111"/>
              </a:solidFill>
              <a:latin typeface="Plus Jakarta Sans"/>
              <a:ea typeface="Plus Jakarta Sans"/>
              <a:cs typeface="Plus Jakarta Sans"/>
              <a:sym typeface="Plus Jakarta Sans"/>
            </a:endParaRPr>
          </a:p>
          <a:p>
            <a:pPr indent="-311150" lvl="0" marL="457200" rtl="0" algn="l">
              <a:lnSpc>
                <a:spcPct val="115000"/>
              </a:lnSpc>
              <a:spcBef>
                <a:spcPts val="1000"/>
              </a:spcBef>
              <a:spcAft>
                <a:spcPts val="0"/>
              </a:spcAft>
              <a:buClr>
                <a:srgbClr val="111111"/>
              </a:buClr>
              <a:buSzPts val="1300"/>
              <a:buFont typeface="Plus Jakarta Sans"/>
              <a:buAutoNum type="alphaUcPeriod"/>
            </a:pPr>
            <a:r>
              <a:rPr lang="en" sz="1300">
                <a:solidFill>
                  <a:srgbClr val="111111"/>
                </a:solidFill>
                <a:latin typeface="Plus Jakarta Sans"/>
                <a:ea typeface="Plus Jakarta Sans"/>
                <a:cs typeface="Plus Jakarta Sans"/>
                <a:sym typeface="Plus Jakarta Sans"/>
              </a:rPr>
              <a:t>Alternative distance metrics (e.g., Manhattan) better-suited to high-dim/sparse data</a:t>
            </a:r>
            <a:endParaRPr sz="1300">
              <a:solidFill>
                <a:srgbClr val="111111"/>
              </a:solidFill>
              <a:latin typeface="Plus Jakarta Sans"/>
              <a:ea typeface="Plus Jakarta Sans"/>
              <a:cs typeface="Plus Jakarta Sans"/>
              <a:sym typeface="Plus Jakarta Sans"/>
            </a:endParaRPr>
          </a:p>
          <a:p>
            <a:pPr indent="-311150" lvl="0" marL="457200" rtl="0" algn="l">
              <a:lnSpc>
                <a:spcPct val="115000"/>
              </a:lnSpc>
              <a:spcBef>
                <a:spcPts val="1000"/>
              </a:spcBef>
              <a:spcAft>
                <a:spcPts val="0"/>
              </a:spcAft>
              <a:buClr>
                <a:srgbClr val="111111"/>
              </a:buClr>
              <a:buSzPts val="1300"/>
              <a:buFont typeface="Plus Jakarta Sans"/>
              <a:buAutoNum type="alphaUcPeriod"/>
            </a:pPr>
            <a:r>
              <a:rPr lang="en" sz="1300">
                <a:solidFill>
                  <a:srgbClr val="111111"/>
                </a:solidFill>
                <a:latin typeface="Plus Jakarta Sans"/>
                <a:ea typeface="Plus Jakarta Sans"/>
                <a:cs typeface="Plus Jakarta Sans"/>
                <a:sym typeface="Plus Jakarta Sans"/>
              </a:rPr>
              <a:t>Soft cluster assignments based on probabilities generated by HDBSCAN</a:t>
            </a:r>
            <a:endParaRPr sz="1300">
              <a:solidFill>
                <a:srgbClr val="111111"/>
              </a:solidFill>
              <a:latin typeface="Plus Jakarta Sans"/>
              <a:ea typeface="Plus Jakarta Sans"/>
              <a:cs typeface="Plus Jakarta Sans"/>
              <a:sym typeface="Plus Jakarta Sans"/>
            </a:endParaRPr>
          </a:p>
          <a:p>
            <a:pPr indent="0" lvl="0" marL="0" rtl="0" algn="l">
              <a:lnSpc>
                <a:spcPct val="115000"/>
              </a:lnSpc>
              <a:spcBef>
                <a:spcPts val="1000"/>
              </a:spcBef>
              <a:spcAft>
                <a:spcPts val="0"/>
              </a:spcAft>
              <a:buNone/>
            </a:pPr>
            <a:r>
              <a:t/>
            </a:r>
            <a:endParaRPr sz="400">
              <a:solidFill>
                <a:srgbClr val="111111"/>
              </a:solidFill>
              <a:latin typeface="Plus Jakarta Sans"/>
              <a:ea typeface="Plus Jakarta Sans"/>
              <a:cs typeface="Plus Jakarta Sans"/>
              <a:sym typeface="Plus Jakarta Sans"/>
            </a:endParaRPr>
          </a:p>
          <a:p>
            <a:pPr indent="0" lvl="0" marL="0" rtl="0" algn="l">
              <a:lnSpc>
                <a:spcPct val="115000"/>
              </a:lnSpc>
              <a:spcBef>
                <a:spcPts val="1000"/>
              </a:spcBef>
              <a:spcAft>
                <a:spcPts val="0"/>
              </a:spcAft>
              <a:buNone/>
            </a:pPr>
            <a:r>
              <a:rPr lang="en" sz="1300">
                <a:solidFill>
                  <a:srgbClr val="111111"/>
                </a:solidFill>
                <a:latin typeface="Plus Jakarta Sans"/>
                <a:ea typeface="Plus Jakarta Sans"/>
                <a:cs typeface="Plus Jakarta Sans"/>
                <a:sym typeface="Plus Jakarta Sans"/>
              </a:rPr>
              <a:t>To address extreme points: </a:t>
            </a:r>
            <a:endParaRPr sz="1300">
              <a:solidFill>
                <a:srgbClr val="111111"/>
              </a:solidFill>
              <a:latin typeface="Plus Jakarta Sans"/>
              <a:ea typeface="Plus Jakarta Sans"/>
              <a:cs typeface="Plus Jakarta Sans"/>
              <a:sym typeface="Plus Jakarta Sans"/>
            </a:endParaRPr>
          </a:p>
          <a:p>
            <a:pPr indent="-311150" lvl="0" marL="457200" rtl="0" algn="l">
              <a:lnSpc>
                <a:spcPct val="115000"/>
              </a:lnSpc>
              <a:spcBef>
                <a:spcPts val="1000"/>
              </a:spcBef>
              <a:spcAft>
                <a:spcPts val="0"/>
              </a:spcAft>
              <a:buClr>
                <a:srgbClr val="111111"/>
              </a:buClr>
              <a:buSzPts val="1300"/>
              <a:buFont typeface="Plus Jakarta Sans"/>
              <a:buAutoNum type="alphaUcPeriod"/>
            </a:pPr>
            <a:r>
              <a:rPr lang="en" sz="1300">
                <a:solidFill>
                  <a:schemeClr val="dk1"/>
                </a:solidFill>
                <a:latin typeface="Plus Jakarta Sans"/>
                <a:ea typeface="Plus Jakarta Sans"/>
                <a:cs typeface="Plus Jakarta Sans"/>
                <a:sym typeface="Plus Jakarta Sans"/>
              </a:rPr>
              <a:t>Integrate additional external factors tied to traffic (subway + weather + holidays)</a:t>
            </a:r>
            <a:endParaRPr sz="1300">
              <a:solidFill>
                <a:schemeClr val="dk1"/>
              </a:solidFill>
              <a:latin typeface="Plus Jakarta Sans"/>
              <a:ea typeface="Plus Jakarta Sans"/>
              <a:cs typeface="Plus Jakarta Sans"/>
              <a:sym typeface="Plus Jakarta Sans"/>
            </a:endParaRPr>
          </a:p>
          <a:p>
            <a:pPr indent="-311150" lvl="0" marL="457200" rtl="0" algn="l">
              <a:lnSpc>
                <a:spcPct val="115000"/>
              </a:lnSpc>
              <a:spcBef>
                <a:spcPts val="1000"/>
              </a:spcBef>
              <a:spcAft>
                <a:spcPts val="0"/>
              </a:spcAft>
              <a:buClr>
                <a:srgbClr val="111111"/>
              </a:buClr>
              <a:buSzPts val="1300"/>
              <a:buFont typeface="Plus Jakarta Sans"/>
              <a:buAutoNum type="alphaUcPeriod"/>
            </a:pPr>
            <a:r>
              <a:rPr lang="en" sz="1300">
                <a:solidFill>
                  <a:schemeClr val="dk1"/>
                </a:solidFill>
                <a:latin typeface="Plus Jakarta Sans"/>
                <a:ea typeface="Plus Jakarta Sans"/>
                <a:cs typeface="Plus Jakarta Sans"/>
                <a:sym typeface="Plus Jakarta Sans"/>
              </a:rPr>
              <a:t> Complement or substitute clustering with anomaly detection (Isolation Forests)</a:t>
            </a:r>
            <a:endParaRPr sz="1300">
              <a:solidFill>
                <a:schemeClr val="dk1"/>
              </a:solidFill>
              <a:latin typeface="Plus Jakarta Sans"/>
              <a:ea typeface="Plus Jakarta Sans"/>
              <a:cs typeface="Plus Jakarta Sans"/>
              <a:sym typeface="Plus Jakarta Sans"/>
            </a:endParaRPr>
          </a:p>
          <a:p>
            <a:pPr indent="-311150" lvl="0" marL="457200" rtl="0" algn="l">
              <a:lnSpc>
                <a:spcPct val="115000"/>
              </a:lnSpc>
              <a:spcBef>
                <a:spcPts val="1000"/>
              </a:spcBef>
              <a:spcAft>
                <a:spcPts val="0"/>
              </a:spcAft>
              <a:buClr>
                <a:schemeClr val="dk1"/>
              </a:buClr>
              <a:buSzPts val="1300"/>
              <a:buFont typeface="Plus Jakarta Sans"/>
              <a:buAutoNum type="alphaUcPeriod"/>
            </a:pPr>
            <a:r>
              <a:rPr lang="en" sz="1300">
                <a:solidFill>
                  <a:schemeClr val="dk1"/>
                </a:solidFill>
                <a:latin typeface="Plus Jakarta Sans"/>
                <a:ea typeface="Plus Jakarta Sans"/>
                <a:cs typeface="Plus Jakarta Sans"/>
                <a:sym typeface="Plus Jakarta Sans"/>
              </a:rPr>
              <a:t>Adjust regression  hyperparameters to be more sensitive to outliers</a:t>
            </a:r>
            <a:endParaRPr sz="1300">
              <a:solidFill>
                <a:srgbClr val="111111"/>
              </a:solidFill>
              <a:latin typeface="Plus Jakarta Sans"/>
              <a:ea typeface="Plus Jakarta Sans"/>
              <a:cs typeface="Plus Jakarta Sans"/>
              <a:sym typeface="Plus Jakarta Sans"/>
            </a:endParaRPr>
          </a:p>
          <a:p>
            <a:pPr indent="0" lvl="0" marL="0" rtl="0" algn="l">
              <a:lnSpc>
                <a:spcPct val="115000"/>
              </a:lnSpc>
              <a:spcBef>
                <a:spcPts val="1000"/>
              </a:spcBef>
              <a:spcAft>
                <a:spcPts val="1000"/>
              </a:spcAft>
              <a:buNone/>
            </a:pPr>
            <a:r>
              <a:t/>
            </a:r>
            <a:endParaRPr sz="1300">
              <a:solidFill>
                <a:srgbClr val="111111"/>
              </a:solidFill>
              <a:latin typeface="Plus Jakarta Sans"/>
              <a:ea typeface="Plus Jakarta Sans"/>
              <a:cs typeface="Plus Jakarta Sans"/>
              <a:sym typeface="Plus Jakarta Sans"/>
            </a:endParaRPr>
          </a:p>
        </p:txBody>
      </p:sp>
      <p:grpSp>
        <p:nvGrpSpPr>
          <p:cNvPr id="2354" name="Google Shape;2354;p53"/>
          <p:cNvGrpSpPr/>
          <p:nvPr/>
        </p:nvGrpSpPr>
        <p:grpSpPr>
          <a:xfrm rot="204526">
            <a:off x="8102686" y="1992056"/>
            <a:ext cx="1358227" cy="6377825"/>
            <a:chOff x="4851025" y="424250"/>
            <a:chExt cx="654450" cy="3073100"/>
          </a:xfrm>
        </p:grpSpPr>
        <p:sp>
          <p:nvSpPr>
            <p:cNvPr id="2355" name="Google Shape;2355;p53"/>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53"/>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53"/>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53"/>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3"/>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3"/>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53"/>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53"/>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53"/>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53"/>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53"/>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53"/>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3"/>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3"/>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53"/>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53"/>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3"/>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5" name="Shape 2375"/>
        <p:cNvGrpSpPr/>
        <p:nvPr/>
      </p:nvGrpSpPr>
      <p:grpSpPr>
        <a:xfrm>
          <a:off x="0" y="0"/>
          <a:ext cx="0" cy="0"/>
          <a:chOff x="0" y="0"/>
          <a:chExt cx="0" cy="0"/>
        </a:xfrm>
      </p:grpSpPr>
      <p:sp>
        <p:nvSpPr>
          <p:cNvPr id="2376" name="Google Shape;2376;p54"/>
          <p:cNvSpPr txBox="1"/>
          <p:nvPr>
            <p:ph type="title"/>
          </p:nvPr>
        </p:nvSpPr>
        <p:spPr>
          <a:xfrm flipH="1">
            <a:off x="3972150" y="3027550"/>
            <a:ext cx="5079900" cy="138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Thank You!</a:t>
            </a:r>
            <a:endParaRPr sz="4000"/>
          </a:p>
        </p:txBody>
      </p:sp>
      <p:grpSp>
        <p:nvGrpSpPr>
          <p:cNvPr id="2377" name="Google Shape;2377;p54"/>
          <p:cNvGrpSpPr/>
          <p:nvPr/>
        </p:nvGrpSpPr>
        <p:grpSpPr>
          <a:xfrm flipH="1" rot="10800000">
            <a:off x="2438542" y="3027557"/>
            <a:ext cx="4482760" cy="4754793"/>
            <a:chOff x="4204225" y="2144350"/>
            <a:chExt cx="2159950" cy="2291025"/>
          </a:xfrm>
        </p:grpSpPr>
        <p:sp>
          <p:nvSpPr>
            <p:cNvPr id="2378" name="Google Shape;2378;p54"/>
            <p:cNvSpPr/>
            <p:nvPr/>
          </p:nvSpPr>
          <p:spPr>
            <a:xfrm>
              <a:off x="4204225" y="2168700"/>
              <a:ext cx="2138575" cy="2242350"/>
            </a:xfrm>
            <a:custGeom>
              <a:rect b="b" l="l" r="r" t="t"/>
              <a:pathLst>
                <a:path extrusionOk="0" h="89694" w="85543">
                  <a:moveTo>
                    <a:pt x="84207" y="0"/>
                  </a:moveTo>
                  <a:cubicBezTo>
                    <a:pt x="83895" y="0"/>
                    <a:pt x="83583" y="119"/>
                    <a:pt x="83345" y="357"/>
                  </a:cubicBezTo>
                  <a:lnTo>
                    <a:pt x="69442" y="14262"/>
                  </a:lnTo>
                  <a:cubicBezTo>
                    <a:pt x="69394" y="14308"/>
                    <a:pt x="69330" y="14335"/>
                    <a:pt x="69263" y="14335"/>
                  </a:cubicBezTo>
                  <a:lnTo>
                    <a:pt x="49162" y="14335"/>
                  </a:lnTo>
                  <a:cubicBezTo>
                    <a:pt x="47913" y="14335"/>
                    <a:pt x="46690" y="14842"/>
                    <a:pt x="45806" y="15725"/>
                  </a:cubicBezTo>
                  <a:lnTo>
                    <a:pt x="32790" y="28742"/>
                  </a:lnTo>
                  <a:cubicBezTo>
                    <a:pt x="32741" y="28790"/>
                    <a:pt x="32662" y="28819"/>
                    <a:pt x="32577" y="28822"/>
                  </a:cubicBezTo>
                  <a:cubicBezTo>
                    <a:pt x="23839" y="28988"/>
                    <a:pt x="15651" y="32519"/>
                    <a:pt x="9519" y="38765"/>
                  </a:cubicBezTo>
                  <a:cubicBezTo>
                    <a:pt x="3380" y="45017"/>
                    <a:pt x="0" y="53287"/>
                    <a:pt x="0" y="62050"/>
                  </a:cubicBezTo>
                  <a:lnTo>
                    <a:pt x="0" y="65766"/>
                  </a:lnTo>
                  <a:cubicBezTo>
                    <a:pt x="0" y="67016"/>
                    <a:pt x="507" y="68239"/>
                    <a:pt x="1390" y="69123"/>
                  </a:cubicBezTo>
                  <a:lnTo>
                    <a:pt x="21604" y="89336"/>
                  </a:lnTo>
                  <a:cubicBezTo>
                    <a:pt x="21841" y="89574"/>
                    <a:pt x="22153" y="89693"/>
                    <a:pt x="22465" y="89694"/>
                  </a:cubicBezTo>
                  <a:lnTo>
                    <a:pt x="22465" y="89694"/>
                  </a:lnTo>
                  <a:cubicBezTo>
                    <a:pt x="22777" y="89693"/>
                    <a:pt x="23089" y="89574"/>
                    <a:pt x="23326" y="89336"/>
                  </a:cubicBezTo>
                  <a:cubicBezTo>
                    <a:pt x="23802" y="88861"/>
                    <a:pt x="23802" y="88090"/>
                    <a:pt x="23326" y="87614"/>
                  </a:cubicBezTo>
                  <a:lnTo>
                    <a:pt x="3112" y="67401"/>
                  </a:lnTo>
                  <a:cubicBezTo>
                    <a:pt x="2682" y="66970"/>
                    <a:pt x="2435" y="66375"/>
                    <a:pt x="2435" y="65766"/>
                  </a:cubicBezTo>
                  <a:lnTo>
                    <a:pt x="2435" y="62050"/>
                  </a:lnTo>
                  <a:cubicBezTo>
                    <a:pt x="2435" y="53930"/>
                    <a:pt x="5568" y="46266"/>
                    <a:pt x="11257" y="40471"/>
                  </a:cubicBezTo>
                  <a:cubicBezTo>
                    <a:pt x="16939" y="34683"/>
                    <a:pt x="24527" y="31411"/>
                    <a:pt x="32624" y="31257"/>
                  </a:cubicBezTo>
                  <a:cubicBezTo>
                    <a:pt x="33344" y="31243"/>
                    <a:pt x="34015" y="30961"/>
                    <a:pt x="34512" y="30464"/>
                  </a:cubicBezTo>
                  <a:lnTo>
                    <a:pt x="47528" y="17448"/>
                  </a:lnTo>
                  <a:cubicBezTo>
                    <a:pt x="47958" y="17018"/>
                    <a:pt x="48554" y="16771"/>
                    <a:pt x="49162" y="16771"/>
                  </a:cubicBezTo>
                  <a:lnTo>
                    <a:pt x="69263" y="16771"/>
                  </a:lnTo>
                  <a:cubicBezTo>
                    <a:pt x="69971" y="16771"/>
                    <a:pt x="70664" y="16484"/>
                    <a:pt x="71164" y="15984"/>
                  </a:cubicBezTo>
                  <a:lnTo>
                    <a:pt x="85067" y="2079"/>
                  </a:lnTo>
                  <a:cubicBezTo>
                    <a:pt x="85543" y="1605"/>
                    <a:pt x="85543" y="833"/>
                    <a:pt x="85067" y="357"/>
                  </a:cubicBezTo>
                  <a:cubicBezTo>
                    <a:pt x="84830" y="119"/>
                    <a:pt x="84518" y="0"/>
                    <a:pt x="84207" y="0"/>
                  </a:cubicBezTo>
                  <a:close/>
                  <a:moveTo>
                    <a:pt x="22465" y="89694"/>
                  </a:moveTo>
                  <a:cubicBezTo>
                    <a:pt x="22465" y="89694"/>
                    <a:pt x="22464" y="89694"/>
                    <a:pt x="22464" y="89694"/>
                  </a:cubicBezTo>
                  <a:lnTo>
                    <a:pt x="22465" y="89694"/>
                  </a:lnTo>
                  <a:cubicBezTo>
                    <a:pt x="22465" y="89694"/>
                    <a:pt x="22465" y="89694"/>
                    <a:pt x="22465" y="8969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54"/>
            <p:cNvSpPr/>
            <p:nvPr/>
          </p:nvSpPr>
          <p:spPr>
            <a:xfrm>
              <a:off x="6254575" y="2144350"/>
              <a:ext cx="109600" cy="109625"/>
            </a:xfrm>
            <a:custGeom>
              <a:rect b="b" l="l" r="r" t="t"/>
              <a:pathLst>
                <a:path extrusionOk="0" h="4385" w="4384">
                  <a:moveTo>
                    <a:pt x="2193" y="1"/>
                  </a:moveTo>
                  <a:cubicBezTo>
                    <a:pt x="982" y="1"/>
                    <a:pt x="1" y="982"/>
                    <a:pt x="1" y="2193"/>
                  </a:cubicBezTo>
                  <a:cubicBezTo>
                    <a:pt x="1" y="3404"/>
                    <a:pt x="982" y="4385"/>
                    <a:pt x="2193" y="4385"/>
                  </a:cubicBezTo>
                  <a:cubicBezTo>
                    <a:pt x="3402" y="4385"/>
                    <a:pt x="4384" y="3404"/>
                    <a:pt x="4384" y="2193"/>
                  </a:cubicBezTo>
                  <a:cubicBezTo>
                    <a:pt x="4384" y="982"/>
                    <a:pt x="3402"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54"/>
            <p:cNvSpPr/>
            <p:nvPr/>
          </p:nvSpPr>
          <p:spPr>
            <a:xfrm>
              <a:off x="4715200" y="4325775"/>
              <a:ext cx="109650" cy="109600"/>
            </a:xfrm>
            <a:custGeom>
              <a:rect b="b" l="l" r="r" t="t"/>
              <a:pathLst>
                <a:path extrusionOk="0" h="4384" w="4386">
                  <a:moveTo>
                    <a:pt x="2193" y="1"/>
                  </a:moveTo>
                  <a:cubicBezTo>
                    <a:pt x="982" y="1"/>
                    <a:pt x="1" y="982"/>
                    <a:pt x="1" y="2192"/>
                  </a:cubicBezTo>
                  <a:cubicBezTo>
                    <a:pt x="1" y="3403"/>
                    <a:pt x="982" y="4384"/>
                    <a:pt x="2193" y="4384"/>
                  </a:cubicBezTo>
                  <a:cubicBezTo>
                    <a:pt x="3404" y="4384"/>
                    <a:pt x="4385" y="3403"/>
                    <a:pt x="4385" y="2192"/>
                  </a:cubicBezTo>
                  <a:cubicBezTo>
                    <a:pt x="4385" y="982"/>
                    <a:pt x="3404" y="1"/>
                    <a:pt x="21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54"/>
            <p:cNvSpPr/>
            <p:nvPr/>
          </p:nvSpPr>
          <p:spPr>
            <a:xfrm>
              <a:off x="4477325" y="3113000"/>
              <a:ext cx="36525" cy="36575"/>
            </a:xfrm>
            <a:custGeom>
              <a:rect b="b" l="l" r="r" t="t"/>
              <a:pathLst>
                <a:path extrusionOk="0" h="1463" w="1461">
                  <a:moveTo>
                    <a:pt x="730" y="0"/>
                  </a:moveTo>
                  <a:cubicBezTo>
                    <a:pt x="326" y="0"/>
                    <a:pt x="0" y="328"/>
                    <a:pt x="0" y="731"/>
                  </a:cubicBezTo>
                  <a:cubicBezTo>
                    <a:pt x="0" y="1135"/>
                    <a:pt x="326"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4"/>
            <p:cNvSpPr/>
            <p:nvPr/>
          </p:nvSpPr>
          <p:spPr>
            <a:xfrm>
              <a:off x="4648175" y="2990900"/>
              <a:ext cx="36525" cy="36575"/>
            </a:xfrm>
            <a:custGeom>
              <a:rect b="b" l="l" r="r" t="t"/>
              <a:pathLst>
                <a:path extrusionOk="0" h="1463" w="1461">
                  <a:moveTo>
                    <a:pt x="731" y="0"/>
                  </a:moveTo>
                  <a:cubicBezTo>
                    <a:pt x="328" y="0"/>
                    <a:pt x="0" y="328"/>
                    <a:pt x="0" y="731"/>
                  </a:cubicBezTo>
                  <a:cubicBezTo>
                    <a:pt x="0" y="1135"/>
                    <a:pt x="328" y="1462"/>
                    <a:pt x="731" y="1462"/>
                  </a:cubicBezTo>
                  <a:cubicBezTo>
                    <a:pt x="1135" y="1462"/>
                    <a:pt x="1461" y="1135"/>
                    <a:pt x="1461" y="731"/>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4"/>
            <p:cNvSpPr/>
            <p:nvPr/>
          </p:nvSpPr>
          <p:spPr>
            <a:xfrm>
              <a:off x="4939350" y="2902250"/>
              <a:ext cx="36550" cy="36550"/>
            </a:xfrm>
            <a:custGeom>
              <a:rect b="b" l="l" r="r" t="t"/>
              <a:pathLst>
                <a:path extrusionOk="0" h="1462" w="1462">
                  <a:moveTo>
                    <a:pt x="731" y="1"/>
                  </a:moveTo>
                  <a:cubicBezTo>
                    <a:pt x="328" y="1"/>
                    <a:pt x="1" y="327"/>
                    <a:pt x="1" y="731"/>
                  </a:cubicBezTo>
                  <a:cubicBezTo>
                    <a:pt x="1" y="1134"/>
                    <a:pt x="328" y="1462"/>
                    <a:pt x="731" y="1462"/>
                  </a:cubicBezTo>
                  <a:cubicBezTo>
                    <a:pt x="1135" y="1462"/>
                    <a:pt x="1461" y="1134"/>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4"/>
            <p:cNvSpPr/>
            <p:nvPr/>
          </p:nvSpPr>
          <p:spPr>
            <a:xfrm>
              <a:off x="5783075" y="2536500"/>
              <a:ext cx="36525" cy="36550"/>
            </a:xfrm>
            <a:custGeom>
              <a:rect b="b" l="l" r="r" t="t"/>
              <a:pathLst>
                <a:path extrusionOk="0" h="1462" w="1461">
                  <a:moveTo>
                    <a:pt x="731" y="1"/>
                  </a:moveTo>
                  <a:cubicBezTo>
                    <a:pt x="327" y="1"/>
                    <a:pt x="0" y="328"/>
                    <a:pt x="0" y="731"/>
                  </a:cubicBezTo>
                  <a:cubicBezTo>
                    <a:pt x="0" y="1135"/>
                    <a:pt x="327" y="1461"/>
                    <a:pt x="731" y="1461"/>
                  </a:cubicBezTo>
                  <a:cubicBezTo>
                    <a:pt x="1134" y="1461"/>
                    <a:pt x="1461" y="1135"/>
                    <a:pt x="1461" y="731"/>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4"/>
            <p:cNvSpPr/>
            <p:nvPr/>
          </p:nvSpPr>
          <p:spPr>
            <a:xfrm>
              <a:off x="5538875" y="2536500"/>
              <a:ext cx="36575" cy="36550"/>
            </a:xfrm>
            <a:custGeom>
              <a:rect b="b" l="l" r="r" t="t"/>
              <a:pathLst>
                <a:path extrusionOk="0" h="1462" w="1463">
                  <a:moveTo>
                    <a:pt x="731" y="1"/>
                  </a:moveTo>
                  <a:cubicBezTo>
                    <a:pt x="328" y="1"/>
                    <a:pt x="0" y="328"/>
                    <a:pt x="0" y="731"/>
                  </a:cubicBezTo>
                  <a:cubicBezTo>
                    <a:pt x="0" y="1135"/>
                    <a:pt x="328" y="1461"/>
                    <a:pt x="731" y="1461"/>
                  </a:cubicBezTo>
                  <a:cubicBezTo>
                    <a:pt x="1135" y="1461"/>
                    <a:pt x="1462" y="1135"/>
                    <a:pt x="1462" y="731"/>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54"/>
            <p:cNvSpPr/>
            <p:nvPr/>
          </p:nvSpPr>
          <p:spPr>
            <a:xfrm>
              <a:off x="5327725" y="2591975"/>
              <a:ext cx="36550" cy="36525"/>
            </a:xfrm>
            <a:custGeom>
              <a:rect b="b" l="l" r="r" t="t"/>
              <a:pathLst>
                <a:path extrusionOk="0" h="1461" w="1462">
                  <a:moveTo>
                    <a:pt x="731" y="0"/>
                  </a:moveTo>
                  <a:cubicBezTo>
                    <a:pt x="327" y="0"/>
                    <a:pt x="1" y="326"/>
                    <a:pt x="1" y="730"/>
                  </a:cubicBezTo>
                  <a:cubicBezTo>
                    <a:pt x="1" y="1133"/>
                    <a:pt x="327"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4"/>
            <p:cNvSpPr/>
            <p:nvPr/>
          </p:nvSpPr>
          <p:spPr>
            <a:xfrm>
              <a:off x="4483500" y="4099650"/>
              <a:ext cx="36575" cy="36525"/>
            </a:xfrm>
            <a:custGeom>
              <a:rect b="b" l="l" r="r" t="t"/>
              <a:pathLst>
                <a:path extrusionOk="0" h="1461" w="1463">
                  <a:moveTo>
                    <a:pt x="732" y="0"/>
                  </a:moveTo>
                  <a:cubicBezTo>
                    <a:pt x="328" y="0"/>
                    <a:pt x="1" y="327"/>
                    <a:pt x="1" y="731"/>
                  </a:cubicBezTo>
                  <a:cubicBezTo>
                    <a:pt x="1" y="1134"/>
                    <a:pt x="328" y="1461"/>
                    <a:pt x="732" y="1461"/>
                  </a:cubicBezTo>
                  <a:cubicBezTo>
                    <a:pt x="1135" y="1461"/>
                    <a:pt x="1462" y="1134"/>
                    <a:pt x="1462" y="731"/>
                  </a:cubicBezTo>
                  <a:cubicBezTo>
                    <a:pt x="1462" y="327"/>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4"/>
            <p:cNvSpPr/>
            <p:nvPr/>
          </p:nvSpPr>
          <p:spPr>
            <a:xfrm>
              <a:off x="5147625" y="2770650"/>
              <a:ext cx="36575" cy="36575"/>
            </a:xfrm>
            <a:custGeom>
              <a:rect b="b" l="l" r="r" t="t"/>
              <a:pathLst>
                <a:path extrusionOk="0" h="1463" w="1463">
                  <a:moveTo>
                    <a:pt x="731" y="1"/>
                  </a:moveTo>
                  <a:cubicBezTo>
                    <a:pt x="328" y="1"/>
                    <a:pt x="1" y="329"/>
                    <a:pt x="1" y="732"/>
                  </a:cubicBezTo>
                  <a:cubicBezTo>
                    <a:pt x="1" y="1135"/>
                    <a:pt x="328" y="1463"/>
                    <a:pt x="731" y="1463"/>
                  </a:cubicBezTo>
                  <a:cubicBezTo>
                    <a:pt x="1135" y="1463"/>
                    <a:pt x="1463" y="1135"/>
                    <a:pt x="1463" y="732"/>
                  </a:cubicBezTo>
                  <a:cubicBezTo>
                    <a:pt x="1463" y="329"/>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54"/>
            <p:cNvSpPr/>
            <p:nvPr/>
          </p:nvSpPr>
          <p:spPr>
            <a:xfrm>
              <a:off x="4225350" y="3576400"/>
              <a:ext cx="36575" cy="36550"/>
            </a:xfrm>
            <a:custGeom>
              <a:rect b="b" l="l" r="r" t="t"/>
              <a:pathLst>
                <a:path extrusionOk="0" h="1462" w="1463">
                  <a:moveTo>
                    <a:pt x="732" y="1"/>
                  </a:moveTo>
                  <a:cubicBezTo>
                    <a:pt x="328" y="1"/>
                    <a:pt x="1" y="327"/>
                    <a:pt x="1" y="731"/>
                  </a:cubicBezTo>
                  <a:cubicBezTo>
                    <a:pt x="1"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54"/>
            <p:cNvSpPr/>
            <p:nvPr/>
          </p:nvSpPr>
          <p:spPr>
            <a:xfrm>
              <a:off x="4290150" y="3359200"/>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54"/>
            <p:cNvSpPr/>
            <p:nvPr/>
          </p:nvSpPr>
          <p:spPr>
            <a:xfrm>
              <a:off x="4271875" y="3887850"/>
              <a:ext cx="36550" cy="36575"/>
            </a:xfrm>
            <a:custGeom>
              <a:rect b="b" l="l" r="r" t="t"/>
              <a:pathLst>
                <a:path extrusionOk="0" h="1463" w="1462">
                  <a:moveTo>
                    <a:pt x="731" y="0"/>
                  </a:moveTo>
                  <a:cubicBezTo>
                    <a:pt x="327" y="0"/>
                    <a:pt x="1" y="328"/>
                    <a:pt x="1" y="732"/>
                  </a:cubicBezTo>
                  <a:cubicBezTo>
                    <a:pt x="1"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54"/>
            <p:cNvSpPr/>
            <p:nvPr/>
          </p:nvSpPr>
          <p:spPr>
            <a:xfrm>
              <a:off x="5972075" y="24999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54"/>
            <p:cNvSpPr/>
            <p:nvPr/>
          </p:nvSpPr>
          <p:spPr>
            <a:xfrm>
              <a:off x="6272763" y="21625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54"/>
            <p:cNvSpPr/>
            <p:nvPr/>
          </p:nvSpPr>
          <p:spPr>
            <a:xfrm>
              <a:off x="6126525" y="2346350"/>
              <a:ext cx="36550" cy="36575"/>
            </a:xfrm>
            <a:custGeom>
              <a:rect b="b" l="l" r="r" t="t"/>
              <a:pathLst>
                <a:path extrusionOk="0" h="1463" w="1462">
                  <a:moveTo>
                    <a:pt x="732" y="1"/>
                  </a:moveTo>
                  <a:cubicBezTo>
                    <a:pt x="328" y="1"/>
                    <a:pt x="0" y="328"/>
                    <a:pt x="0" y="732"/>
                  </a:cubicBezTo>
                  <a:cubicBezTo>
                    <a:pt x="0" y="1135"/>
                    <a:pt x="328" y="1463"/>
                    <a:pt x="732" y="1463"/>
                  </a:cubicBezTo>
                  <a:cubicBezTo>
                    <a:pt x="1134" y="1463"/>
                    <a:pt x="1462" y="1135"/>
                    <a:pt x="1462" y="732"/>
                  </a:cubicBezTo>
                  <a:cubicBezTo>
                    <a:pt x="1462" y="328"/>
                    <a:pt x="1134"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54"/>
            <p:cNvSpPr/>
            <p:nvPr/>
          </p:nvSpPr>
          <p:spPr>
            <a:xfrm>
              <a:off x="4733413" y="43439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6" name="Google Shape;2396;p54"/>
          <p:cNvGrpSpPr/>
          <p:nvPr/>
        </p:nvGrpSpPr>
        <p:grpSpPr>
          <a:xfrm rot="5604526">
            <a:off x="-73105" y="-1205015"/>
            <a:ext cx="1358227" cy="6377825"/>
            <a:chOff x="4851025" y="424250"/>
            <a:chExt cx="654450" cy="3073100"/>
          </a:xfrm>
        </p:grpSpPr>
        <p:sp>
          <p:nvSpPr>
            <p:cNvPr id="2397" name="Google Shape;2397;p54"/>
            <p:cNvSpPr/>
            <p:nvPr/>
          </p:nvSpPr>
          <p:spPr>
            <a:xfrm>
              <a:off x="4851025" y="448600"/>
              <a:ext cx="631325" cy="3024400"/>
            </a:xfrm>
            <a:custGeom>
              <a:rect b="b" l="l" r="r" t="t"/>
              <a:pathLst>
                <a:path extrusionOk="0" h="120976" w="25253">
                  <a:moveTo>
                    <a:pt x="17263" y="1"/>
                  </a:moveTo>
                  <a:cubicBezTo>
                    <a:pt x="16919" y="1"/>
                    <a:pt x="16578" y="145"/>
                    <a:pt x="16337" y="427"/>
                  </a:cubicBezTo>
                  <a:lnTo>
                    <a:pt x="1215" y="18082"/>
                  </a:lnTo>
                  <a:cubicBezTo>
                    <a:pt x="486" y="18933"/>
                    <a:pt x="1" y="20417"/>
                    <a:pt x="87" y="21534"/>
                  </a:cubicBezTo>
                  <a:lnTo>
                    <a:pt x="1840" y="44229"/>
                  </a:lnTo>
                  <a:cubicBezTo>
                    <a:pt x="1927" y="45346"/>
                    <a:pt x="2634" y="46738"/>
                    <a:pt x="3486" y="47467"/>
                  </a:cubicBezTo>
                  <a:lnTo>
                    <a:pt x="17422" y="59405"/>
                  </a:lnTo>
                  <a:cubicBezTo>
                    <a:pt x="17790" y="59720"/>
                    <a:pt x="18186" y="60500"/>
                    <a:pt x="18223" y="60982"/>
                  </a:cubicBezTo>
                  <a:lnTo>
                    <a:pt x="22773" y="119851"/>
                  </a:lnTo>
                  <a:cubicBezTo>
                    <a:pt x="22798" y="120187"/>
                    <a:pt x="22958" y="120480"/>
                    <a:pt x="23194" y="120682"/>
                  </a:cubicBezTo>
                  <a:cubicBezTo>
                    <a:pt x="23409" y="120866"/>
                    <a:pt x="23686" y="120975"/>
                    <a:pt x="23985" y="120975"/>
                  </a:cubicBezTo>
                  <a:cubicBezTo>
                    <a:pt x="24016" y="120975"/>
                    <a:pt x="24048" y="120974"/>
                    <a:pt x="24081" y="120972"/>
                  </a:cubicBezTo>
                  <a:cubicBezTo>
                    <a:pt x="24752" y="120920"/>
                    <a:pt x="25253" y="120334"/>
                    <a:pt x="25201" y="119664"/>
                  </a:cubicBezTo>
                  <a:lnTo>
                    <a:pt x="20652" y="60795"/>
                  </a:lnTo>
                  <a:cubicBezTo>
                    <a:pt x="20565" y="59676"/>
                    <a:pt x="19858" y="58284"/>
                    <a:pt x="19007" y="57555"/>
                  </a:cubicBezTo>
                  <a:lnTo>
                    <a:pt x="5070" y="45618"/>
                  </a:lnTo>
                  <a:cubicBezTo>
                    <a:pt x="4702" y="45304"/>
                    <a:pt x="4306" y="44522"/>
                    <a:pt x="4269" y="44041"/>
                  </a:cubicBezTo>
                  <a:lnTo>
                    <a:pt x="2516" y="21347"/>
                  </a:lnTo>
                  <a:cubicBezTo>
                    <a:pt x="2478" y="20866"/>
                    <a:pt x="2750" y="20033"/>
                    <a:pt x="3065" y="19666"/>
                  </a:cubicBezTo>
                  <a:lnTo>
                    <a:pt x="18187" y="2011"/>
                  </a:lnTo>
                  <a:cubicBezTo>
                    <a:pt x="18624" y="1500"/>
                    <a:pt x="18564" y="732"/>
                    <a:pt x="18054" y="293"/>
                  </a:cubicBezTo>
                  <a:cubicBezTo>
                    <a:pt x="17825" y="97"/>
                    <a:pt x="17543" y="1"/>
                    <a:pt x="172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54"/>
            <p:cNvSpPr/>
            <p:nvPr/>
          </p:nvSpPr>
          <p:spPr>
            <a:xfrm>
              <a:off x="5227775" y="424250"/>
              <a:ext cx="109600" cy="109650"/>
            </a:xfrm>
            <a:custGeom>
              <a:rect b="b" l="l" r="r" t="t"/>
              <a:pathLst>
                <a:path extrusionOk="0" h="4386" w="4384">
                  <a:moveTo>
                    <a:pt x="2191" y="1"/>
                  </a:moveTo>
                  <a:cubicBezTo>
                    <a:pt x="982" y="1"/>
                    <a:pt x="0" y="982"/>
                    <a:pt x="0" y="2193"/>
                  </a:cubicBezTo>
                  <a:cubicBezTo>
                    <a:pt x="0" y="3404"/>
                    <a:pt x="982" y="4385"/>
                    <a:pt x="2191" y="4385"/>
                  </a:cubicBezTo>
                  <a:cubicBezTo>
                    <a:pt x="3402" y="4385"/>
                    <a:pt x="4383" y="3404"/>
                    <a:pt x="4383" y="2193"/>
                  </a:cubicBezTo>
                  <a:cubicBezTo>
                    <a:pt x="4383" y="982"/>
                    <a:pt x="3402" y="1"/>
                    <a:pt x="21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54"/>
            <p:cNvSpPr/>
            <p:nvPr/>
          </p:nvSpPr>
          <p:spPr>
            <a:xfrm>
              <a:off x="5395875" y="3387725"/>
              <a:ext cx="109600" cy="109625"/>
            </a:xfrm>
            <a:custGeom>
              <a:rect b="b" l="l" r="r" t="t"/>
              <a:pathLst>
                <a:path extrusionOk="0" h="4385" w="4384">
                  <a:moveTo>
                    <a:pt x="2193" y="0"/>
                  </a:moveTo>
                  <a:cubicBezTo>
                    <a:pt x="982" y="0"/>
                    <a:pt x="1" y="982"/>
                    <a:pt x="1" y="2193"/>
                  </a:cubicBezTo>
                  <a:cubicBezTo>
                    <a:pt x="1" y="3403"/>
                    <a:pt x="982" y="4385"/>
                    <a:pt x="2193" y="4385"/>
                  </a:cubicBezTo>
                  <a:cubicBezTo>
                    <a:pt x="3403" y="4385"/>
                    <a:pt x="4384" y="3403"/>
                    <a:pt x="4384" y="2193"/>
                  </a:cubicBezTo>
                  <a:cubicBezTo>
                    <a:pt x="4384" y="982"/>
                    <a:pt x="3403" y="0"/>
                    <a:pt x="21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4"/>
            <p:cNvSpPr/>
            <p:nvPr/>
          </p:nvSpPr>
          <p:spPr>
            <a:xfrm>
              <a:off x="5327225" y="2047550"/>
              <a:ext cx="36525" cy="36575"/>
            </a:xfrm>
            <a:custGeom>
              <a:rect b="b" l="l" r="r" t="t"/>
              <a:pathLst>
                <a:path extrusionOk="0" h="1463" w="1461">
                  <a:moveTo>
                    <a:pt x="731" y="1"/>
                  </a:moveTo>
                  <a:cubicBezTo>
                    <a:pt x="327" y="1"/>
                    <a:pt x="0" y="328"/>
                    <a:pt x="0" y="731"/>
                  </a:cubicBezTo>
                  <a:cubicBezTo>
                    <a:pt x="0" y="1135"/>
                    <a:pt x="327" y="1463"/>
                    <a:pt x="731" y="1463"/>
                  </a:cubicBezTo>
                  <a:cubicBezTo>
                    <a:pt x="1133" y="1463"/>
                    <a:pt x="1461" y="1135"/>
                    <a:pt x="1461" y="731"/>
                  </a:cubicBezTo>
                  <a:cubicBezTo>
                    <a:pt x="1461" y="328"/>
                    <a:pt x="1133"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4"/>
            <p:cNvSpPr/>
            <p:nvPr/>
          </p:nvSpPr>
          <p:spPr>
            <a:xfrm>
              <a:off x="4873475" y="1075800"/>
              <a:ext cx="36550" cy="36550"/>
            </a:xfrm>
            <a:custGeom>
              <a:rect b="b" l="l" r="r" t="t"/>
              <a:pathLst>
                <a:path extrusionOk="0" h="1462" w="1462">
                  <a:moveTo>
                    <a:pt x="731" y="1"/>
                  </a:moveTo>
                  <a:cubicBezTo>
                    <a:pt x="327" y="1"/>
                    <a:pt x="1" y="327"/>
                    <a:pt x="1" y="731"/>
                  </a:cubicBezTo>
                  <a:cubicBezTo>
                    <a:pt x="1" y="1134"/>
                    <a:pt x="327" y="1462"/>
                    <a:pt x="731" y="1462"/>
                  </a:cubicBezTo>
                  <a:cubicBezTo>
                    <a:pt x="1134" y="1462"/>
                    <a:pt x="1461" y="1134"/>
                    <a:pt x="1461" y="731"/>
                  </a:cubicBezTo>
                  <a:cubicBezTo>
                    <a:pt x="1461"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54"/>
            <p:cNvSpPr/>
            <p:nvPr/>
          </p:nvSpPr>
          <p:spPr>
            <a:xfrm>
              <a:off x="5221675" y="1834000"/>
              <a:ext cx="36525" cy="36575"/>
            </a:xfrm>
            <a:custGeom>
              <a:rect b="b" l="l" r="r" t="t"/>
              <a:pathLst>
                <a:path extrusionOk="0" h="1463" w="1461">
                  <a:moveTo>
                    <a:pt x="730" y="1"/>
                  </a:moveTo>
                  <a:cubicBezTo>
                    <a:pt x="327" y="1"/>
                    <a:pt x="0" y="328"/>
                    <a:pt x="0" y="731"/>
                  </a:cubicBezTo>
                  <a:cubicBezTo>
                    <a:pt x="0" y="1135"/>
                    <a:pt x="327" y="1462"/>
                    <a:pt x="730" y="1462"/>
                  </a:cubicBezTo>
                  <a:cubicBezTo>
                    <a:pt x="1134" y="1462"/>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54"/>
            <p:cNvSpPr/>
            <p:nvPr/>
          </p:nvSpPr>
          <p:spPr>
            <a:xfrm>
              <a:off x="5373750" y="2669050"/>
              <a:ext cx="36550" cy="36575"/>
            </a:xfrm>
            <a:custGeom>
              <a:rect b="b" l="l" r="r" t="t"/>
              <a:pathLst>
                <a:path extrusionOk="0" h="1463" w="1462">
                  <a:moveTo>
                    <a:pt x="731" y="0"/>
                  </a:moveTo>
                  <a:cubicBezTo>
                    <a:pt x="327" y="0"/>
                    <a:pt x="0" y="328"/>
                    <a:pt x="0" y="732"/>
                  </a:cubicBezTo>
                  <a:cubicBezTo>
                    <a:pt x="0" y="1135"/>
                    <a:pt x="327" y="1462"/>
                    <a:pt x="731" y="1462"/>
                  </a:cubicBezTo>
                  <a:cubicBezTo>
                    <a:pt x="1134" y="1462"/>
                    <a:pt x="1461" y="1135"/>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4"/>
            <p:cNvSpPr/>
            <p:nvPr/>
          </p:nvSpPr>
          <p:spPr>
            <a:xfrm>
              <a:off x="5387700" y="2853325"/>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4"/>
            <p:cNvSpPr/>
            <p:nvPr/>
          </p:nvSpPr>
          <p:spPr>
            <a:xfrm>
              <a:off x="5361650" y="2467050"/>
              <a:ext cx="36575" cy="36525"/>
            </a:xfrm>
            <a:custGeom>
              <a:rect b="b" l="l" r="r" t="t"/>
              <a:pathLst>
                <a:path extrusionOk="0" h="1461" w="1463">
                  <a:moveTo>
                    <a:pt x="732" y="0"/>
                  </a:moveTo>
                  <a:cubicBezTo>
                    <a:pt x="328" y="0"/>
                    <a:pt x="1" y="326"/>
                    <a:pt x="1" y="730"/>
                  </a:cubicBezTo>
                  <a:cubicBezTo>
                    <a:pt x="1" y="1133"/>
                    <a:pt x="328" y="1461"/>
                    <a:pt x="732" y="1461"/>
                  </a:cubicBezTo>
                  <a:cubicBezTo>
                    <a:pt x="1135" y="1461"/>
                    <a:pt x="1462" y="1133"/>
                    <a:pt x="1462" y="730"/>
                  </a:cubicBezTo>
                  <a:cubicBezTo>
                    <a:pt x="1462" y="326"/>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4"/>
            <p:cNvSpPr/>
            <p:nvPr/>
          </p:nvSpPr>
          <p:spPr>
            <a:xfrm>
              <a:off x="5341550" y="2235050"/>
              <a:ext cx="36550" cy="36575"/>
            </a:xfrm>
            <a:custGeom>
              <a:rect b="b" l="l" r="r" t="t"/>
              <a:pathLst>
                <a:path extrusionOk="0" h="1463" w="1462">
                  <a:moveTo>
                    <a:pt x="732" y="0"/>
                  </a:moveTo>
                  <a:cubicBezTo>
                    <a:pt x="328" y="0"/>
                    <a:pt x="0" y="328"/>
                    <a:pt x="0" y="731"/>
                  </a:cubicBezTo>
                  <a:cubicBezTo>
                    <a:pt x="0" y="1135"/>
                    <a:pt x="328" y="1462"/>
                    <a:pt x="732" y="1462"/>
                  </a:cubicBezTo>
                  <a:cubicBezTo>
                    <a:pt x="1134" y="1462"/>
                    <a:pt x="1462" y="1135"/>
                    <a:pt x="1462" y="731"/>
                  </a:cubicBezTo>
                  <a:cubicBezTo>
                    <a:pt x="1462" y="328"/>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4"/>
            <p:cNvSpPr/>
            <p:nvPr/>
          </p:nvSpPr>
          <p:spPr>
            <a:xfrm>
              <a:off x="4909550" y="1510625"/>
              <a:ext cx="36525" cy="36575"/>
            </a:xfrm>
            <a:custGeom>
              <a:rect b="b" l="l" r="r" t="t"/>
              <a:pathLst>
                <a:path extrusionOk="0" h="1463" w="1461">
                  <a:moveTo>
                    <a:pt x="730" y="1"/>
                  </a:moveTo>
                  <a:cubicBezTo>
                    <a:pt x="327" y="1"/>
                    <a:pt x="0" y="328"/>
                    <a:pt x="0" y="731"/>
                  </a:cubicBezTo>
                  <a:cubicBezTo>
                    <a:pt x="0" y="1135"/>
                    <a:pt x="327"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4"/>
            <p:cNvSpPr/>
            <p:nvPr/>
          </p:nvSpPr>
          <p:spPr>
            <a:xfrm>
              <a:off x="5044100" y="1681925"/>
              <a:ext cx="36550" cy="36525"/>
            </a:xfrm>
            <a:custGeom>
              <a:rect b="b" l="l" r="r" t="t"/>
              <a:pathLst>
                <a:path extrusionOk="0" h="1461" w="1462">
                  <a:moveTo>
                    <a:pt x="731" y="0"/>
                  </a:moveTo>
                  <a:cubicBezTo>
                    <a:pt x="327" y="0"/>
                    <a:pt x="1" y="328"/>
                    <a:pt x="1" y="731"/>
                  </a:cubicBezTo>
                  <a:cubicBezTo>
                    <a:pt x="1" y="1134"/>
                    <a:pt x="327" y="1461"/>
                    <a:pt x="731" y="1461"/>
                  </a:cubicBezTo>
                  <a:cubicBezTo>
                    <a:pt x="1134" y="1461"/>
                    <a:pt x="1461" y="1134"/>
                    <a:pt x="1461" y="731"/>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54"/>
            <p:cNvSpPr/>
            <p:nvPr/>
          </p:nvSpPr>
          <p:spPr>
            <a:xfrm>
              <a:off x="4936175" y="843875"/>
              <a:ext cx="36550" cy="36550"/>
            </a:xfrm>
            <a:custGeom>
              <a:rect b="b" l="l" r="r" t="t"/>
              <a:pathLst>
                <a:path extrusionOk="0" h="1462" w="1462">
                  <a:moveTo>
                    <a:pt x="731" y="1"/>
                  </a:moveTo>
                  <a:cubicBezTo>
                    <a:pt x="327" y="1"/>
                    <a:pt x="1" y="327"/>
                    <a:pt x="1" y="731"/>
                  </a:cubicBezTo>
                  <a:cubicBezTo>
                    <a:pt x="1" y="1135"/>
                    <a:pt x="327" y="1461"/>
                    <a:pt x="731" y="1461"/>
                  </a:cubicBezTo>
                  <a:cubicBezTo>
                    <a:pt x="1134" y="1461"/>
                    <a:pt x="1462" y="1135"/>
                    <a:pt x="1462" y="731"/>
                  </a:cubicBezTo>
                  <a:cubicBezTo>
                    <a:pt x="1462" y="327"/>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54"/>
            <p:cNvSpPr/>
            <p:nvPr/>
          </p:nvSpPr>
          <p:spPr>
            <a:xfrm>
              <a:off x="5133850" y="613075"/>
              <a:ext cx="36550" cy="36550"/>
            </a:xfrm>
            <a:custGeom>
              <a:rect b="b" l="l" r="r" t="t"/>
              <a:pathLst>
                <a:path extrusionOk="0" h="1462" w="1462">
                  <a:moveTo>
                    <a:pt x="731" y="1"/>
                  </a:moveTo>
                  <a:cubicBezTo>
                    <a:pt x="327" y="1"/>
                    <a:pt x="1" y="328"/>
                    <a:pt x="1" y="731"/>
                  </a:cubicBezTo>
                  <a:cubicBezTo>
                    <a:pt x="1" y="1135"/>
                    <a:pt x="327"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4"/>
            <p:cNvSpPr/>
            <p:nvPr/>
          </p:nvSpPr>
          <p:spPr>
            <a:xfrm>
              <a:off x="5245975" y="4424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4"/>
            <p:cNvSpPr/>
            <p:nvPr/>
          </p:nvSpPr>
          <p:spPr>
            <a:xfrm>
              <a:off x="5414063" y="3405938"/>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4"/>
            <p:cNvSpPr/>
            <p:nvPr/>
          </p:nvSpPr>
          <p:spPr>
            <a:xfrm>
              <a:off x="5407211" y="3113013"/>
              <a:ext cx="36550" cy="36550"/>
            </a:xfrm>
            <a:custGeom>
              <a:rect b="b" l="l" r="r" t="t"/>
              <a:pathLst>
                <a:path extrusionOk="0" h="1462" w="1462">
                  <a:moveTo>
                    <a:pt x="731" y="1"/>
                  </a:moveTo>
                  <a:cubicBezTo>
                    <a:pt x="328" y="1"/>
                    <a:pt x="0" y="328"/>
                    <a:pt x="0" y="731"/>
                  </a:cubicBezTo>
                  <a:cubicBezTo>
                    <a:pt x="0" y="1135"/>
                    <a:pt x="328" y="1462"/>
                    <a:pt x="731" y="1462"/>
                  </a:cubicBezTo>
                  <a:cubicBezTo>
                    <a:pt x="1135" y="1462"/>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4" name="Google Shape;2414;p54"/>
          <p:cNvGrpSpPr/>
          <p:nvPr/>
        </p:nvGrpSpPr>
        <p:grpSpPr>
          <a:xfrm flipH="1" rot="-5400000">
            <a:off x="6940748" y="-1917686"/>
            <a:ext cx="3848803" cy="5689424"/>
            <a:chOff x="939875" y="457213"/>
            <a:chExt cx="1854488" cy="2741363"/>
          </a:xfrm>
        </p:grpSpPr>
        <p:sp>
          <p:nvSpPr>
            <p:cNvPr id="2415" name="Google Shape;2415;p54"/>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4"/>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4"/>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4"/>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4"/>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4"/>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4"/>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4"/>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4"/>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54"/>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54"/>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54"/>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54"/>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54"/>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4"/>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4"/>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4"/>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4"/>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4"/>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4"/>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4"/>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54"/>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54"/>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54"/>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54"/>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54"/>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1" name="Google Shape;2441;p54"/>
          <p:cNvGrpSpPr/>
          <p:nvPr/>
        </p:nvGrpSpPr>
        <p:grpSpPr>
          <a:xfrm>
            <a:off x="-385454" y="628634"/>
            <a:ext cx="2186019" cy="4663683"/>
            <a:chOff x="3061750" y="2798625"/>
            <a:chExt cx="1053300" cy="2247125"/>
          </a:xfrm>
        </p:grpSpPr>
        <p:grpSp>
          <p:nvGrpSpPr>
            <p:cNvPr id="2442" name="Google Shape;2442;p54"/>
            <p:cNvGrpSpPr/>
            <p:nvPr/>
          </p:nvGrpSpPr>
          <p:grpSpPr>
            <a:xfrm>
              <a:off x="3061750" y="2798625"/>
              <a:ext cx="1053300" cy="2247125"/>
              <a:chOff x="3682050" y="2775150"/>
              <a:chExt cx="1053300" cy="2247125"/>
            </a:xfrm>
          </p:grpSpPr>
          <p:sp>
            <p:nvSpPr>
              <p:cNvPr id="2443" name="Google Shape;2443;p54"/>
              <p:cNvSpPr/>
              <p:nvPr/>
            </p:nvSpPr>
            <p:spPr>
              <a:xfrm>
                <a:off x="3682050" y="2798775"/>
                <a:ext cx="1028200" cy="2199125"/>
              </a:xfrm>
              <a:custGeom>
                <a:rect b="b" l="l" r="r" t="t"/>
                <a:pathLst>
                  <a:path extrusionOk="0" h="87965" w="41128">
                    <a:moveTo>
                      <a:pt x="25100" y="0"/>
                    </a:moveTo>
                    <a:cubicBezTo>
                      <a:pt x="23851" y="0"/>
                      <a:pt x="22627" y="507"/>
                      <a:pt x="21744" y="1390"/>
                    </a:cubicBezTo>
                    <a:lnTo>
                      <a:pt x="11965" y="11169"/>
                    </a:lnTo>
                    <a:cubicBezTo>
                      <a:pt x="0" y="23134"/>
                      <a:pt x="0" y="42602"/>
                      <a:pt x="11965" y="54566"/>
                    </a:cubicBezTo>
                    <a:lnTo>
                      <a:pt x="16700" y="59302"/>
                    </a:lnTo>
                    <a:cubicBezTo>
                      <a:pt x="16747" y="59349"/>
                      <a:pt x="16775" y="59414"/>
                      <a:pt x="16775" y="59480"/>
                    </a:cubicBezTo>
                    <a:lnTo>
                      <a:pt x="16761" y="75497"/>
                    </a:lnTo>
                    <a:cubicBezTo>
                      <a:pt x="16761" y="75564"/>
                      <a:pt x="16735" y="75629"/>
                      <a:pt x="16687" y="75676"/>
                    </a:cubicBezTo>
                    <a:lnTo>
                      <a:pt x="6478" y="85885"/>
                    </a:lnTo>
                    <a:cubicBezTo>
                      <a:pt x="6002" y="86361"/>
                      <a:pt x="6002" y="87133"/>
                      <a:pt x="6478" y="87607"/>
                    </a:cubicBezTo>
                    <a:cubicBezTo>
                      <a:pt x="6716" y="87845"/>
                      <a:pt x="7027" y="87964"/>
                      <a:pt x="7339" y="87964"/>
                    </a:cubicBezTo>
                    <a:cubicBezTo>
                      <a:pt x="7650" y="87964"/>
                      <a:pt x="7962" y="87845"/>
                      <a:pt x="8200" y="87607"/>
                    </a:cubicBezTo>
                    <a:lnTo>
                      <a:pt x="18410" y="77399"/>
                    </a:lnTo>
                    <a:cubicBezTo>
                      <a:pt x="18910" y="76898"/>
                      <a:pt x="19196" y="76206"/>
                      <a:pt x="19197" y="75499"/>
                    </a:cubicBezTo>
                    <a:lnTo>
                      <a:pt x="19210" y="59481"/>
                    </a:lnTo>
                    <a:cubicBezTo>
                      <a:pt x="19210" y="58774"/>
                      <a:pt x="18923" y="58081"/>
                      <a:pt x="18422" y="57580"/>
                    </a:cubicBezTo>
                    <a:lnTo>
                      <a:pt x="13687" y="52844"/>
                    </a:lnTo>
                    <a:cubicBezTo>
                      <a:pt x="2671" y="41829"/>
                      <a:pt x="2671" y="23907"/>
                      <a:pt x="13687" y="12891"/>
                    </a:cubicBezTo>
                    <a:lnTo>
                      <a:pt x="23466" y="3112"/>
                    </a:lnTo>
                    <a:cubicBezTo>
                      <a:pt x="23896" y="2682"/>
                      <a:pt x="24492" y="2435"/>
                      <a:pt x="25099" y="2435"/>
                    </a:cubicBezTo>
                    <a:lnTo>
                      <a:pt x="39910" y="2435"/>
                    </a:lnTo>
                    <a:cubicBezTo>
                      <a:pt x="40582" y="2435"/>
                      <a:pt x="41127" y="1891"/>
                      <a:pt x="41127" y="1218"/>
                    </a:cubicBezTo>
                    <a:cubicBezTo>
                      <a:pt x="41127" y="882"/>
                      <a:pt x="40990" y="577"/>
                      <a:pt x="40770" y="357"/>
                    </a:cubicBezTo>
                    <a:lnTo>
                      <a:pt x="40771" y="356"/>
                    </a:lnTo>
                    <a:cubicBezTo>
                      <a:pt x="40550" y="136"/>
                      <a:pt x="40246" y="0"/>
                      <a:pt x="399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54"/>
              <p:cNvSpPr/>
              <p:nvPr/>
            </p:nvSpPr>
            <p:spPr>
              <a:xfrm>
                <a:off x="3810700" y="4912625"/>
                <a:ext cx="109625" cy="109650"/>
              </a:xfrm>
              <a:custGeom>
                <a:rect b="b" l="l" r="r" t="t"/>
                <a:pathLst>
                  <a:path extrusionOk="0" h="4386" w="4385">
                    <a:moveTo>
                      <a:pt x="2193" y="1"/>
                    </a:moveTo>
                    <a:cubicBezTo>
                      <a:pt x="982" y="1"/>
                      <a:pt x="1" y="982"/>
                      <a:pt x="1" y="2193"/>
                    </a:cubicBezTo>
                    <a:cubicBezTo>
                      <a:pt x="1" y="3404"/>
                      <a:pt x="982" y="4385"/>
                      <a:pt x="2193" y="4385"/>
                    </a:cubicBezTo>
                    <a:cubicBezTo>
                      <a:pt x="3403" y="4385"/>
                      <a:pt x="4385" y="3404"/>
                      <a:pt x="4385" y="2193"/>
                    </a:cubicBezTo>
                    <a:cubicBezTo>
                      <a:pt x="4385" y="982"/>
                      <a:pt x="3403" y="1"/>
                      <a:pt x="21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54"/>
              <p:cNvSpPr/>
              <p:nvPr/>
            </p:nvSpPr>
            <p:spPr>
              <a:xfrm>
                <a:off x="4625725" y="2775150"/>
                <a:ext cx="109625" cy="109625"/>
              </a:xfrm>
              <a:custGeom>
                <a:rect b="b" l="l" r="r" t="t"/>
                <a:pathLst>
                  <a:path extrusionOk="0" h="4385" w="4385">
                    <a:moveTo>
                      <a:pt x="2192" y="0"/>
                    </a:moveTo>
                    <a:cubicBezTo>
                      <a:pt x="982" y="0"/>
                      <a:pt x="0" y="983"/>
                      <a:pt x="0" y="2192"/>
                    </a:cubicBezTo>
                    <a:cubicBezTo>
                      <a:pt x="0" y="3403"/>
                      <a:pt x="982" y="4384"/>
                      <a:pt x="2192" y="4384"/>
                    </a:cubicBezTo>
                    <a:cubicBezTo>
                      <a:pt x="3403" y="4384"/>
                      <a:pt x="4384" y="3403"/>
                      <a:pt x="4384" y="2192"/>
                    </a:cubicBezTo>
                    <a:cubicBezTo>
                      <a:pt x="4384" y="983"/>
                      <a:pt x="3403" y="0"/>
                      <a:pt x="2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54"/>
              <p:cNvSpPr/>
              <p:nvPr/>
            </p:nvSpPr>
            <p:spPr>
              <a:xfrm>
                <a:off x="3970575" y="4825825"/>
                <a:ext cx="36575" cy="36575"/>
              </a:xfrm>
              <a:custGeom>
                <a:rect b="b" l="l" r="r" t="t"/>
                <a:pathLst>
                  <a:path extrusionOk="0" h="1463" w="1463">
                    <a:moveTo>
                      <a:pt x="731" y="0"/>
                    </a:moveTo>
                    <a:cubicBezTo>
                      <a:pt x="328" y="0"/>
                      <a:pt x="0" y="328"/>
                      <a:pt x="0" y="732"/>
                    </a:cubicBezTo>
                    <a:cubicBezTo>
                      <a:pt x="0" y="1135"/>
                      <a:pt x="328" y="1462"/>
                      <a:pt x="731" y="1462"/>
                    </a:cubicBezTo>
                    <a:cubicBezTo>
                      <a:pt x="1135" y="1462"/>
                      <a:pt x="1462" y="1135"/>
                      <a:pt x="1462" y="732"/>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54"/>
              <p:cNvSpPr/>
              <p:nvPr/>
            </p:nvSpPr>
            <p:spPr>
              <a:xfrm>
                <a:off x="3935550" y="4073500"/>
                <a:ext cx="36525" cy="36550"/>
              </a:xfrm>
              <a:custGeom>
                <a:rect b="b" l="l" r="r" t="t"/>
                <a:pathLst>
                  <a:path extrusionOk="0" h="1462" w="1461">
                    <a:moveTo>
                      <a:pt x="730" y="1"/>
                    </a:moveTo>
                    <a:cubicBezTo>
                      <a:pt x="328" y="1"/>
                      <a:pt x="0" y="327"/>
                      <a:pt x="0" y="731"/>
                    </a:cubicBezTo>
                    <a:cubicBezTo>
                      <a:pt x="0" y="1134"/>
                      <a:pt x="328" y="1462"/>
                      <a:pt x="730" y="1462"/>
                    </a:cubicBezTo>
                    <a:cubicBezTo>
                      <a:pt x="1134" y="1462"/>
                      <a:pt x="1461" y="1134"/>
                      <a:pt x="1461" y="731"/>
                    </a:cubicBezTo>
                    <a:cubicBezTo>
                      <a:pt x="1461" y="327"/>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54"/>
              <p:cNvSpPr/>
              <p:nvPr/>
            </p:nvSpPr>
            <p:spPr>
              <a:xfrm>
                <a:off x="3827000" y="3891275"/>
                <a:ext cx="36550" cy="36550"/>
              </a:xfrm>
              <a:custGeom>
                <a:rect b="b" l="l" r="r" t="t"/>
                <a:pathLst>
                  <a:path extrusionOk="0" h="1462" w="1462">
                    <a:moveTo>
                      <a:pt x="732" y="0"/>
                    </a:moveTo>
                    <a:cubicBezTo>
                      <a:pt x="328" y="0"/>
                      <a:pt x="0" y="327"/>
                      <a:pt x="0" y="731"/>
                    </a:cubicBezTo>
                    <a:cubicBezTo>
                      <a:pt x="0" y="1134"/>
                      <a:pt x="328" y="1461"/>
                      <a:pt x="732" y="1461"/>
                    </a:cubicBezTo>
                    <a:cubicBezTo>
                      <a:pt x="1134" y="1461"/>
                      <a:pt x="1462" y="1134"/>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54"/>
              <p:cNvSpPr/>
              <p:nvPr/>
            </p:nvSpPr>
            <p:spPr>
              <a:xfrm>
                <a:off x="4449975" y="2812225"/>
                <a:ext cx="36575" cy="36550"/>
              </a:xfrm>
              <a:custGeom>
                <a:rect b="b" l="l" r="r" t="t"/>
                <a:pathLst>
                  <a:path extrusionOk="0" h="1462" w="1463">
                    <a:moveTo>
                      <a:pt x="731" y="1"/>
                    </a:moveTo>
                    <a:cubicBezTo>
                      <a:pt x="328" y="1"/>
                      <a:pt x="1" y="327"/>
                      <a:pt x="1" y="731"/>
                    </a:cubicBezTo>
                    <a:cubicBezTo>
                      <a:pt x="1" y="1134"/>
                      <a:pt x="328" y="1461"/>
                      <a:pt x="731" y="1461"/>
                    </a:cubicBezTo>
                    <a:cubicBezTo>
                      <a:pt x="1135" y="1461"/>
                      <a:pt x="1463" y="1134"/>
                      <a:pt x="1463" y="731"/>
                    </a:cubicBezTo>
                    <a:cubicBezTo>
                      <a:pt x="1463"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54"/>
              <p:cNvSpPr/>
              <p:nvPr/>
            </p:nvSpPr>
            <p:spPr>
              <a:xfrm>
                <a:off x="4210925" y="2854725"/>
                <a:ext cx="36575" cy="36575"/>
              </a:xfrm>
              <a:custGeom>
                <a:rect b="b" l="l" r="r" t="t"/>
                <a:pathLst>
                  <a:path extrusionOk="0" h="1463" w="1463">
                    <a:moveTo>
                      <a:pt x="731" y="1"/>
                    </a:moveTo>
                    <a:cubicBezTo>
                      <a:pt x="328" y="1"/>
                      <a:pt x="0" y="328"/>
                      <a:pt x="0" y="732"/>
                    </a:cubicBezTo>
                    <a:cubicBezTo>
                      <a:pt x="0" y="1135"/>
                      <a:pt x="328" y="1463"/>
                      <a:pt x="731" y="1463"/>
                    </a:cubicBezTo>
                    <a:cubicBezTo>
                      <a:pt x="1135" y="1463"/>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54"/>
              <p:cNvSpPr/>
              <p:nvPr/>
            </p:nvSpPr>
            <p:spPr>
              <a:xfrm>
                <a:off x="4088325" y="4226300"/>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54"/>
              <p:cNvSpPr/>
              <p:nvPr/>
            </p:nvSpPr>
            <p:spPr>
              <a:xfrm>
                <a:off x="3910700" y="3168550"/>
                <a:ext cx="36550" cy="36525"/>
              </a:xfrm>
              <a:custGeom>
                <a:rect b="b" l="l" r="r" t="t"/>
                <a:pathLst>
                  <a:path extrusionOk="0" h="1461" w="1462">
                    <a:moveTo>
                      <a:pt x="732" y="0"/>
                    </a:moveTo>
                    <a:cubicBezTo>
                      <a:pt x="328" y="0"/>
                      <a:pt x="0" y="327"/>
                      <a:pt x="0" y="731"/>
                    </a:cubicBezTo>
                    <a:cubicBezTo>
                      <a:pt x="0" y="1133"/>
                      <a:pt x="328" y="1461"/>
                      <a:pt x="732" y="1461"/>
                    </a:cubicBezTo>
                    <a:cubicBezTo>
                      <a:pt x="1134" y="1461"/>
                      <a:pt x="1462" y="1133"/>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54"/>
              <p:cNvSpPr/>
              <p:nvPr/>
            </p:nvSpPr>
            <p:spPr>
              <a:xfrm>
                <a:off x="3825500" y="3327100"/>
                <a:ext cx="36550" cy="36575"/>
              </a:xfrm>
              <a:custGeom>
                <a:rect b="b" l="l" r="r" t="t"/>
                <a:pathLst>
                  <a:path extrusionOk="0" h="1463" w="1462">
                    <a:moveTo>
                      <a:pt x="731" y="1"/>
                    </a:moveTo>
                    <a:cubicBezTo>
                      <a:pt x="327" y="1"/>
                      <a:pt x="1" y="328"/>
                      <a:pt x="1" y="732"/>
                    </a:cubicBezTo>
                    <a:cubicBezTo>
                      <a:pt x="1" y="1135"/>
                      <a:pt x="327" y="1462"/>
                      <a:pt x="731" y="1462"/>
                    </a:cubicBezTo>
                    <a:cubicBezTo>
                      <a:pt x="1134" y="1462"/>
                      <a:pt x="1461" y="1135"/>
                      <a:pt x="1461" y="732"/>
                    </a:cubicBezTo>
                    <a:cubicBezTo>
                      <a:pt x="1461" y="328"/>
                      <a:pt x="1134"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54"/>
              <p:cNvSpPr/>
              <p:nvPr/>
            </p:nvSpPr>
            <p:spPr>
              <a:xfrm>
                <a:off x="3773550" y="3690625"/>
                <a:ext cx="36550" cy="36550"/>
              </a:xfrm>
              <a:custGeom>
                <a:rect b="b" l="l" r="r" t="t"/>
                <a:pathLst>
                  <a:path extrusionOk="0" h="1462" w="1462">
                    <a:moveTo>
                      <a:pt x="731" y="1"/>
                    </a:moveTo>
                    <a:cubicBezTo>
                      <a:pt x="327" y="1"/>
                      <a:pt x="1" y="327"/>
                      <a:pt x="1" y="731"/>
                    </a:cubicBezTo>
                    <a:cubicBezTo>
                      <a:pt x="1" y="1135"/>
                      <a:pt x="327" y="1462"/>
                      <a:pt x="731" y="1462"/>
                    </a:cubicBezTo>
                    <a:cubicBezTo>
                      <a:pt x="1135" y="1462"/>
                      <a:pt x="1461" y="1135"/>
                      <a:pt x="1461" y="731"/>
                    </a:cubicBezTo>
                    <a:cubicBezTo>
                      <a:pt x="1461" y="327"/>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54"/>
              <p:cNvSpPr/>
              <p:nvPr/>
            </p:nvSpPr>
            <p:spPr>
              <a:xfrm>
                <a:off x="3773150" y="3508275"/>
                <a:ext cx="36575" cy="36575"/>
              </a:xfrm>
              <a:custGeom>
                <a:rect b="b" l="l" r="r" t="t"/>
                <a:pathLst>
                  <a:path extrusionOk="0" h="1463" w="1463">
                    <a:moveTo>
                      <a:pt x="731" y="1"/>
                    </a:moveTo>
                    <a:cubicBezTo>
                      <a:pt x="328" y="1"/>
                      <a:pt x="1" y="328"/>
                      <a:pt x="1" y="732"/>
                    </a:cubicBezTo>
                    <a:cubicBezTo>
                      <a:pt x="1" y="1135"/>
                      <a:pt x="328" y="1463"/>
                      <a:pt x="731" y="1463"/>
                    </a:cubicBezTo>
                    <a:cubicBezTo>
                      <a:pt x="1135" y="1463"/>
                      <a:pt x="1463" y="1135"/>
                      <a:pt x="1463" y="732"/>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54"/>
              <p:cNvSpPr/>
              <p:nvPr/>
            </p:nvSpPr>
            <p:spPr>
              <a:xfrm>
                <a:off x="4643938" y="27939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54"/>
              <p:cNvSpPr/>
              <p:nvPr/>
            </p:nvSpPr>
            <p:spPr>
              <a:xfrm>
                <a:off x="3828900" y="493085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8" name="Google Shape;2458;p54"/>
            <p:cNvSpPr/>
            <p:nvPr/>
          </p:nvSpPr>
          <p:spPr>
            <a:xfrm>
              <a:off x="3490975" y="4659875"/>
              <a:ext cx="36525" cy="36550"/>
            </a:xfrm>
            <a:custGeom>
              <a:rect b="b" l="l" r="r" t="t"/>
              <a:pathLst>
                <a:path extrusionOk="0" h="1462" w="1461">
                  <a:moveTo>
                    <a:pt x="731" y="0"/>
                  </a:moveTo>
                  <a:cubicBezTo>
                    <a:pt x="328" y="0"/>
                    <a:pt x="0" y="327"/>
                    <a:pt x="0" y="731"/>
                  </a:cubicBezTo>
                  <a:cubicBezTo>
                    <a:pt x="0" y="1135"/>
                    <a:pt x="328" y="1461"/>
                    <a:pt x="731" y="1461"/>
                  </a:cubicBezTo>
                  <a:cubicBezTo>
                    <a:pt x="1135" y="1461"/>
                    <a:pt x="1461" y="1135"/>
                    <a:pt x="1461" y="731"/>
                  </a:cubicBezTo>
                  <a:cubicBezTo>
                    <a:pt x="1461" y="327"/>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54"/>
            <p:cNvSpPr/>
            <p:nvPr/>
          </p:nvSpPr>
          <p:spPr>
            <a:xfrm>
              <a:off x="3422350" y="3046500"/>
              <a:ext cx="36550" cy="36525"/>
            </a:xfrm>
            <a:custGeom>
              <a:rect b="b" l="l" r="r" t="t"/>
              <a:pathLst>
                <a:path extrusionOk="0" h="1461" w="1462">
                  <a:moveTo>
                    <a:pt x="731" y="0"/>
                  </a:moveTo>
                  <a:cubicBezTo>
                    <a:pt x="327" y="0"/>
                    <a:pt x="1" y="327"/>
                    <a:pt x="1" y="731"/>
                  </a:cubicBezTo>
                  <a:cubicBezTo>
                    <a:pt x="1" y="1135"/>
                    <a:pt x="327" y="1461"/>
                    <a:pt x="731" y="1461"/>
                  </a:cubicBezTo>
                  <a:cubicBezTo>
                    <a:pt x="1134" y="1461"/>
                    <a:pt x="1462" y="1135"/>
                    <a:pt x="1462" y="731"/>
                  </a:cubicBezTo>
                  <a:cubicBezTo>
                    <a:pt x="1462" y="327"/>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54"/>
            <p:cNvSpPr/>
            <p:nvPr/>
          </p:nvSpPr>
          <p:spPr>
            <a:xfrm>
              <a:off x="3490950" y="4454825"/>
              <a:ext cx="36575" cy="36550"/>
            </a:xfrm>
            <a:custGeom>
              <a:rect b="b" l="l" r="r" t="t"/>
              <a:pathLst>
                <a:path extrusionOk="0" h="1462" w="1463">
                  <a:moveTo>
                    <a:pt x="731" y="1"/>
                  </a:moveTo>
                  <a:cubicBezTo>
                    <a:pt x="328" y="1"/>
                    <a:pt x="1" y="328"/>
                    <a:pt x="1" y="731"/>
                  </a:cubicBezTo>
                  <a:cubicBezTo>
                    <a:pt x="1" y="1135"/>
                    <a:pt x="328" y="1461"/>
                    <a:pt x="731" y="1461"/>
                  </a:cubicBezTo>
                  <a:cubicBezTo>
                    <a:pt x="1135" y="1461"/>
                    <a:pt x="1463" y="1135"/>
                    <a:pt x="1463" y="731"/>
                  </a:cubicBezTo>
                  <a:cubicBezTo>
                    <a:pt x="1463"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1" name="Google Shape;2461;p54"/>
          <p:cNvGrpSpPr/>
          <p:nvPr/>
        </p:nvGrpSpPr>
        <p:grpSpPr>
          <a:xfrm>
            <a:off x="-1884987" y="992376"/>
            <a:ext cx="4755675" cy="2338198"/>
            <a:chOff x="5910900" y="252875"/>
            <a:chExt cx="2291450" cy="1126625"/>
          </a:xfrm>
        </p:grpSpPr>
        <p:sp>
          <p:nvSpPr>
            <p:cNvPr id="2462" name="Google Shape;2462;p54"/>
            <p:cNvSpPr/>
            <p:nvPr/>
          </p:nvSpPr>
          <p:spPr>
            <a:xfrm>
              <a:off x="5932300" y="277225"/>
              <a:ext cx="2245700" cy="1077950"/>
            </a:xfrm>
            <a:custGeom>
              <a:rect b="b" l="l" r="r" t="t"/>
              <a:pathLst>
                <a:path extrusionOk="0" h="43118" w="89828">
                  <a:moveTo>
                    <a:pt x="58394" y="0"/>
                  </a:moveTo>
                  <a:cubicBezTo>
                    <a:pt x="57274" y="0"/>
                    <a:pt x="55831" y="598"/>
                    <a:pt x="55038" y="1390"/>
                  </a:cubicBezTo>
                  <a:lnTo>
                    <a:pt x="35308" y="21121"/>
                  </a:lnTo>
                  <a:cubicBezTo>
                    <a:pt x="34966" y="21462"/>
                    <a:pt x="34157" y="21798"/>
                    <a:pt x="33674" y="21798"/>
                  </a:cubicBezTo>
                  <a:lnTo>
                    <a:pt x="21682" y="21798"/>
                  </a:lnTo>
                  <a:cubicBezTo>
                    <a:pt x="20561" y="21798"/>
                    <a:pt x="19119" y="22395"/>
                    <a:pt x="18327" y="23188"/>
                  </a:cubicBezTo>
                  <a:lnTo>
                    <a:pt x="477" y="41038"/>
                  </a:lnTo>
                  <a:cubicBezTo>
                    <a:pt x="1" y="41514"/>
                    <a:pt x="1" y="42286"/>
                    <a:pt x="477" y="42760"/>
                  </a:cubicBezTo>
                  <a:cubicBezTo>
                    <a:pt x="714" y="42999"/>
                    <a:pt x="1026" y="43117"/>
                    <a:pt x="1337" y="43117"/>
                  </a:cubicBezTo>
                  <a:cubicBezTo>
                    <a:pt x="1649" y="43117"/>
                    <a:pt x="1960" y="42999"/>
                    <a:pt x="2199" y="42760"/>
                  </a:cubicBezTo>
                  <a:lnTo>
                    <a:pt x="20049" y="24910"/>
                  </a:lnTo>
                  <a:cubicBezTo>
                    <a:pt x="20390" y="24568"/>
                    <a:pt x="21199" y="24233"/>
                    <a:pt x="21682" y="24233"/>
                  </a:cubicBezTo>
                  <a:lnTo>
                    <a:pt x="33674" y="24233"/>
                  </a:lnTo>
                  <a:cubicBezTo>
                    <a:pt x="34795" y="24233"/>
                    <a:pt x="36237" y="23636"/>
                    <a:pt x="37030" y="22843"/>
                  </a:cubicBezTo>
                  <a:lnTo>
                    <a:pt x="56760" y="3113"/>
                  </a:lnTo>
                  <a:cubicBezTo>
                    <a:pt x="57101" y="2771"/>
                    <a:pt x="57911" y="2436"/>
                    <a:pt x="58394" y="2436"/>
                  </a:cubicBezTo>
                  <a:lnTo>
                    <a:pt x="88610" y="2436"/>
                  </a:lnTo>
                  <a:cubicBezTo>
                    <a:pt x="89282" y="2436"/>
                    <a:pt x="89827" y="1891"/>
                    <a:pt x="89827" y="1218"/>
                  </a:cubicBezTo>
                  <a:cubicBezTo>
                    <a:pt x="89827" y="546"/>
                    <a:pt x="89282" y="0"/>
                    <a:pt x="886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4"/>
            <p:cNvSpPr/>
            <p:nvPr/>
          </p:nvSpPr>
          <p:spPr>
            <a:xfrm>
              <a:off x="5910900" y="1269900"/>
              <a:ext cx="109650" cy="109600"/>
            </a:xfrm>
            <a:custGeom>
              <a:rect b="b" l="l" r="r" t="t"/>
              <a:pathLst>
                <a:path extrusionOk="0" h="4384" w="4386">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4"/>
            <p:cNvSpPr/>
            <p:nvPr/>
          </p:nvSpPr>
          <p:spPr>
            <a:xfrm>
              <a:off x="8092725" y="252875"/>
              <a:ext cx="109625" cy="109600"/>
            </a:xfrm>
            <a:custGeom>
              <a:rect b="b" l="l" r="r" t="t"/>
              <a:pathLst>
                <a:path extrusionOk="0" h="4384" w="4385">
                  <a:moveTo>
                    <a:pt x="2193" y="1"/>
                  </a:moveTo>
                  <a:cubicBezTo>
                    <a:pt x="982" y="1"/>
                    <a:pt x="1" y="982"/>
                    <a:pt x="1" y="2193"/>
                  </a:cubicBezTo>
                  <a:cubicBezTo>
                    <a:pt x="1" y="3402"/>
                    <a:pt x="982" y="4384"/>
                    <a:pt x="2193" y="4384"/>
                  </a:cubicBezTo>
                  <a:cubicBezTo>
                    <a:pt x="3404" y="4384"/>
                    <a:pt x="4385" y="3402"/>
                    <a:pt x="4385" y="2193"/>
                  </a:cubicBezTo>
                  <a:cubicBezTo>
                    <a:pt x="4385" y="982"/>
                    <a:pt x="3404" y="1"/>
                    <a:pt x="2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4"/>
            <p:cNvSpPr/>
            <p:nvPr/>
          </p:nvSpPr>
          <p:spPr>
            <a:xfrm>
              <a:off x="7503975" y="289400"/>
              <a:ext cx="36575" cy="36575"/>
            </a:xfrm>
            <a:custGeom>
              <a:rect b="b" l="l" r="r" t="t"/>
              <a:pathLst>
                <a:path extrusionOk="0" h="1463" w="1463">
                  <a:moveTo>
                    <a:pt x="732" y="0"/>
                  </a:moveTo>
                  <a:cubicBezTo>
                    <a:pt x="328" y="0"/>
                    <a:pt x="0" y="328"/>
                    <a:pt x="0" y="732"/>
                  </a:cubicBezTo>
                  <a:cubicBezTo>
                    <a:pt x="0"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54"/>
            <p:cNvSpPr/>
            <p:nvPr/>
          </p:nvSpPr>
          <p:spPr>
            <a:xfrm>
              <a:off x="7818288" y="289388"/>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2" y="1135"/>
                    <a:pt x="1462" y="732"/>
                  </a:cubicBezTo>
                  <a:cubicBezTo>
                    <a:pt x="1462"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54"/>
            <p:cNvSpPr/>
            <p:nvPr/>
          </p:nvSpPr>
          <p:spPr>
            <a:xfrm>
              <a:off x="7027475" y="599925"/>
              <a:ext cx="36550" cy="36550"/>
            </a:xfrm>
            <a:custGeom>
              <a:rect b="b" l="l" r="r" t="t"/>
              <a:pathLst>
                <a:path extrusionOk="0" h="1462" w="1462">
                  <a:moveTo>
                    <a:pt x="732" y="0"/>
                  </a:moveTo>
                  <a:cubicBezTo>
                    <a:pt x="328" y="0"/>
                    <a:pt x="0" y="327"/>
                    <a:pt x="0" y="731"/>
                  </a:cubicBezTo>
                  <a:cubicBezTo>
                    <a:pt x="0" y="1135"/>
                    <a:pt x="328" y="1461"/>
                    <a:pt x="732" y="1461"/>
                  </a:cubicBezTo>
                  <a:cubicBezTo>
                    <a:pt x="1134" y="1461"/>
                    <a:pt x="1462" y="1135"/>
                    <a:pt x="1462" y="731"/>
                  </a:cubicBezTo>
                  <a:cubicBezTo>
                    <a:pt x="1462" y="327"/>
                    <a:pt x="1134"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4"/>
            <p:cNvSpPr/>
            <p:nvPr/>
          </p:nvSpPr>
          <p:spPr>
            <a:xfrm>
              <a:off x="6514800" y="835300"/>
              <a:ext cx="36525" cy="36575"/>
            </a:xfrm>
            <a:custGeom>
              <a:rect b="b" l="l" r="r" t="t"/>
              <a:pathLst>
                <a:path extrusionOk="0" h="1463" w="1461">
                  <a:moveTo>
                    <a:pt x="730" y="1"/>
                  </a:moveTo>
                  <a:cubicBezTo>
                    <a:pt x="328" y="1"/>
                    <a:pt x="0" y="328"/>
                    <a:pt x="0" y="731"/>
                  </a:cubicBezTo>
                  <a:cubicBezTo>
                    <a:pt x="0" y="1135"/>
                    <a:pt x="328" y="1463"/>
                    <a:pt x="730" y="1463"/>
                  </a:cubicBezTo>
                  <a:cubicBezTo>
                    <a:pt x="1134" y="1463"/>
                    <a:pt x="1461" y="1135"/>
                    <a:pt x="1461" y="731"/>
                  </a:cubicBezTo>
                  <a:cubicBezTo>
                    <a:pt x="1461" y="328"/>
                    <a:pt x="1134" y="1"/>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4"/>
            <p:cNvSpPr/>
            <p:nvPr/>
          </p:nvSpPr>
          <p:spPr>
            <a:xfrm>
              <a:off x="6246575" y="100282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4"/>
            <p:cNvSpPr/>
            <p:nvPr/>
          </p:nvSpPr>
          <p:spPr>
            <a:xfrm>
              <a:off x="7223725" y="405950"/>
              <a:ext cx="36575" cy="36575"/>
            </a:xfrm>
            <a:custGeom>
              <a:rect b="b" l="l" r="r" t="t"/>
              <a:pathLst>
                <a:path extrusionOk="0" h="1463" w="1463">
                  <a:moveTo>
                    <a:pt x="732" y="0"/>
                  </a:moveTo>
                  <a:cubicBezTo>
                    <a:pt x="328" y="0"/>
                    <a:pt x="1" y="328"/>
                    <a:pt x="1" y="732"/>
                  </a:cubicBezTo>
                  <a:cubicBezTo>
                    <a:pt x="1" y="1135"/>
                    <a:pt x="328" y="1462"/>
                    <a:pt x="732" y="1462"/>
                  </a:cubicBezTo>
                  <a:cubicBezTo>
                    <a:pt x="1135" y="1462"/>
                    <a:pt x="1463" y="1135"/>
                    <a:pt x="1463" y="732"/>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4"/>
            <p:cNvSpPr/>
            <p:nvPr/>
          </p:nvSpPr>
          <p:spPr>
            <a:xfrm>
              <a:off x="6841550" y="779650"/>
              <a:ext cx="36550" cy="36550"/>
            </a:xfrm>
            <a:custGeom>
              <a:rect b="b" l="l" r="r" t="t"/>
              <a:pathLst>
                <a:path extrusionOk="0" h="1462" w="1462">
                  <a:moveTo>
                    <a:pt x="731" y="1"/>
                  </a:moveTo>
                  <a:cubicBezTo>
                    <a:pt x="327" y="1"/>
                    <a:pt x="1" y="328"/>
                    <a:pt x="1" y="731"/>
                  </a:cubicBezTo>
                  <a:cubicBezTo>
                    <a:pt x="1" y="1135"/>
                    <a:pt x="327" y="1461"/>
                    <a:pt x="731" y="1461"/>
                  </a:cubicBezTo>
                  <a:cubicBezTo>
                    <a:pt x="1135" y="1461"/>
                    <a:pt x="1461" y="1135"/>
                    <a:pt x="1461" y="731"/>
                  </a:cubicBezTo>
                  <a:cubicBezTo>
                    <a:pt x="1461"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54"/>
            <p:cNvSpPr/>
            <p:nvPr/>
          </p:nvSpPr>
          <p:spPr>
            <a:xfrm>
              <a:off x="5929113" y="1288100"/>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54"/>
            <p:cNvSpPr/>
            <p:nvPr/>
          </p:nvSpPr>
          <p:spPr>
            <a:xfrm>
              <a:off x="6075125" y="1177375"/>
              <a:ext cx="36575" cy="36550"/>
            </a:xfrm>
            <a:custGeom>
              <a:rect b="b" l="l" r="r" t="t"/>
              <a:pathLst>
                <a:path extrusionOk="0" h="1462" w="1463">
                  <a:moveTo>
                    <a:pt x="732" y="1"/>
                  </a:moveTo>
                  <a:cubicBezTo>
                    <a:pt x="328" y="1"/>
                    <a:pt x="0" y="327"/>
                    <a:pt x="0" y="731"/>
                  </a:cubicBezTo>
                  <a:cubicBezTo>
                    <a:pt x="0" y="1135"/>
                    <a:pt x="328" y="1461"/>
                    <a:pt x="732" y="1461"/>
                  </a:cubicBezTo>
                  <a:cubicBezTo>
                    <a:pt x="1135" y="1461"/>
                    <a:pt x="1462" y="1135"/>
                    <a:pt x="1462" y="731"/>
                  </a:cubicBezTo>
                  <a:cubicBezTo>
                    <a:pt x="1462" y="327"/>
                    <a:pt x="1135"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4"/>
            <p:cNvSpPr/>
            <p:nvPr/>
          </p:nvSpPr>
          <p:spPr>
            <a:xfrm>
              <a:off x="8110925" y="271075"/>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5" name="Google Shape;2475;p54"/>
          <p:cNvGrpSpPr/>
          <p:nvPr/>
        </p:nvGrpSpPr>
        <p:grpSpPr>
          <a:xfrm>
            <a:off x="-522031" y="95655"/>
            <a:ext cx="4030101" cy="1211247"/>
            <a:chOff x="430469" y="4172355"/>
            <a:chExt cx="4030101" cy="1211247"/>
          </a:xfrm>
        </p:grpSpPr>
        <p:grpSp>
          <p:nvGrpSpPr>
            <p:cNvPr id="2476" name="Google Shape;2476;p54"/>
            <p:cNvGrpSpPr/>
            <p:nvPr/>
          </p:nvGrpSpPr>
          <p:grpSpPr>
            <a:xfrm flipH="1" rot="5538019">
              <a:off x="1919568" y="2782430"/>
              <a:ext cx="1051902" cy="3991097"/>
              <a:chOff x="5485075" y="3521900"/>
              <a:chExt cx="506850" cy="1923075"/>
            </a:xfrm>
          </p:grpSpPr>
          <p:sp>
            <p:nvSpPr>
              <p:cNvPr id="2477" name="Google Shape;2477;p54"/>
              <p:cNvSpPr/>
              <p:nvPr/>
            </p:nvSpPr>
            <p:spPr>
              <a:xfrm>
                <a:off x="5485075" y="3546250"/>
                <a:ext cx="483200" cy="1898725"/>
              </a:xfrm>
              <a:custGeom>
                <a:rect b="b" l="l" r="r" t="t"/>
                <a:pathLst>
                  <a:path extrusionOk="0" h="75949" w="19328">
                    <a:moveTo>
                      <a:pt x="18079" y="1"/>
                    </a:moveTo>
                    <a:cubicBezTo>
                      <a:pt x="17765" y="1"/>
                      <a:pt x="17475" y="122"/>
                      <a:pt x="17258" y="320"/>
                    </a:cubicBezTo>
                    <a:cubicBezTo>
                      <a:pt x="17028" y="531"/>
                      <a:pt x="16878" y="829"/>
                      <a:pt x="16865" y="1166"/>
                    </a:cubicBezTo>
                    <a:lnTo>
                      <a:pt x="14279" y="60154"/>
                    </a:lnTo>
                    <a:cubicBezTo>
                      <a:pt x="14258" y="60637"/>
                      <a:pt x="13888" y="61430"/>
                      <a:pt x="13531" y="61756"/>
                    </a:cubicBezTo>
                    <a:lnTo>
                      <a:pt x="0" y="74152"/>
                    </a:lnTo>
                    <a:lnTo>
                      <a:pt x="1646" y="75948"/>
                    </a:lnTo>
                    <a:lnTo>
                      <a:pt x="15177" y="63552"/>
                    </a:lnTo>
                    <a:cubicBezTo>
                      <a:pt x="16003" y="62796"/>
                      <a:pt x="16664" y="61381"/>
                      <a:pt x="16713" y="60260"/>
                    </a:cubicBezTo>
                    <a:lnTo>
                      <a:pt x="19298" y="1272"/>
                    </a:lnTo>
                    <a:cubicBezTo>
                      <a:pt x="19327" y="600"/>
                      <a:pt x="18806" y="32"/>
                      <a:pt x="18134" y="2"/>
                    </a:cubicBezTo>
                    <a:cubicBezTo>
                      <a:pt x="18115" y="1"/>
                      <a:pt x="18097" y="1"/>
                      <a:pt x="18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54"/>
              <p:cNvSpPr/>
              <p:nvPr/>
            </p:nvSpPr>
            <p:spPr>
              <a:xfrm>
                <a:off x="5882300" y="3521900"/>
                <a:ext cx="109625" cy="109625"/>
              </a:xfrm>
              <a:custGeom>
                <a:rect b="b" l="l" r="r" t="t"/>
                <a:pathLst>
                  <a:path extrusionOk="0" h="4385" w="4385">
                    <a:moveTo>
                      <a:pt x="2192" y="0"/>
                    </a:moveTo>
                    <a:cubicBezTo>
                      <a:pt x="981" y="0"/>
                      <a:pt x="0" y="983"/>
                      <a:pt x="0" y="2192"/>
                    </a:cubicBezTo>
                    <a:cubicBezTo>
                      <a:pt x="0" y="3403"/>
                      <a:pt x="981" y="4384"/>
                      <a:pt x="2192" y="4384"/>
                    </a:cubicBezTo>
                    <a:cubicBezTo>
                      <a:pt x="3403" y="4384"/>
                      <a:pt x="4384" y="3403"/>
                      <a:pt x="4384" y="2192"/>
                    </a:cubicBezTo>
                    <a:cubicBezTo>
                      <a:pt x="4384" y="983"/>
                      <a:pt x="3403" y="0"/>
                      <a:pt x="2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54"/>
              <p:cNvSpPr/>
              <p:nvPr/>
            </p:nvSpPr>
            <p:spPr>
              <a:xfrm>
                <a:off x="5859550" y="4861650"/>
                <a:ext cx="36575" cy="36575"/>
              </a:xfrm>
              <a:custGeom>
                <a:rect b="b" l="l" r="r" t="t"/>
                <a:pathLst>
                  <a:path extrusionOk="0" h="1463" w="1463">
                    <a:moveTo>
                      <a:pt x="731" y="1"/>
                    </a:moveTo>
                    <a:cubicBezTo>
                      <a:pt x="328" y="1"/>
                      <a:pt x="1" y="328"/>
                      <a:pt x="1" y="732"/>
                    </a:cubicBezTo>
                    <a:cubicBezTo>
                      <a:pt x="1" y="1135"/>
                      <a:pt x="328" y="1462"/>
                      <a:pt x="731" y="1462"/>
                    </a:cubicBezTo>
                    <a:cubicBezTo>
                      <a:pt x="1135" y="1462"/>
                      <a:pt x="1462" y="1135"/>
                      <a:pt x="1462" y="732"/>
                    </a:cubicBezTo>
                    <a:cubicBezTo>
                      <a:pt x="1462" y="328"/>
                      <a:pt x="113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4"/>
              <p:cNvSpPr/>
              <p:nvPr/>
            </p:nvSpPr>
            <p:spPr>
              <a:xfrm>
                <a:off x="5761175" y="5154850"/>
                <a:ext cx="36550" cy="36525"/>
              </a:xfrm>
              <a:custGeom>
                <a:rect b="b" l="l" r="r" t="t"/>
                <a:pathLst>
                  <a:path extrusionOk="0" h="1461" w="1462">
                    <a:moveTo>
                      <a:pt x="731" y="0"/>
                    </a:moveTo>
                    <a:cubicBezTo>
                      <a:pt x="328" y="0"/>
                      <a:pt x="1" y="328"/>
                      <a:pt x="1" y="730"/>
                    </a:cubicBezTo>
                    <a:cubicBezTo>
                      <a:pt x="1" y="1134"/>
                      <a:pt x="328" y="1461"/>
                      <a:pt x="731" y="1461"/>
                    </a:cubicBezTo>
                    <a:cubicBezTo>
                      <a:pt x="1135" y="1461"/>
                      <a:pt x="1462" y="1134"/>
                      <a:pt x="1462" y="730"/>
                    </a:cubicBezTo>
                    <a:cubicBezTo>
                      <a:pt x="1462"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4"/>
              <p:cNvSpPr/>
              <p:nvPr/>
            </p:nvSpPr>
            <p:spPr>
              <a:xfrm>
                <a:off x="5885350" y="4238975"/>
                <a:ext cx="36525" cy="36575"/>
              </a:xfrm>
              <a:custGeom>
                <a:rect b="b" l="l" r="r" t="t"/>
                <a:pathLst>
                  <a:path extrusionOk="0" h="1463" w="1461">
                    <a:moveTo>
                      <a:pt x="730" y="0"/>
                    </a:moveTo>
                    <a:cubicBezTo>
                      <a:pt x="328" y="0"/>
                      <a:pt x="0" y="328"/>
                      <a:pt x="0" y="731"/>
                    </a:cubicBezTo>
                    <a:cubicBezTo>
                      <a:pt x="0" y="1135"/>
                      <a:pt x="328" y="1462"/>
                      <a:pt x="730" y="1462"/>
                    </a:cubicBezTo>
                    <a:cubicBezTo>
                      <a:pt x="1134" y="1462"/>
                      <a:pt x="1461" y="1135"/>
                      <a:pt x="1461" y="731"/>
                    </a:cubicBezTo>
                    <a:cubicBezTo>
                      <a:pt x="1461" y="328"/>
                      <a:pt x="1134"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54"/>
              <p:cNvSpPr/>
              <p:nvPr/>
            </p:nvSpPr>
            <p:spPr>
              <a:xfrm>
                <a:off x="5893747" y="4039477"/>
                <a:ext cx="36550" cy="36525"/>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54"/>
              <p:cNvSpPr/>
              <p:nvPr/>
            </p:nvSpPr>
            <p:spPr>
              <a:xfrm>
                <a:off x="5880000" y="4441300"/>
                <a:ext cx="36575" cy="36525"/>
              </a:xfrm>
              <a:custGeom>
                <a:rect b="b" l="l" r="r" t="t"/>
                <a:pathLst>
                  <a:path extrusionOk="0" h="1461" w="1463">
                    <a:moveTo>
                      <a:pt x="732" y="0"/>
                    </a:moveTo>
                    <a:cubicBezTo>
                      <a:pt x="328" y="0"/>
                      <a:pt x="1" y="328"/>
                      <a:pt x="1" y="731"/>
                    </a:cubicBezTo>
                    <a:cubicBezTo>
                      <a:pt x="1" y="1135"/>
                      <a:pt x="328" y="1461"/>
                      <a:pt x="732" y="1461"/>
                    </a:cubicBezTo>
                    <a:cubicBezTo>
                      <a:pt x="1135" y="1461"/>
                      <a:pt x="1463" y="1135"/>
                      <a:pt x="1463" y="731"/>
                    </a:cubicBezTo>
                    <a:cubicBezTo>
                      <a:pt x="1463" y="328"/>
                      <a:pt x="1135" y="0"/>
                      <a:pt x="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54"/>
              <p:cNvSpPr/>
              <p:nvPr/>
            </p:nvSpPr>
            <p:spPr>
              <a:xfrm>
                <a:off x="5867650" y="4673800"/>
                <a:ext cx="36550" cy="36575"/>
              </a:xfrm>
              <a:custGeom>
                <a:rect b="b" l="l" r="r" t="t"/>
                <a:pathLst>
                  <a:path extrusionOk="0" h="1463" w="1462">
                    <a:moveTo>
                      <a:pt x="731" y="0"/>
                    </a:moveTo>
                    <a:cubicBezTo>
                      <a:pt x="327" y="0"/>
                      <a:pt x="1" y="328"/>
                      <a:pt x="1" y="732"/>
                    </a:cubicBezTo>
                    <a:cubicBezTo>
                      <a:pt x="1" y="1135"/>
                      <a:pt x="327" y="1462"/>
                      <a:pt x="731" y="1462"/>
                    </a:cubicBezTo>
                    <a:cubicBezTo>
                      <a:pt x="1135" y="1462"/>
                      <a:pt x="1461" y="1135"/>
                      <a:pt x="1461" y="732"/>
                    </a:cubicBezTo>
                    <a:cubicBezTo>
                      <a:pt x="1461" y="328"/>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4"/>
              <p:cNvSpPr/>
              <p:nvPr/>
            </p:nvSpPr>
            <p:spPr>
              <a:xfrm>
                <a:off x="5588800" y="5312750"/>
                <a:ext cx="36525" cy="36550"/>
              </a:xfrm>
              <a:custGeom>
                <a:rect b="b" l="l" r="r" t="t"/>
                <a:pathLst>
                  <a:path extrusionOk="0" h="1462" w="1461">
                    <a:moveTo>
                      <a:pt x="731" y="0"/>
                    </a:moveTo>
                    <a:cubicBezTo>
                      <a:pt x="328" y="0"/>
                      <a:pt x="0" y="328"/>
                      <a:pt x="0" y="732"/>
                    </a:cubicBezTo>
                    <a:cubicBezTo>
                      <a:pt x="0" y="1134"/>
                      <a:pt x="328" y="1462"/>
                      <a:pt x="731" y="1462"/>
                    </a:cubicBezTo>
                    <a:cubicBezTo>
                      <a:pt x="1134" y="1462"/>
                      <a:pt x="1461" y="1134"/>
                      <a:pt x="1461" y="732"/>
                    </a:cubicBezTo>
                    <a:cubicBezTo>
                      <a:pt x="1461" y="328"/>
                      <a:pt x="1134"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4"/>
              <p:cNvSpPr/>
              <p:nvPr/>
            </p:nvSpPr>
            <p:spPr>
              <a:xfrm>
                <a:off x="5900013" y="35401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7" name="Google Shape;2487;p54"/>
            <p:cNvSpPr/>
            <p:nvPr/>
          </p:nvSpPr>
          <p:spPr>
            <a:xfrm flipH="1" rot="5538019">
              <a:off x="3788155" y="4406606"/>
              <a:ext cx="75855" cy="75803"/>
            </a:xfrm>
            <a:custGeom>
              <a:rect b="b" l="l" r="r" t="t"/>
              <a:pathLst>
                <a:path extrusionOk="0" h="1461" w="1462">
                  <a:moveTo>
                    <a:pt x="731" y="0"/>
                  </a:moveTo>
                  <a:cubicBezTo>
                    <a:pt x="328" y="0"/>
                    <a:pt x="1" y="326"/>
                    <a:pt x="1" y="730"/>
                  </a:cubicBezTo>
                  <a:cubicBezTo>
                    <a:pt x="1" y="1133"/>
                    <a:pt x="328" y="1461"/>
                    <a:pt x="731" y="1461"/>
                  </a:cubicBezTo>
                  <a:cubicBezTo>
                    <a:pt x="1135" y="1461"/>
                    <a:pt x="1461" y="1133"/>
                    <a:pt x="1461" y="730"/>
                  </a:cubicBezTo>
                  <a:cubicBezTo>
                    <a:pt x="1461" y="326"/>
                    <a:pt x="1135" y="0"/>
                    <a:pt x="7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1" name="Shape 2491"/>
        <p:cNvGrpSpPr/>
        <p:nvPr/>
      </p:nvGrpSpPr>
      <p:grpSpPr>
        <a:xfrm>
          <a:off x="0" y="0"/>
          <a:ext cx="0" cy="0"/>
          <a:chOff x="0" y="0"/>
          <a:chExt cx="0" cy="0"/>
        </a:xfrm>
      </p:grpSpPr>
      <p:sp>
        <p:nvSpPr>
          <p:cNvPr id="2492" name="Google Shape;2492;p55"/>
          <p:cNvSpPr txBox="1"/>
          <p:nvPr>
            <p:ph idx="1" type="body"/>
          </p:nvPr>
        </p:nvSpPr>
        <p:spPr>
          <a:xfrm>
            <a:off x="445600" y="990250"/>
            <a:ext cx="8097300" cy="3791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700">
                <a:solidFill>
                  <a:srgbClr val="111111"/>
                </a:solidFill>
                <a:latin typeface="Plus Jakarta Sans"/>
                <a:ea typeface="Plus Jakarta Sans"/>
                <a:cs typeface="Plus Jakarta Sans"/>
                <a:sym typeface="Plus Jakarta Sans"/>
              </a:rPr>
              <a:t>[1] P. Miner, B. M. Smith, A. Jani, G. McNeill, and A. Gathorne-Hardy, “Car harm: A global review of automobility’s harm to people and the environment,” Journal of Transport Geography, vol. 115, p. 103817, Feb. 2024, doi: 10.1016/j.jtrangeo.2024.103817.</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[2] “Congestion Relief is Unlocking a Better New York,” MTA. https://congestionreliefzone.mta.info/ (accessed Oct. 01, 2025).</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[3] “Initial data from Congestion Relief Tolling,” Environment &amp; Health Data Portal. https://a816-dohbesp.nyc.gov/IndicatorPublic/data-stories/congestion-tolling-update/ (accessed Oct. 01, 2025).</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[4] Bureau of Policy and Research and S. M. Stringer, “The human cost of subway delays: A survey of New York City riders,” report, Jul. 2017. [Online]. Available: https://comptroller.nyc.gov/wp-content/uploads/documents/The-Human-Cost-of-Subway-Delays.pdf</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[5] Y. Li and C. Shahabi, “A brief overview of machine learning methods for short-term traffic forecasting and future directions,” SIGSPATIAL Special, vol. 10, no. 1, pp. 3–9, Jun. 2018, doi: 10.1145/3231541.3231544.</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[6] S. Cohen PhD, “The success and challenges of congestion pricing in New York City,” Columbia University School of Professional Studies, Jul. 21, 2025. [Online]. Available: https://sps.columbia.edu/news/success-and-challenges-congestion-pricing-new-york-city</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[7] “Time Series Forecasting with Random Forest,” Statworx, Sep. 25, 2019. https://www.statworx.com/en/content-hub/blog/time-series-forecasting-with-random-forest</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[8] N. Arya, “Random Forest Regressor,” KD Nuggets, Jul. 25, 2022. https://www.kdnuggets.com/2022/07/random-forest-algorithm-need-normalization.html </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[9] “Is it necessary to normalize data for XGBoost?,” Data Science Stack Exchange, https://datascience.stackexchange.com/questions/60950/is-it-necessary-to-normalize-data-for-xgboost (accessed Nov. 29, 2025). </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[10] A. Awan, “Understanding dimensionality reduction,” DataCamp, Jan. 21, 2025. https://www.datacamp.com/tutorial/understanding-dimensionality-reduction</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[11] “Factor analysis of mixed data,” RPubs, https://rpubs.com/aliro/831890 (accessed Nov. 5, 2025). </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[12] T. LaViale, “Understanding HDBSCAN: A Deep Dive into Hierarchical Density-Based Clustering,” Arize AI, https://arize.com/blog-course/understanding-hdbscan-a-deep-dive-into-hierarchical-density-based-clustering/ (accessed Nov. 5, 2025). </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[13] M. Ali, “Clustering in Machine Learning: 5 Essential Clustering Algorithms,” DataCamp, Aug. 09, 2022. https://www.datacamp.com/blog/clustering-in-machine-learning-5-essential-clustering-algorithms</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[14] A. Bajaj, “Anomaly detection in time series,” neptune.ai, Apr. 24, 2025. https://neptune.ai/blog/anomaly-detection-in-time-series</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[15] J. Korstanje, “How to select a model for your Time Series Prediction Task [Guide],” neptune.ai, Apr. 22, 2025. https://neptune.ai/blog/select-model-for-time-series-prediction-task</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[16] “1.11. Ensembles: Gradient boosting, random forests, bagging, voting, stacking,” scikit-learn, https://scikit-learn.org/stable/modules/ensemble.html (accessed Nov. 5, 2025). </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[17] B. P. C., “Hyperparameter Tuning: GridSearchCV and RandomizedSearchCV, Explained,” KD Nuggets, Nov. 23, 2023. https://www.kdnuggets.com/hyperparameter-tuning-gridsearchcv-and-randomizedsearchcv-explained </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[18] “XGBoost for Regression,” Machine Learning Mastery, https://machinelearningmastery.com/xgboost-for-regression/ (accessed Nov. 29, 2025). </a:t>
            </a:r>
            <a:endParaRPr sz="700">
              <a:solidFill>
                <a:srgbClr val="111111"/>
              </a:solidFill>
              <a:latin typeface="Plus Jakarta Sans"/>
              <a:ea typeface="Plus Jakarta Sans"/>
              <a:cs typeface="Plus Jakarta Sans"/>
              <a:sym typeface="Plus Jakarta Sans"/>
            </a:endParaRPr>
          </a:p>
          <a:p>
            <a:pPr indent="0" lvl="0" marL="0" rtl="0" algn="l">
              <a:lnSpc>
                <a:spcPct val="115000"/>
              </a:lnSpc>
              <a:spcBef>
                <a:spcPts val="100"/>
              </a:spcBef>
              <a:spcAft>
                <a:spcPts val="0"/>
              </a:spcAft>
              <a:buNone/>
            </a:pPr>
            <a:r>
              <a:rPr lang="en" sz="700">
                <a:solidFill>
                  <a:srgbClr val="111111"/>
                </a:solidFill>
                <a:latin typeface="Plus Jakarta Sans"/>
                <a:ea typeface="Plus Jakarta Sans"/>
                <a:cs typeface="Plus Jakarta Sans"/>
                <a:sym typeface="Plus Jakarta Sans"/>
              </a:rPr>
              <a:t>[19] A. Singh, “Decoding Distance: Understanding Euclidean and Manhattan Metrics,” Kaggle, https://www.kaggle.com/discussions/general/576329 (accessed Nov. 29, 2025). </a:t>
            </a:r>
            <a:endParaRPr sz="700">
              <a:solidFill>
                <a:srgbClr val="000000"/>
              </a:solidFill>
              <a:latin typeface="Plus Jakarta Sans"/>
              <a:ea typeface="Plus Jakarta Sans"/>
              <a:cs typeface="Plus Jakarta Sans"/>
              <a:sym typeface="Plus Jakarta Sans"/>
            </a:endParaRPr>
          </a:p>
          <a:p>
            <a:pPr indent="0" lvl="0" marL="0" rtl="0" algn="l">
              <a:spcBef>
                <a:spcPts val="100"/>
              </a:spcBef>
              <a:spcAft>
                <a:spcPts val="0"/>
              </a:spcAft>
              <a:buNone/>
            </a:pPr>
            <a:r>
              <a:t/>
            </a:r>
            <a:endParaRPr sz="700">
              <a:solidFill>
                <a:srgbClr val="000000"/>
              </a:solidFill>
              <a:latin typeface="Plus Jakarta Sans"/>
              <a:ea typeface="Plus Jakarta Sans"/>
              <a:cs typeface="Plus Jakarta Sans"/>
              <a:sym typeface="Plus Jakarta Sans"/>
            </a:endParaRPr>
          </a:p>
          <a:p>
            <a:pPr indent="0" lvl="0" marL="0" rtl="0" algn="l">
              <a:lnSpc>
                <a:spcPct val="115000"/>
              </a:lnSpc>
              <a:spcBef>
                <a:spcPts val="1200"/>
              </a:spcBef>
              <a:spcAft>
                <a:spcPts val="0"/>
              </a:spcAft>
              <a:buNone/>
            </a:pPr>
            <a:r>
              <a:t/>
            </a:r>
            <a:endParaRPr sz="600">
              <a:solidFill>
                <a:srgbClr val="000000"/>
              </a:solidFill>
              <a:latin typeface="Plus Jakarta Sans"/>
              <a:ea typeface="Plus Jakarta Sans"/>
              <a:cs typeface="Plus Jakarta Sans"/>
              <a:sym typeface="Plus Jakarta Sans"/>
            </a:endParaRPr>
          </a:p>
          <a:p>
            <a:pPr indent="0" lvl="0" marL="0" rtl="0" algn="l">
              <a:spcBef>
                <a:spcPts val="1200"/>
              </a:spcBef>
              <a:spcAft>
                <a:spcPts val="0"/>
              </a:spcAft>
              <a:buNone/>
            </a:pPr>
            <a:r>
              <a:t/>
            </a:r>
            <a:endParaRPr sz="600">
              <a:latin typeface="Plus Jakarta Sans"/>
              <a:ea typeface="Plus Jakarta Sans"/>
              <a:cs typeface="Plus Jakarta Sans"/>
              <a:sym typeface="Plus Jakarta Sans"/>
            </a:endParaRPr>
          </a:p>
        </p:txBody>
      </p:sp>
      <p:sp>
        <p:nvSpPr>
          <p:cNvPr id="2493" name="Google Shape;2493;p55"/>
          <p:cNvSpPr txBox="1"/>
          <p:nvPr>
            <p:ph type="title"/>
          </p:nvPr>
        </p:nvSpPr>
        <p:spPr>
          <a:xfrm>
            <a:off x="445600" y="323650"/>
            <a:ext cx="3453000" cy="66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 </a:t>
            </a:r>
            <a:endParaRPr/>
          </a:p>
        </p:txBody>
      </p:sp>
      <p:grpSp>
        <p:nvGrpSpPr>
          <p:cNvPr id="2494" name="Google Shape;2494;p55"/>
          <p:cNvGrpSpPr/>
          <p:nvPr/>
        </p:nvGrpSpPr>
        <p:grpSpPr>
          <a:xfrm flipH="1" rot="10800000">
            <a:off x="5125348" y="-1320756"/>
            <a:ext cx="3848803" cy="5689424"/>
            <a:chOff x="939875" y="457213"/>
            <a:chExt cx="1854488" cy="2741363"/>
          </a:xfrm>
        </p:grpSpPr>
        <p:sp>
          <p:nvSpPr>
            <p:cNvPr id="2495" name="Google Shape;2495;p55"/>
            <p:cNvSpPr/>
            <p:nvPr/>
          </p:nvSpPr>
          <p:spPr>
            <a:xfrm>
              <a:off x="1024475" y="516800"/>
              <a:ext cx="1687275" cy="2628525"/>
            </a:xfrm>
            <a:custGeom>
              <a:rect b="b" l="l" r="r" t="t"/>
              <a:pathLst>
                <a:path extrusionOk="0" h="105141" w="67491">
                  <a:moveTo>
                    <a:pt x="66361" y="1"/>
                  </a:moveTo>
                  <a:cubicBezTo>
                    <a:pt x="66045" y="1"/>
                    <a:pt x="65756" y="122"/>
                    <a:pt x="65539" y="320"/>
                  </a:cubicBezTo>
                  <a:cubicBezTo>
                    <a:pt x="65310" y="531"/>
                    <a:pt x="65030" y="829"/>
                    <a:pt x="65016" y="1165"/>
                  </a:cubicBezTo>
                  <a:lnTo>
                    <a:pt x="65016" y="60154"/>
                  </a:lnTo>
                  <a:cubicBezTo>
                    <a:pt x="64995" y="60635"/>
                    <a:pt x="64636" y="61430"/>
                    <a:pt x="64280" y="61756"/>
                  </a:cubicBezTo>
                  <a:lnTo>
                    <a:pt x="57761" y="67727"/>
                  </a:lnTo>
                  <a:lnTo>
                    <a:pt x="20052" y="102103"/>
                  </a:lnTo>
                  <a:cubicBezTo>
                    <a:pt x="19707" y="102417"/>
                    <a:pt x="18927" y="102705"/>
                    <a:pt x="18439" y="102705"/>
                  </a:cubicBezTo>
                  <a:cubicBezTo>
                    <a:pt x="18422" y="102705"/>
                    <a:pt x="18404" y="102705"/>
                    <a:pt x="18388" y="102704"/>
                  </a:cubicBezTo>
                  <a:lnTo>
                    <a:pt x="1" y="102704"/>
                  </a:lnTo>
                  <a:lnTo>
                    <a:pt x="1" y="105137"/>
                  </a:lnTo>
                  <a:lnTo>
                    <a:pt x="18276" y="105137"/>
                  </a:lnTo>
                  <a:cubicBezTo>
                    <a:pt x="18326" y="105139"/>
                    <a:pt x="18377" y="105140"/>
                    <a:pt x="18428" y="105140"/>
                  </a:cubicBezTo>
                  <a:cubicBezTo>
                    <a:pt x="19526" y="105140"/>
                    <a:pt x="20901" y="104624"/>
                    <a:pt x="21693" y="103903"/>
                  </a:cubicBezTo>
                  <a:lnTo>
                    <a:pt x="52378" y="75930"/>
                  </a:lnTo>
                  <a:lnTo>
                    <a:pt x="52393" y="75947"/>
                  </a:lnTo>
                  <a:lnTo>
                    <a:pt x="59470" y="69465"/>
                  </a:lnTo>
                  <a:lnTo>
                    <a:pt x="65926" y="63552"/>
                  </a:lnTo>
                  <a:cubicBezTo>
                    <a:pt x="66752" y="62794"/>
                    <a:pt x="67411" y="61379"/>
                    <a:pt x="67461" y="60260"/>
                  </a:cubicBezTo>
                  <a:lnTo>
                    <a:pt x="67461" y="1272"/>
                  </a:lnTo>
                  <a:cubicBezTo>
                    <a:pt x="67490" y="600"/>
                    <a:pt x="67086" y="31"/>
                    <a:pt x="66414" y="2"/>
                  </a:cubicBezTo>
                  <a:lnTo>
                    <a:pt x="66415" y="2"/>
                  </a:lnTo>
                  <a:cubicBezTo>
                    <a:pt x="66397" y="1"/>
                    <a:pt x="66379" y="1"/>
                    <a:pt x="66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55"/>
            <p:cNvSpPr/>
            <p:nvPr/>
          </p:nvSpPr>
          <p:spPr>
            <a:xfrm>
              <a:off x="939875" y="534400"/>
              <a:ext cx="1830625" cy="2664175"/>
            </a:xfrm>
            <a:custGeom>
              <a:rect b="b" l="l" r="r" t="t"/>
              <a:pathLst>
                <a:path extrusionOk="0" h="106567" w="73225">
                  <a:moveTo>
                    <a:pt x="72094" y="1"/>
                  </a:moveTo>
                  <a:cubicBezTo>
                    <a:pt x="71780" y="1"/>
                    <a:pt x="71491" y="122"/>
                    <a:pt x="71274" y="320"/>
                  </a:cubicBezTo>
                  <a:cubicBezTo>
                    <a:pt x="71043" y="531"/>
                    <a:pt x="70765" y="829"/>
                    <a:pt x="70750" y="1165"/>
                  </a:cubicBezTo>
                  <a:lnTo>
                    <a:pt x="70750" y="60154"/>
                  </a:lnTo>
                  <a:cubicBezTo>
                    <a:pt x="70729" y="60635"/>
                    <a:pt x="70370" y="61430"/>
                    <a:pt x="70014" y="61756"/>
                  </a:cubicBezTo>
                  <a:lnTo>
                    <a:pt x="62182" y="69154"/>
                  </a:lnTo>
                  <a:lnTo>
                    <a:pt x="24473" y="103529"/>
                  </a:lnTo>
                  <a:cubicBezTo>
                    <a:pt x="24129" y="103844"/>
                    <a:pt x="23349" y="104132"/>
                    <a:pt x="22862" y="104132"/>
                  </a:cubicBezTo>
                  <a:cubicBezTo>
                    <a:pt x="22844" y="104132"/>
                    <a:pt x="22827" y="104131"/>
                    <a:pt x="22810" y="104130"/>
                  </a:cubicBezTo>
                  <a:lnTo>
                    <a:pt x="0" y="104130"/>
                  </a:lnTo>
                  <a:lnTo>
                    <a:pt x="0" y="106563"/>
                  </a:lnTo>
                  <a:lnTo>
                    <a:pt x="22697" y="106563"/>
                  </a:lnTo>
                  <a:cubicBezTo>
                    <a:pt x="22747" y="106566"/>
                    <a:pt x="22798" y="106567"/>
                    <a:pt x="22850" y="106567"/>
                  </a:cubicBezTo>
                  <a:cubicBezTo>
                    <a:pt x="23947" y="106567"/>
                    <a:pt x="25324" y="106050"/>
                    <a:pt x="26114" y="105330"/>
                  </a:cubicBezTo>
                  <a:lnTo>
                    <a:pt x="56800" y="77356"/>
                  </a:lnTo>
                  <a:lnTo>
                    <a:pt x="56816" y="77373"/>
                  </a:lnTo>
                  <a:lnTo>
                    <a:pt x="63892" y="70892"/>
                  </a:lnTo>
                  <a:lnTo>
                    <a:pt x="71659" y="63552"/>
                  </a:lnTo>
                  <a:cubicBezTo>
                    <a:pt x="72485" y="62794"/>
                    <a:pt x="73146" y="61379"/>
                    <a:pt x="73195" y="60260"/>
                  </a:cubicBezTo>
                  <a:lnTo>
                    <a:pt x="73195" y="1272"/>
                  </a:lnTo>
                  <a:cubicBezTo>
                    <a:pt x="73225" y="600"/>
                    <a:pt x="72821" y="32"/>
                    <a:pt x="72149" y="2"/>
                  </a:cubicBezTo>
                  <a:cubicBezTo>
                    <a:pt x="72131" y="1"/>
                    <a:pt x="72112" y="1"/>
                    <a:pt x="72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5"/>
            <p:cNvSpPr/>
            <p:nvPr/>
          </p:nvSpPr>
          <p:spPr>
            <a:xfrm>
              <a:off x="272132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5"/>
            <p:cNvSpPr/>
            <p:nvPr/>
          </p:nvSpPr>
          <p:spPr>
            <a:xfrm>
              <a:off x="272132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5"/>
            <p:cNvSpPr/>
            <p:nvPr/>
          </p:nvSpPr>
          <p:spPr>
            <a:xfrm>
              <a:off x="272132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5"/>
            <p:cNvSpPr/>
            <p:nvPr/>
          </p:nvSpPr>
          <p:spPr>
            <a:xfrm>
              <a:off x="272132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5"/>
            <p:cNvSpPr/>
            <p:nvPr/>
          </p:nvSpPr>
          <p:spPr>
            <a:xfrm>
              <a:off x="2713282" y="20473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5"/>
            <p:cNvSpPr/>
            <p:nvPr/>
          </p:nvSpPr>
          <p:spPr>
            <a:xfrm>
              <a:off x="2662119" y="65600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5"/>
            <p:cNvSpPr/>
            <p:nvPr/>
          </p:nvSpPr>
          <p:spPr>
            <a:xfrm>
              <a:off x="2662119" y="1031508"/>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5"/>
            <p:cNvSpPr/>
            <p:nvPr/>
          </p:nvSpPr>
          <p:spPr>
            <a:xfrm>
              <a:off x="2662119" y="1407017"/>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5"/>
            <p:cNvSpPr/>
            <p:nvPr/>
          </p:nvSpPr>
          <p:spPr>
            <a:xfrm>
              <a:off x="2662119" y="1782525"/>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5"/>
            <p:cNvSpPr/>
            <p:nvPr/>
          </p:nvSpPr>
          <p:spPr>
            <a:xfrm>
              <a:off x="2660568" y="20241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5"/>
            <p:cNvSpPr/>
            <p:nvPr/>
          </p:nvSpPr>
          <p:spPr>
            <a:xfrm>
              <a:off x="1239757" y="3148704"/>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5"/>
            <p:cNvSpPr/>
            <p:nvPr/>
          </p:nvSpPr>
          <p:spPr>
            <a:xfrm rot="2759608">
              <a:off x="2457387" y="2299952"/>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55"/>
            <p:cNvSpPr/>
            <p:nvPr/>
          </p:nvSpPr>
          <p:spPr>
            <a:xfrm rot="2759608">
              <a:off x="2150818" y="257770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55"/>
            <p:cNvSpPr/>
            <p:nvPr/>
          </p:nvSpPr>
          <p:spPr>
            <a:xfrm rot="2759608">
              <a:off x="1875135" y="28344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5"/>
            <p:cNvSpPr/>
            <p:nvPr/>
          </p:nvSpPr>
          <p:spPr>
            <a:xfrm rot="2759608">
              <a:off x="1529135" y="3141871"/>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5"/>
            <p:cNvSpPr/>
            <p:nvPr/>
          </p:nvSpPr>
          <p:spPr>
            <a:xfrm>
              <a:off x="1239757" y="3092250"/>
              <a:ext cx="36600" cy="36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5"/>
            <p:cNvSpPr/>
            <p:nvPr/>
          </p:nvSpPr>
          <p:spPr>
            <a:xfrm rot="2759608">
              <a:off x="1499810" y="3092196"/>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5"/>
            <p:cNvSpPr/>
            <p:nvPr/>
          </p:nvSpPr>
          <p:spPr>
            <a:xfrm rot="2759608">
              <a:off x="2420317" y="2256188"/>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5"/>
            <p:cNvSpPr/>
            <p:nvPr/>
          </p:nvSpPr>
          <p:spPr>
            <a:xfrm rot="2759608">
              <a:off x="2113748" y="2533940"/>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55"/>
            <p:cNvSpPr/>
            <p:nvPr/>
          </p:nvSpPr>
          <p:spPr>
            <a:xfrm rot="2759608">
              <a:off x="1838065" y="2790733"/>
              <a:ext cx="36704" cy="36704"/>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55"/>
            <p:cNvSpPr/>
            <p:nvPr/>
          </p:nvSpPr>
          <p:spPr>
            <a:xfrm>
              <a:off x="2625663" y="457213"/>
              <a:ext cx="109500" cy="109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55"/>
            <p:cNvSpPr/>
            <p:nvPr/>
          </p:nvSpPr>
          <p:spPr>
            <a:xfrm>
              <a:off x="2643863" y="475413"/>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5"/>
            <p:cNvSpPr/>
            <p:nvPr/>
          </p:nvSpPr>
          <p:spPr>
            <a:xfrm>
              <a:off x="2684863" y="529116"/>
              <a:ext cx="109500" cy="109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55"/>
            <p:cNvSpPr/>
            <p:nvPr/>
          </p:nvSpPr>
          <p:spPr>
            <a:xfrm>
              <a:off x="2703063" y="547316"/>
              <a:ext cx="73200" cy="73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ubway Line Background Agency by Slidesgo">
  <a:themeElements>
    <a:clrScheme name="Simple Light">
      <a:dk1>
        <a:srgbClr val="161616"/>
      </a:dk1>
      <a:lt1>
        <a:srgbClr val="FCEDD5"/>
      </a:lt1>
      <a:dk2>
        <a:srgbClr val="E44646"/>
      </a:dk2>
      <a:lt2>
        <a:srgbClr val="88C25D"/>
      </a:lt2>
      <a:accent1>
        <a:srgbClr val="3CA3B8"/>
      </a:accent1>
      <a:accent2>
        <a:srgbClr val="88A6FF"/>
      </a:accent2>
      <a:accent3>
        <a:srgbClr val="F069B4"/>
      </a:accent3>
      <a:accent4>
        <a:srgbClr val="F5CC3F"/>
      </a:accent4>
      <a:accent5>
        <a:srgbClr val="FFFFFF"/>
      </a:accent5>
      <a:accent6>
        <a:srgbClr val="FFFFFF"/>
      </a:accent6>
      <a:hlink>
        <a:srgbClr val="16161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